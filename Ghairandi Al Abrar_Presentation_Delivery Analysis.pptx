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71" r:id="rId8"/>
    <p:sldId id="262" r:id="rId9"/>
    <p:sldId id="263" r:id="rId10"/>
    <p:sldId id="264" r:id="rId11"/>
    <p:sldId id="270" r:id="rId12"/>
    <p:sldId id="265" r:id="rId13"/>
    <p:sldId id="266" r:id="rId14"/>
    <p:sldId id="267" r:id="rId15"/>
    <p:sldId id="268" r:id="rId16"/>
    <p:sldId id="269"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88567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5BB915-97F2-A454-2143-55F18DDA5D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085C7B-DF61-5BC3-7B86-3DA3A08928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8CA628-E72B-D583-6BEA-430E11526D7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630BD26-597E-DDD6-8DBE-56DB2AF84017}"/>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6765560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70AABF-E1E5-7FDA-098E-A948D8B8F6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6B7CFD-9554-A0C3-FFAB-C07D5CCAC1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D2F34C-9627-9799-54E0-F1417F3566D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679A24C-1D0F-C582-6264-F866541548B7}"/>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24722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a:effectLst/>
      </p:bgPr>
    </p:bg>
    <p:spTree>
      <p:nvGrpSpPr>
        <p:cNvPr id="1" name=""/>
        <p:cNvGrpSpPr/>
        <p:nvPr/>
      </p:nvGrpSpPr>
      <p:grpSpPr>
        <a:xfrm>
          <a:off x="0" y="0"/>
          <a:ext cx="0" cy="0"/>
          <a:chOff x="0" y="0"/>
          <a:chExt cx="0" cy="0"/>
        </a:xfrm>
      </p:grpSpPr>
      <p:sp>
        <p:nvSpPr>
          <p:cNvPr id="4" name="Shape 2"/>
          <p:cNvSpPr/>
          <p:nvPr/>
        </p:nvSpPr>
        <p:spPr>
          <a:xfrm>
            <a:off x="-1097280" y="4754880"/>
            <a:ext cx="2743200" cy="2743200"/>
          </a:xfrm>
          <a:prstGeom prst="ellipse">
            <a:avLst/>
          </a:prstGeom>
          <a:solidFill>
            <a:srgbClr val="06C167">
              <a:alpha val="8000"/>
            </a:srgbClr>
          </a:solidFill>
          <a:ln/>
        </p:spPr>
      </p:sp>
      <p:sp>
        <p:nvSpPr>
          <p:cNvPr id="5" name="Text 3"/>
          <p:cNvSpPr txBox="1"/>
          <p:nvPr/>
        </p:nvSpPr>
        <p:spPr>
          <a:xfrm>
            <a:off x="822960" y="1874520"/>
            <a:ext cx="9144000" cy="365760"/>
          </a:xfrm>
          <a:prstGeom prst="rect">
            <a:avLst/>
          </a:prstGeom>
          <a:noFill/>
          <a:ln/>
        </p:spPr>
        <p:txBody>
          <a:bodyPr wrap="square" lIns="0" tIns="0" rIns="0" bIns="0" rtlCol="0" anchor="ctr"/>
          <a:lstStyle/>
          <a:p>
            <a:pPr marL="0" indent="0">
              <a:buNone/>
            </a:pPr>
            <a:r>
              <a:rPr lang="en-US" sz="1300" b="1" kern="0" spc="200" dirty="0">
                <a:solidFill>
                  <a:srgbClr val="06C167"/>
                </a:solidFill>
                <a:latin typeface="Calibri" pitchFamily="34" charset="0"/>
                <a:ea typeface="Calibri" pitchFamily="34" charset="-122"/>
                <a:cs typeface="Calibri" pitchFamily="34" charset="-120"/>
              </a:rPr>
              <a:t>THT BOOTCAMP DABI BATCH 22 DIBIMBING.ID</a:t>
            </a:r>
            <a:endParaRPr lang="en-US" sz="1300" dirty="0"/>
          </a:p>
        </p:txBody>
      </p:sp>
      <p:sp>
        <p:nvSpPr>
          <p:cNvPr id="6" name="Text 4"/>
          <p:cNvSpPr txBox="1"/>
          <p:nvPr/>
        </p:nvSpPr>
        <p:spPr>
          <a:xfrm>
            <a:off x="822960" y="2331720"/>
            <a:ext cx="10241280" cy="1737360"/>
          </a:xfrm>
          <a:prstGeom prst="rect">
            <a:avLst/>
          </a:prstGeom>
          <a:noFill/>
          <a:ln/>
        </p:spPr>
        <p:txBody>
          <a:bodyPr wrap="square" lIns="0" tIns="0" rIns="0" bIns="0" rtlCol="0" anchor="ctr"/>
          <a:lstStyle/>
          <a:p>
            <a:r>
              <a:rPr lang="en-US" sz="4000" b="1" dirty="0">
                <a:solidFill>
                  <a:schemeClr val="bg1"/>
                </a:solidFill>
              </a:rPr>
              <a:t>Data-Driven Analysis of the Impact of Weather &amp; Traffic Conditions on Food Delivery Time</a:t>
            </a:r>
          </a:p>
        </p:txBody>
      </p:sp>
      <p:sp>
        <p:nvSpPr>
          <p:cNvPr id="7" name="Text 5"/>
          <p:cNvSpPr txBox="1"/>
          <p:nvPr/>
        </p:nvSpPr>
        <p:spPr>
          <a:xfrm>
            <a:off x="822960" y="4069080"/>
            <a:ext cx="8686800" cy="502920"/>
          </a:xfrm>
          <a:prstGeom prst="rect">
            <a:avLst/>
          </a:prstGeom>
          <a:noFill/>
          <a:ln/>
        </p:spPr>
        <p:txBody>
          <a:bodyPr wrap="square" lIns="0" tIns="0" rIns="0" bIns="0" rtlCol="0" anchor="ctr"/>
          <a:lstStyle/>
          <a:p>
            <a:pPr marL="0" indent="0">
              <a:buNone/>
            </a:pPr>
            <a:r>
              <a:rPr lang="en-US" sz="1700" i="1" dirty="0">
                <a:solidFill>
                  <a:srgbClr val="8FF0C0"/>
                </a:solidFill>
                <a:latin typeface="Calibri" pitchFamily="34" charset="0"/>
                <a:ea typeface="Calibri" pitchFamily="34" charset="-122"/>
                <a:cs typeface="Calibri" pitchFamily="34" charset="-120"/>
              </a:rPr>
              <a:t>Statistical analysis for a more realistic delivery time estimates</a:t>
            </a:r>
            <a:endParaRPr lang="en-US" sz="1700" dirty="0"/>
          </a:p>
        </p:txBody>
      </p:sp>
      <p:sp>
        <p:nvSpPr>
          <p:cNvPr id="8" name="Shape 6"/>
          <p:cNvSpPr/>
          <p:nvPr/>
        </p:nvSpPr>
        <p:spPr>
          <a:xfrm>
            <a:off x="822959" y="5806440"/>
            <a:ext cx="1388395" cy="0"/>
          </a:xfrm>
          <a:prstGeom prst="line">
            <a:avLst/>
          </a:prstGeom>
          <a:noFill/>
          <a:ln w="31750">
            <a:solidFill>
              <a:srgbClr val="06C167"/>
            </a:solidFill>
            <a:prstDash val="solid"/>
          </a:ln>
        </p:spPr>
      </p:sp>
      <p:sp>
        <p:nvSpPr>
          <p:cNvPr id="9" name="Text 7"/>
          <p:cNvSpPr txBox="1"/>
          <p:nvPr/>
        </p:nvSpPr>
        <p:spPr>
          <a:xfrm>
            <a:off x="822960" y="5943600"/>
            <a:ext cx="548640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Ghairandi Al Abrar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0000"/>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92608"/>
          </a:xfrm>
          <a:prstGeom prst="rect">
            <a:avLst/>
          </a:prstGeom>
          <a:noFill/>
          <a:ln/>
        </p:spPr>
        <p:txBody>
          <a:bodyPr wrap="square" lIns="0" tIns="0" rIns="0" bIns="0" rtlCol="0" anchor="ctr"/>
          <a:lstStyle/>
          <a:p>
            <a:r>
              <a:rPr lang="en-US" sz="1200" b="1" kern="0" spc="200" dirty="0">
                <a:solidFill>
                  <a:srgbClr val="06C167"/>
                </a:solidFill>
                <a:latin typeface="Calibri" pitchFamily="34" charset="0"/>
                <a:ea typeface="Calibri" pitchFamily="34" charset="-122"/>
                <a:cs typeface="Calibri" pitchFamily="34" charset="-120"/>
              </a:rPr>
              <a:t>PROJECT BACKGROUND</a:t>
            </a:r>
            <a:endParaRPr lang="en-US" sz="1200" dirty="0"/>
          </a:p>
        </p:txBody>
      </p:sp>
      <p:sp>
        <p:nvSpPr>
          <p:cNvPr id="3" name="Text 1"/>
          <p:cNvSpPr txBox="1"/>
          <p:nvPr/>
        </p:nvSpPr>
        <p:spPr>
          <a:xfrm>
            <a:off x="548640" y="658368"/>
            <a:ext cx="10789920" cy="822960"/>
          </a:xfrm>
          <a:prstGeom prst="rect">
            <a:avLst/>
          </a:prstGeom>
          <a:noFill/>
          <a:ln/>
        </p:spPr>
        <p:txBody>
          <a:bodyPr wrap="square" lIns="0" tIns="0" rIns="0" bIns="0" rtlCol="0" anchor="ctr"/>
          <a:lstStyle/>
          <a:p>
            <a:pPr marL="0" indent="0">
              <a:buNone/>
            </a:pPr>
            <a:r>
              <a:rPr lang="en-US" sz="2900" b="1" dirty="0">
                <a:solidFill>
                  <a:srgbClr val="FFFFFF"/>
                </a:solidFill>
                <a:latin typeface="Cambria" pitchFamily="34" charset="0"/>
                <a:ea typeface="Cambria" pitchFamily="34" charset="-122"/>
                <a:cs typeface="Cambria" pitchFamily="34" charset="-120"/>
              </a:rPr>
              <a:t>Business Problems</a:t>
            </a:r>
            <a:endParaRPr lang="en-US" sz="2900" dirty="0"/>
          </a:p>
        </p:txBody>
      </p:sp>
      <p:sp>
        <p:nvSpPr>
          <p:cNvPr id="4" name="Text 2"/>
          <p:cNvSpPr txBox="1"/>
          <p:nvPr/>
        </p:nvSpPr>
        <p:spPr>
          <a:xfrm>
            <a:off x="548640" y="1417320"/>
            <a:ext cx="10789920" cy="685800"/>
          </a:xfrm>
          <a:prstGeom prst="rect">
            <a:avLst/>
          </a:prstGeom>
          <a:noFill/>
          <a:ln/>
        </p:spPr>
        <p:txBody>
          <a:bodyPr wrap="square" lIns="0" tIns="0" rIns="0" bIns="0" rtlCol="0" anchor="ctr"/>
          <a:lstStyle/>
          <a:p>
            <a:pPr marL="0" indent="0">
              <a:buNone/>
            </a:pPr>
            <a:r>
              <a:rPr lang="en-US" sz="1350" dirty="0">
                <a:solidFill>
                  <a:schemeClr val="bg1"/>
                </a:solidFill>
                <a:latin typeface="Calibri" pitchFamily="34" charset="0"/>
                <a:ea typeface="Calibri" pitchFamily="34" charset="-122"/>
                <a:cs typeface="Calibri" pitchFamily="34" charset="-120"/>
              </a:rPr>
              <a:t>The estimated delivery time shown to customers is generally the same under all conditions, even though weather and traffic conditions in the field can vary considerably. This project uses historical data to determine which factors actually have an impact, rather than relying on assumptions.</a:t>
            </a:r>
            <a:endParaRPr lang="en-US" sz="1350" dirty="0">
              <a:solidFill>
                <a:schemeClr val="bg1"/>
              </a:solidFill>
            </a:endParaRPr>
          </a:p>
        </p:txBody>
      </p:sp>
      <p:sp>
        <p:nvSpPr>
          <p:cNvPr id="5" name="Shape 3"/>
          <p:cNvSpPr/>
          <p:nvPr/>
        </p:nvSpPr>
        <p:spPr>
          <a:xfrm>
            <a:off x="548640" y="2331720"/>
            <a:ext cx="5166360" cy="1691640"/>
          </a:xfrm>
          <a:prstGeom prst="roundRect">
            <a:avLst>
              <a:gd name="adj" fmla="val 4865"/>
            </a:avLst>
          </a:prstGeom>
          <a:solidFill>
            <a:srgbClr val="161616"/>
          </a:solidFill>
          <a:ln>
            <a:solidFill>
              <a:srgbClr val="00B050"/>
            </a:solidFill>
          </a:ln>
        </p:spPr>
      </p:sp>
      <p:sp>
        <p:nvSpPr>
          <p:cNvPr id="6" name="Shape 4"/>
          <p:cNvSpPr/>
          <p:nvPr/>
        </p:nvSpPr>
        <p:spPr>
          <a:xfrm>
            <a:off x="804672" y="2587752"/>
            <a:ext cx="502920" cy="502920"/>
          </a:xfrm>
          <a:prstGeom prst="ellipse">
            <a:avLst/>
          </a:prstGeom>
          <a:solidFill>
            <a:srgbClr val="06C167"/>
          </a:solidFill>
          <a:ln/>
        </p:spPr>
      </p:sp>
      <p:sp>
        <p:nvSpPr>
          <p:cNvPr id="7" name="Text 5"/>
          <p:cNvSpPr txBox="1"/>
          <p:nvPr/>
        </p:nvSpPr>
        <p:spPr>
          <a:xfrm>
            <a:off x="804672" y="2587752"/>
            <a:ext cx="502920" cy="502920"/>
          </a:xfrm>
          <a:prstGeom prst="rect">
            <a:avLst/>
          </a:prstGeom>
          <a:noFill/>
          <a:ln/>
        </p:spPr>
        <p:txBody>
          <a:bodyPr wrap="square" lIns="0" tIns="0" rIns="0" bIns="0" rtlCol="0" anchor="ctr"/>
          <a:lstStyle/>
          <a:p>
            <a:pPr marL="0" indent="0" algn="ctr">
              <a:buNone/>
            </a:pPr>
            <a:r>
              <a:rPr lang="en-US" sz="1800" b="1" dirty="0">
                <a:solidFill>
                  <a:srgbClr val="000000"/>
                </a:solidFill>
                <a:latin typeface="Cambria" pitchFamily="34" charset="0"/>
                <a:ea typeface="Cambria" pitchFamily="34" charset="-122"/>
                <a:cs typeface="Cambria" pitchFamily="34" charset="-120"/>
              </a:rPr>
              <a:t>1</a:t>
            </a:r>
            <a:endParaRPr lang="en-US" sz="1800" dirty="0"/>
          </a:p>
        </p:txBody>
      </p:sp>
      <p:sp>
        <p:nvSpPr>
          <p:cNvPr id="8" name="Text 6"/>
          <p:cNvSpPr txBox="1"/>
          <p:nvPr/>
        </p:nvSpPr>
        <p:spPr>
          <a:xfrm>
            <a:off x="1463040" y="2551176"/>
            <a:ext cx="4023360" cy="365760"/>
          </a:xfrm>
          <a:prstGeom prst="rect">
            <a:avLst/>
          </a:prstGeom>
          <a:noFill/>
          <a:ln/>
        </p:spPr>
        <p:txBody>
          <a:bodyPr wrap="square" lIns="0" tIns="0" rIns="0" bIns="0" rtlCol="0" anchor="ctr"/>
          <a:lstStyle/>
          <a:p>
            <a:pPr marL="0" indent="0">
              <a:buNone/>
            </a:pPr>
            <a:r>
              <a:rPr lang="en-US" sz="1500" b="1" dirty="0">
                <a:solidFill>
                  <a:schemeClr val="bg1"/>
                </a:solidFill>
              </a:rPr>
              <a:t>ETA is not adaptive to actual conditions</a:t>
            </a:r>
          </a:p>
        </p:txBody>
      </p:sp>
      <p:sp>
        <p:nvSpPr>
          <p:cNvPr id="9" name="Text 7"/>
          <p:cNvSpPr txBox="1"/>
          <p:nvPr/>
        </p:nvSpPr>
        <p:spPr>
          <a:xfrm>
            <a:off x="1463040" y="2926080"/>
            <a:ext cx="4023360" cy="1005840"/>
          </a:xfrm>
          <a:prstGeom prst="rect">
            <a:avLst/>
          </a:prstGeom>
          <a:noFill/>
          <a:ln/>
        </p:spPr>
        <p:txBody>
          <a:bodyPr wrap="square" lIns="0" tIns="0" rIns="0" bIns="0" rtlCol="0" anchor="ctr"/>
          <a:lstStyle/>
          <a:p>
            <a:r>
              <a:rPr lang="en-ID" sz="1200" dirty="0">
                <a:solidFill>
                  <a:schemeClr val="bg1"/>
                </a:solidFill>
              </a:rPr>
              <a:t>Estimated time has not yet been adjusted for actual weather and traffic conditions</a:t>
            </a:r>
            <a:endParaRPr lang="en-ID" sz="1200" dirty="0">
              <a:solidFill>
                <a:schemeClr val="bg1"/>
              </a:solidFill>
              <a:effectLst/>
            </a:endParaRPr>
          </a:p>
        </p:txBody>
      </p:sp>
      <p:sp>
        <p:nvSpPr>
          <p:cNvPr id="10" name="Shape 8"/>
          <p:cNvSpPr/>
          <p:nvPr/>
        </p:nvSpPr>
        <p:spPr>
          <a:xfrm>
            <a:off x="6172200" y="2331720"/>
            <a:ext cx="5166360" cy="1691640"/>
          </a:xfrm>
          <a:prstGeom prst="roundRect">
            <a:avLst>
              <a:gd name="adj" fmla="val 4865"/>
            </a:avLst>
          </a:prstGeom>
          <a:solidFill>
            <a:srgbClr val="161616"/>
          </a:solidFill>
          <a:ln>
            <a:solidFill>
              <a:srgbClr val="00B050"/>
            </a:solidFill>
          </a:ln>
        </p:spPr>
      </p:sp>
      <p:sp>
        <p:nvSpPr>
          <p:cNvPr id="11" name="Shape 9"/>
          <p:cNvSpPr/>
          <p:nvPr/>
        </p:nvSpPr>
        <p:spPr>
          <a:xfrm>
            <a:off x="6428232" y="2587752"/>
            <a:ext cx="502920" cy="502920"/>
          </a:xfrm>
          <a:prstGeom prst="ellipse">
            <a:avLst/>
          </a:prstGeom>
          <a:solidFill>
            <a:srgbClr val="06C167"/>
          </a:solidFill>
          <a:ln/>
        </p:spPr>
      </p:sp>
      <p:sp>
        <p:nvSpPr>
          <p:cNvPr id="12" name="Text 10"/>
          <p:cNvSpPr txBox="1"/>
          <p:nvPr/>
        </p:nvSpPr>
        <p:spPr>
          <a:xfrm>
            <a:off x="6428232" y="2587752"/>
            <a:ext cx="502920" cy="502920"/>
          </a:xfrm>
          <a:prstGeom prst="rect">
            <a:avLst/>
          </a:prstGeom>
          <a:noFill/>
          <a:ln/>
        </p:spPr>
        <p:txBody>
          <a:bodyPr wrap="square" lIns="0" tIns="0" rIns="0" bIns="0" rtlCol="0" anchor="ctr"/>
          <a:lstStyle/>
          <a:p>
            <a:pPr marL="0" indent="0" algn="ctr">
              <a:buNone/>
            </a:pPr>
            <a:r>
              <a:rPr lang="en-US" sz="1800" b="1" dirty="0">
                <a:solidFill>
                  <a:srgbClr val="000000"/>
                </a:solidFill>
                <a:latin typeface="Cambria" pitchFamily="34" charset="0"/>
                <a:ea typeface="Cambria" pitchFamily="34" charset="-122"/>
                <a:cs typeface="Cambria" pitchFamily="34" charset="-120"/>
              </a:rPr>
              <a:t>2</a:t>
            </a:r>
            <a:endParaRPr lang="en-US" sz="1800" dirty="0"/>
          </a:p>
        </p:txBody>
      </p:sp>
      <p:sp>
        <p:nvSpPr>
          <p:cNvPr id="13" name="Text 11"/>
          <p:cNvSpPr txBox="1"/>
          <p:nvPr/>
        </p:nvSpPr>
        <p:spPr>
          <a:xfrm>
            <a:off x="7086600" y="2551176"/>
            <a:ext cx="4023360" cy="365760"/>
          </a:xfrm>
          <a:prstGeom prst="rect">
            <a:avLst/>
          </a:prstGeom>
          <a:noFill/>
          <a:ln/>
        </p:spPr>
        <p:txBody>
          <a:bodyPr wrap="square" lIns="0" tIns="0" rIns="0" bIns="0" rtlCol="0" anchor="ctr"/>
          <a:lstStyle/>
          <a:p>
            <a:pPr marL="0" indent="0">
              <a:buNone/>
            </a:pPr>
            <a:r>
              <a:rPr lang="en-US" sz="1500" b="1" dirty="0">
                <a:solidFill>
                  <a:schemeClr val="bg1"/>
                </a:solidFill>
              </a:rPr>
              <a:t>Facts are not yet clear</a:t>
            </a:r>
          </a:p>
        </p:txBody>
      </p:sp>
      <p:sp>
        <p:nvSpPr>
          <p:cNvPr id="14" name="Text 12"/>
          <p:cNvSpPr txBox="1"/>
          <p:nvPr/>
        </p:nvSpPr>
        <p:spPr>
          <a:xfrm>
            <a:off x="7086600" y="2926080"/>
            <a:ext cx="4023360" cy="1005840"/>
          </a:xfrm>
          <a:prstGeom prst="rect">
            <a:avLst/>
          </a:prstGeom>
          <a:noFill/>
          <a:ln/>
        </p:spPr>
        <p:txBody>
          <a:bodyPr wrap="square" lIns="0" tIns="0" rIns="0" bIns="0" rtlCol="0" anchor="ctr"/>
          <a:lstStyle/>
          <a:p>
            <a:pPr marL="0" indent="0">
              <a:lnSpc>
                <a:spcPct val="115000"/>
              </a:lnSpc>
              <a:buNone/>
            </a:pPr>
            <a:r>
              <a:rPr lang="en-US" sz="1150" dirty="0">
                <a:solidFill>
                  <a:schemeClr val="bg1"/>
                </a:solidFill>
                <a:latin typeface="Calibri" pitchFamily="34" charset="0"/>
                <a:ea typeface="Calibri" pitchFamily="34" charset="-122"/>
                <a:cs typeface="Calibri" pitchFamily="34" charset="-120"/>
              </a:rPr>
              <a:t>The operational factors that truly have an impact have not yet been definitively identified.</a:t>
            </a:r>
            <a:endParaRPr lang="en-US" sz="1150" dirty="0">
              <a:solidFill>
                <a:schemeClr val="bg1"/>
              </a:solidFill>
            </a:endParaRPr>
          </a:p>
        </p:txBody>
      </p:sp>
      <p:sp>
        <p:nvSpPr>
          <p:cNvPr id="15" name="Shape 13"/>
          <p:cNvSpPr/>
          <p:nvPr/>
        </p:nvSpPr>
        <p:spPr>
          <a:xfrm>
            <a:off x="548640" y="4343400"/>
            <a:ext cx="5166360" cy="1691640"/>
          </a:xfrm>
          <a:prstGeom prst="roundRect">
            <a:avLst>
              <a:gd name="adj" fmla="val 4865"/>
            </a:avLst>
          </a:prstGeom>
          <a:solidFill>
            <a:srgbClr val="161616"/>
          </a:solidFill>
          <a:ln>
            <a:solidFill>
              <a:srgbClr val="00B050"/>
            </a:solidFill>
          </a:ln>
        </p:spPr>
      </p:sp>
      <p:sp>
        <p:nvSpPr>
          <p:cNvPr id="16" name="Shape 14"/>
          <p:cNvSpPr/>
          <p:nvPr/>
        </p:nvSpPr>
        <p:spPr>
          <a:xfrm>
            <a:off x="804672" y="4599432"/>
            <a:ext cx="502920" cy="502920"/>
          </a:xfrm>
          <a:prstGeom prst="ellipse">
            <a:avLst/>
          </a:prstGeom>
          <a:solidFill>
            <a:srgbClr val="06C167"/>
          </a:solidFill>
          <a:ln/>
        </p:spPr>
      </p:sp>
      <p:sp>
        <p:nvSpPr>
          <p:cNvPr id="17" name="Text 15"/>
          <p:cNvSpPr txBox="1"/>
          <p:nvPr/>
        </p:nvSpPr>
        <p:spPr>
          <a:xfrm>
            <a:off x="804672" y="4599432"/>
            <a:ext cx="502920" cy="502920"/>
          </a:xfrm>
          <a:prstGeom prst="rect">
            <a:avLst/>
          </a:prstGeom>
          <a:noFill/>
          <a:ln/>
        </p:spPr>
        <p:txBody>
          <a:bodyPr wrap="square" lIns="0" tIns="0" rIns="0" bIns="0" rtlCol="0" anchor="ctr"/>
          <a:lstStyle/>
          <a:p>
            <a:pPr marL="0" indent="0" algn="ctr">
              <a:buNone/>
            </a:pPr>
            <a:r>
              <a:rPr lang="en-US" sz="1800" b="1" dirty="0">
                <a:solidFill>
                  <a:srgbClr val="000000"/>
                </a:solidFill>
                <a:latin typeface="Cambria" pitchFamily="34" charset="0"/>
                <a:ea typeface="Cambria" pitchFamily="34" charset="-122"/>
                <a:cs typeface="Cambria" pitchFamily="34" charset="-120"/>
              </a:rPr>
              <a:t>3</a:t>
            </a:r>
            <a:endParaRPr lang="en-US" sz="1800" dirty="0"/>
          </a:p>
        </p:txBody>
      </p:sp>
      <p:sp>
        <p:nvSpPr>
          <p:cNvPr id="18" name="Text 16"/>
          <p:cNvSpPr txBox="1"/>
          <p:nvPr/>
        </p:nvSpPr>
        <p:spPr>
          <a:xfrm>
            <a:off x="1463040" y="4601577"/>
            <a:ext cx="4023360" cy="365760"/>
          </a:xfrm>
          <a:prstGeom prst="rect">
            <a:avLst/>
          </a:prstGeom>
          <a:noFill/>
          <a:ln/>
        </p:spPr>
        <p:txBody>
          <a:bodyPr wrap="square" lIns="0" tIns="0" rIns="0" bIns="0" rtlCol="0" anchor="ctr"/>
          <a:lstStyle/>
          <a:p>
            <a:pPr marL="0" indent="0">
              <a:buNone/>
            </a:pPr>
            <a:r>
              <a:rPr lang="en-US" sz="1500" b="1" dirty="0">
                <a:solidFill>
                  <a:schemeClr val="bg1"/>
                </a:solidFill>
              </a:rPr>
              <a:t>The impact of </a:t>
            </a:r>
            <a:r>
              <a:rPr lang="en-US" sz="1500" b="1" dirty="0" err="1">
                <a:solidFill>
                  <a:schemeClr val="bg1"/>
                </a:solidFill>
              </a:rPr>
              <a:t>onfield</a:t>
            </a:r>
            <a:r>
              <a:rPr lang="en-US" sz="1500" b="1" dirty="0">
                <a:solidFill>
                  <a:schemeClr val="bg1"/>
                </a:solidFill>
              </a:rPr>
              <a:t> conditions has not yet quantified</a:t>
            </a:r>
          </a:p>
        </p:txBody>
      </p:sp>
      <p:sp>
        <p:nvSpPr>
          <p:cNvPr id="19" name="Text 17"/>
          <p:cNvSpPr txBox="1"/>
          <p:nvPr/>
        </p:nvSpPr>
        <p:spPr>
          <a:xfrm>
            <a:off x="1463040" y="4937760"/>
            <a:ext cx="4023360" cy="1005840"/>
          </a:xfrm>
          <a:prstGeom prst="rect">
            <a:avLst/>
          </a:prstGeom>
          <a:noFill/>
          <a:ln/>
        </p:spPr>
        <p:txBody>
          <a:bodyPr wrap="square" lIns="0" tIns="0" rIns="0" bIns="0" rtlCol="0" anchor="ctr"/>
          <a:lstStyle/>
          <a:p>
            <a:pPr marL="0" indent="0">
              <a:lnSpc>
                <a:spcPct val="115000"/>
              </a:lnSpc>
              <a:buNone/>
            </a:pPr>
            <a:r>
              <a:rPr lang="en-US" sz="1150" dirty="0">
                <a:solidFill>
                  <a:schemeClr val="bg1"/>
                </a:solidFill>
                <a:latin typeface="Calibri" pitchFamily="34" charset="0"/>
                <a:ea typeface="Calibri" pitchFamily="34" charset="-122"/>
                <a:cs typeface="Calibri" pitchFamily="34" charset="-120"/>
              </a:rPr>
              <a:t>There has not yet been a quantification of the combined impact of adverse conditions.</a:t>
            </a:r>
            <a:endParaRPr lang="en-US" sz="1150" dirty="0">
              <a:solidFill>
                <a:schemeClr val="bg1"/>
              </a:solidFill>
            </a:endParaRPr>
          </a:p>
        </p:txBody>
      </p:sp>
      <p:sp>
        <p:nvSpPr>
          <p:cNvPr id="20" name="Shape 18"/>
          <p:cNvSpPr/>
          <p:nvPr/>
        </p:nvSpPr>
        <p:spPr>
          <a:xfrm>
            <a:off x="6172200" y="4343400"/>
            <a:ext cx="5166360" cy="1691640"/>
          </a:xfrm>
          <a:prstGeom prst="roundRect">
            <a:avLst>
              <a:gd name="adj" fmla="val 4865"/>
            </a:avLst>
          </a:prstGeom>
          <a:solidFill>
            <a:srgbClr val="161616"/>
          </a:solidFill>
          <a:ln>
            <a:solidFill>
              <a:srgbClr val="00B050"/>
            </a:solidFill>
          </a:ln>
        </p:spPr>
        <p:txBody>
          <a:bodyPr/>
          <a:lstStyle/>
          <a:p>
            <a:endParaRPr lang="en-ID" dirty="0"/>
          </a:p>
        </p:txBody>
      </p:sp>
      <p:sp>
        <p:nvSpPr>
          <p:cNvPr id="21" name="Shape 19"/>
          <p:cNvSpPr/>
          <p:nvPr/>
        </p:nvSpPr>
        <p:spPr>
          <a:xfrm>
            <a:off x="6428232" y="4599432"/>
            <a:ext cx="502920" cy="502920"/>
          </a:xfrm>
          <a:prstGeom prst="ellipse">
            <a:avLst/>
          </a:prstGeom>
          <a:solidFill>
            <a:srgbClr val="06C167"/>
          </a:solidFill>
          <a:ln/>
        </p:spPr>
      </p:sp>
      <p:sp>
        <p:nvSpPr>
          <p:cNvPr id="22" name="Text 20"/>
          <p:cNvSpPr txBox="1"/>
          <p:nvPr/>
        </p:nvSpPr>
        <p:spPr>
          <a:xfrm>
            <a:off x="6428232" y="4599432"/>
            <a:ext cx="502920" cy="502920"/>
          </a:xfrm>
          <a:prstGeom prst="rect">
            <a:avLst/>
          </a:prstGeom>
          <a:noFill/>
          <a:ln/>
        </p:spPr>
        <p:txBody>
          <a:bodyPr wrap="square" lIns="0" tIns="0" rIns="0" bIns="0" rtlCol="0" anchor="ctr"/>
          <a:lstStyle/>
          <a:p>
            <a:pPr marL="0" indent="0" algn="ctr">
              <a:buNone/>
            </a:pPr>
            <a:r>
              <a:rPr lang="en-US" sz="1800" b="1" dirty="0">
                <a:solidFill>
                  <a:srgbClr val="000000"/>
                </a:solidFill>
                <a:latin typeface="Cambria" pitchFamily="34" charset="0"/>
                <a:ea typeface="Cambria" pitchFamily="34" charset="-122"/>
                <a:cs typeface="Cambria" pitchFamily="34" charset="-120"/>
              </a:rPr>
              <a:t>4</a:t>
            </a:r>
            <a:endParaRPr lang="en-US" sz="1800" dirty="0"/>
          </a:p>
        </p:txBody>
      </p:sp>
      <p:sp>
        <p:nvSpPr>
          <p:cNvPr id="23" name="Text 21"/>
          <p:cNvSpPr txBox="1"/>
          <p:nvPr/>
        </p:nvSpPr>
        <p:spPr>
          <a:xfrm>
            <a:off x="7086600" y="4594860"/>
            <a:ext cx="4023360" cy="365760"/>
          </a:xfrm>
          <a:prstGeom prst="rect">
            <a:avLst/>
          </a:prstGeom>
          <a:noFill/>
          <a:ln/>
        </p:spPr>
        <p:txBody>
          <a:bodyPr wrap="square" lIns="0" tIns="0" rIns="0" bIns="0" rtlCol="0" anchor="ctr"/>
          <a:lstStyle/>
          <a:p>
            <a:pPr marL="0" indent="0">
              <a:buNone/>
            </a:pPr>
            <a:r>
              <a:rPr lang="en-US" sz="1500" b="1" dirty="0">
                <a:solidFill>
                  <a:schemeClr val="bg1"/>
                </a:solidFill>
              </a:rPr>
              <a:t>Risk of an increase in complaints received from customers</a:t>
            </a:r>
          </a:p>
        </p:txBody>
      </p:sp>
      <p:sp>
        <p:nvSpPr>
          <p:cNvPr id="24" name="Text 22"/>
          <p:cNvSpPr txBox="1"/>
          <p:nvPr/>
        </p:nvSpPr>
        <p:spPr>
          <a:xfrm>
            <a:off x="7086600" y="4937760"/>
            <a:ext cx="4023360" cy="1005840"/>
          </a:xfrm>
          <a:prstGeom prst="rect">
            <a:avLst/>
          </a:prstGeom>
          <a:noFill/>
          <a:ln/>
        </p:spPr>
        <p:txBody>
          <a:bodyPr wrap="square" lIns="0" tIns="0" rIns="0" bIns="0" rtlCol="0" anchor="ctr"/>
          <a:lstStyle/>
          <a:p>
            <a:pPr marL="0" indent="0">
              <a:lnSpc>
                <a:spcPct val="115000"/>
              </a:lnSpc>
              <a:buNone/>
            </a:pPr>
            <a:r>
              <a:rPr lang="en-US" sz="1150" dirty="0">
                <a:solidFill>
                  <a:schemeClr val="bg1"/>
                </a:solidFill>
                <a:latin typeface="Calibri" pitchFamily="34" charset="0"/>
                <a:ea typeface="Calibri" pitchFamily="34" charset="-122"/>
                <a:cs typeface="Calibri" pitchFamily="34" charset="-120"/>
              </a:rPr>
              <a:t>The gap between expectations and reality might cause complaints from customers</a:t>
            </a:r>
            <a:endParaRPr lang="en-US" sz="1150" dirty="0">
              <a:solidFill>
                <a:schemeClr val="bg1"/>
              </a:solidFill>
            </a:endParaRPr>
          </a:p>
        </p:txBody>
      </p:sp>
      <p:sp>
        <p:nvSpPr>
          <p:cNvPr id="25" name="Text 23"/>
          <p:cNvSpPr txBox="1"/>
          <p:nvPr/>
        </p:nvSpPr>
        <p:spPr>
          <a:xfrm>
            <a:off x="548640" y="6473952"/>
            <a:ext cx="7315200" cy="274320"/>
          </a:xfrm>
          <a:prstGeom prst="rect">
            <a:avLst/>
          </a:prstGeom>
          <a:noFill/>
          <a:ln/>
        </p:spPr>
        <p:txBody>
          <a:bodyPr wrap="square" lIns="0" tIns="0" rIns="0" bIns="0" rtlCol="0" anchor="ctr"/>
          <a:lstStyle/>
          <a:p>
            <a:pPr marL="0" indent="0">
              <a:buNone/>
            </a:pPr>
            <a:endParaRPr lang="en-US" sz="900" dirty="0"/>
          </a:p>
        </p:txBody>
      </p:sp>
      <p:sp>
        <p:nvSpPr>
          <p:cNvPr id="26" name="Text 24"/>
          <p:cNvSpPr txBox="1"/>
          <p:nvPr/>
        </p:nvSpPr>
        <p:spPr>
          <a:xfrm>
            <a:off x="11185855" y="6473952"/>
            <a:ext cx="457200" cy="274320"/>
          </a:xfrm>
          <a:prstGeom prst="rect">
            <a:avLst/>
          </a:prstGeom>
          <a:noFill/>
          <a:ln/>
        </p:spPr>
        <p:txBody>
          <a:bodyPr wrap="square" lIns="0" tIns="0" rIns="0" bIns="0" rtlCol="0" anchor="ctr"/>
          <a:lstStyle/>
          <a:p>
            <a:pPr marL="0" indent="0" algn="r">
              <a:buNone/>
            </a:pPr>
            <a:r>
              <a:rPr lang="en-US" sz="900" dirty="0">
                <a:solidFill>
                  <a:srgbClr val="5C645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0000"/>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92608"/>
          </a:xfrm>
          <a:prstGeom prst="rect">
            <a:avLst/>
          </a:prstGeom>
          <a:noFill/>
          <a:ln/>
        </p:spPr>
        <p:txBody>
          <a:bodyPr wrap="square" lIns="0" tIns="0" rIns="0" bIns="0" rtlCol="0" anchor="ctr"/>
          <a:lstStyle/>
          <a:p>
            <a:pPr marL="0" indent="0">
              <a:buNone/>
            </a:pPr>
            <a:r>
              <a:rPr lang="en-US" sz="1200" b="1" kern="0" spc="200" dirty="0">
                <a:solidFill>
                  <a:srgbClr val="06C167"/>
                </a:solidFill>
                <a:latin typeface="Calibri" pitchFamily="34" charset="0"/>
                <a:ea typeface="Calibri" pitchFamily="34" charset="-122"/>
                <a:cs typeface="Calibri" pitchFamily="34" charset="-120"/>
              </a:rPr>
              <a:t>DATA</a:t>
            </a:r>
            <a:endParaRPr lang="en-US" sz="1200" dirty="0"/>
          </a:p>
        </p:txBody>
      </p:sp>
      <p:sp>
        <p:nvSpPr>
          <p:cNvPr id="3" name="Text 1"/>
          <p:cNvSpPr txBox="1"/>
          <p:nvPr/>
        </p:nvSpPr>
        <p:spPr>
          <a:xfrm>
            <a:off x="548640" y="658368"/>
            <a:ext cx="10789920" cy="822960"/>
          </a:xfrm>
          <a:prstGeom prst="rect">
            <a:avLst/>
          </a:prstGeom>
          <a:noFill/>
          <a:ln/>
        </p:spPr>
        <p:txBody>
          <a:bodyPr wrap="square" lIns="0" tIns="0" rIns="0" bIns="0" rtlCol="0" anchor="ctr"/>
          <a:lstStyle/>
          <a:p>
            <a:pPr marL="0" indent="0">
              <a:buNone/>
            </a:pPr>
            <a:r>
              <a:rPr lang="en-US" sz="2900" b="1" dirty="0">
                <a:solidFill>
                  <a:schemeClr val="bg1"/>
                </a:solidFill>
                <a:latin typeface="Cambria" panose="02040503050406030204" pitchFamily="18" charset="0"/>
                <a:ea typeface="Cambria" panose="02040503050406030204" pitchFamily="18" charset="0"/>
              </a:rPr>
              <a:t>Dataset Used</a:t>
            </a:r>
          </a:p>
        </p:txBody>
      </p:sp>
      <p:sp>
        <p:nvSpPr>
          <p:cNvPr id="4" name="Shape 2"/>
          <p:cNvSpPr/>
          <p:nvPr/>
        </p:nvSpPr>
        <p:spPr>
          <a:xfrm>
            <a:off x="548640" y="1645920"/>
            <a:ext cx="2514600" cy="1371600"/>
          </a:xfrm>
          <a:prstGeom prst="roundRect">
            <a:avLst>
              <a:gd name="adj" fmla="val 5333"/>
            </a:avLst>
          </a:prstGeom>
          <a:solidFill>
            <a:srgbClr val="161616"/>
          </a:solidFill>
          <a:ln>
            <a:solidFill>
              <a:srgbClr val="00B050"/>
            </a:solidFill>
          </a:ln>
        </p:spPr>
      </p:sp>
      <p:sp>
        <p:nvSpPr>
          <p:cNvPr id="5" name="Text 3"/>
          <p:cNvSpPr txBox="1"/>
          <p:nvPr/>
        </p:nvSpPr>
        <p:spPr>
          <a:xfrm>
            <a:off x="548640" y="1810512"/>
            <a:ext cx="2514600" cy="685800"/>
          </a:xfrm>
          <a:prstGeom prst="rect">
            <a:avLst/>
          </a:prstGeom>
          <a:noFill/>
          <a:ln/>
        </p:spPr>
        <p:txBody>
          <a:bodyPr wrap="square" lIns="0" tIns="0" rIns="0" bIns="0"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1.000</a:t>
            </a:r>
            <a:endParaRPr lang="en-US" sz="3000" dirty="0"/>
          </a:p>
        </p:txBody>
      </p:sp>
      <p:sp>
        <p:nvSpPr>
          <p:cNvPr id="6" name="Text 4"/>
          <p:cNvSpPr txBox="1"/>
          <p:nvPr/>
        </p:nvSpPr>
        <p:spPr>
          <a:xfrm>
            <a:off x="548640" y="2560320"/>
            <a:ext cx="2514600" cy="320040"/>
          </a:xfrm>
          <a:prstGeom prst="rect">
            <a:avLst/>
          </a:prstGeom>
          <a:noFill/>
          <a:ln/>
        </p:spPr>
        <p:txBody>
          <a:bodyPr wrap="square" lIns="0" tIns="0" rIns="0" bIns="0" rtlCol="0" anchor="ctr"/>
          <a:lstStyle/>
          <a:p>
            <a:pPr marL="0" indent="0" algn="ctr">
              <a:buNone/>
            </a:pPr>
            <a:r>
              <a:rPr lang="en-US" sz="1100" dirty="0">
                <a:solidFill>
                  <a:schemeClr val="bg1"/>
                </a:solidFill>
                <a:latin typeface="Calibri" pitchFamily="34" charset="0"/>
                <a:ea typeface="Calibri" pitchFamily="34" charset="-122"/>
                <a:cs typeface="Calibri" pitchFamily="34" charset="-120"/>
              </a:rPr>
              <a:t>Total order</a:t>
            </a:r>
            <a:endParaRPr lang="en-US" sz="1100" dirty="0">
              <a:solidFill>
                <a:schemeClr val="bg1"/>
              </a:solidFill>
            </a:endParaRPr>
          </a:p>
        </p:txBody>
      </p:sp>
      <p:sp>
        <p:nvSpPr>
          <p:cNvPr id="7" name="Shape 5"/>
          <p:cNvSpPr/>
          <p:nvPr/>
        </p:nvSpPr>
        <p:spPr>
          <a:xfrm>
            <a:off x="3200400" y="1645920"/>
            <a:ext cx="2514600" cy="1371600"/>
          </a:xfrm>
          <a:prstGeom prst="roundRect">
            <a:avLst>
              <a:gd name="adj" fmla="val 5333"/>
            </a:avLst>
          </a:prstGeom>
          <a:solidFill>
            <a:srgbClr val="161616"/>
          </a:solidFill>
          <a:ln>
            <a:solidFill>
              <a:srgbClr val="00B050"/>
            </a:solidFill>
          </a:ln>
        </p:spPr>
      </p:sp>
      <p:sp>
        <p:nvSpPr>
          <p:cNvPr id="8" name="Text 6"/>
          <p:cNvSpPr txBox="1"/>
          <p:nvPr/>
        </p:nvSpPr>
        <p:spPr>
          <a:xfrm>
            <a:off x="3200400" y="1810512"/>
            <a:ext cx="2514600" cy="685800"/>
          </a:xfrm>
          <a:prstGeom prst="rect">
            <a:avLst/>
          </a:prstGeom>
          <a:noFill/>
          <a:ln/>
        </p:spPr>
        <p:txBody>
          <a:bodyPr wrap="square" lIns="0" tIns="0" rIns="0" bIns="0"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9</a:t>
            </a:r>
            <a:endParaRPr lang="en-US" sz="3000" dirty="0"/>
          </a:p>
        </p:txBody>
      </p:sp>
      <p:sp>
        <p:nvSpPr>
          <p:cNvPr id="9" name="Text 7"/>
          <p:cNvSpPr txBox="1"/>
          <p:nvPr/>
        </p:nvSpPr>
        <p:spPr>
          <a:xfrm>
            <a:off x="3200400" y="2560320"/>
            <a:ext cx="2514600" cy="320040"/>
          </a:xfrm>
          <a:prstGeom prst="rect">
            <a:avLst/>
          </a:prstGeom>
          <a:noFill/>
          <a:ln/>
        </p:spPr>
        <p:txBody>
          <a:bodyPr wrap="square" lIns="0" tIns="0" rIns="0" bIns="0" rtlCol="0" anchor="ctr"/>
          <a:lstStyle/>
          <a:p>
            <a:pPr marL="0" indent="0" algn="ctr">
              <a:buNone/>
            </a:pPr>
            <a:r>
              <a:rPr lang="en-US" sz="1100" dirty="0">
                <a:solidFill>
                  <a:schemeClr val="bg1"/>
                </a:solidFill>
              </a:rPr>
              <a:t>Total column</a:t>
            </a:r>
          </a:p>
        </p:txBody>
      </p:sp>
      <p:sp>
        <p:nvSpPr>
          <p:cNvPr id="10" name="Shape 8"/>
          <p:cNvSpPr/>
          <p:nvPr/>
        </p:nvSpPr>
        <p:spPr>
          <a:xfrm>
            <a:off x="5852160" y="1645920"/>
            <a:ext cx="2514600" cy="1371600"/>
          </a:xfrm>
          <a:prstGeom prst="roundRect">
            <a:avLst>
              <a:gd name="adj" fmla="val 5333"/>
            </a:avLst>
          </a:prstGeom>
          <a:solidFill>
            <a:srgbClr val="161616"/>
          </a:solidFill>
          <a:ln>
            <a:solidFill>
              <a:srgbClr val="00B050"/>
            </a:solidFill>
          </a:ln>
        </p:spPr>
      </p:sp>
      <p:sp>
        <p:nvSpPr>
          <p:cNvPr id="11" name="Text 9"/>
          <p:cNvSpPr txBox="1"/>
          <p:nvPr/>
        </p:nvSpPr>
        <p:spPr>
          <a:xfrm>
            <a:off x="5852160" y="1810512"/>
            <a:ext cx="2514600" cy="685800"/>
          </a:xfrm>
          <a:prstGeom prst="rect">
            <a:avLst/>
          </a:prstGeom>
          <a:noFill/>
          <a:ln/>
        </p:spPr>
        <p:txBody>
          <a:bodyPr wrap="square" lIns="0" tIns="0" rIns="0" bIns="0"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4</a:t>
            </a:r>
            <a:endParaRPr lang="en-US" sz="3000" dirty="0"/>
          </a:p>
        </p:txBody>
      </p:sp>
      <p:sp>
        <p:nvSpPr>
          <p:cNvPr id="12" name="Text 10"/>
          <p:cNvSpPr txBox="1"/>
          <p:nvPr/>
        </p:nvSpPr>
        <p:spPr>
          <a:xfrm>
            <a:off x="5852160" y="2560320"/>
            <a:ext cx="2514600" cy="320040"/>
          </a:xfrm>
          <a:prstGeom prst="rect">
            <a:avLst/>
          </a:prstGeom>
          <a:noFill/>
          <a:ln/>
        </p:spPr>
        <p:txBody>
          <a:bodyPr wrap="square" lIns="0" tIns="0" rIns="0" bIns="0" rtlCol="0" anchor="ctr"/>
          <a:lstStyle/>
          <a:p>
            <a:pPr marL="0" indent="0" algn="ctr">
              <a:buNone/>
            </a:pPr>
            <a:r>
              <a:rPr lang="en-US" sz="1100" dirty="0">
                <a:solidFill>
                  <a:schemeClr val="bg1"/>
                </a:solidFill>
              </a:rPr>
              <a:t>Total missing columns</a:t>
            </a:r>
          </a:p>
        </p:txBody>
      </p:sp>
      <p:sp>
        <p:nvSpPr>
          <p:cNvPr id="13" name="Shape 11"/>
          <p:cNvSpPr/>
          <p:nvPr/>
        </p:nvSpPr>
        <p:spPr>
          <a:xfrm>
            <a:off x="8503920" y="1645920"/>
            <a:ext cx="2514600" cy="1371600"/>
          </a:xfrm>
          <a:prstGeom prst="roundRect">
            <a:avLst>
              <a:gd name="adj" fmla="val 5333"/>
            </a:avLst>
          </a:prstGeom>
          <a:solidFill>
            <a:srgbClr val="0D2A1C"/>
          </a:solidFill>
          <a:ln w="12700">
            <a:solidFill>
              <a:srgbClr val="06C167"/>
            </a:solidFill>
            <a:prstDash val="solid"/>
          </a:ln>
        </p:spPr>
      </p:sp>
      <p:sp>
        <p:nvSpPr>
          <p:cNvPr id="14" name="Text 12"/>
          <p:cNvSpPr txBox="1"/>
          <p:nvPr/>
        </p:nvSpPr>
        <p:spPr>
          <a:xfrm>
            <a:off x="8503920" y="1810512"/>
            <a:ext cx="2514600" cy="685800"/>
          </a:xfrm>
          <a:prstGeom prst="rect">
            <a:avLst/>
          </a:prstGeom>
          <a:noFill/>
          <a:ln/>
        </p:spPr>
        <p:txBody>
          <a:bodyPr wrap="square" lIns="0" tIns="0" rIns="0" bIns="0" rtlCol="0" anchor="ctr"/>
          <a:lstStyle/>
          <a:p>
            <a:pPr marL="0" indent="0" algn="ctr">
              <a:buNone/>
            </a:pPr>
            <a:r>
              <a:rPr lang="en-US" sz="3000" b="1" dirty="0">
                <a:solidFill>
                  <a:srgbClr val="06C167"/>
                </a:solidFill>
                <a:latin typeface="Cambria" pitchFamily="34" charset="0"/>
                <a:ea typeface="Cambria" pitchFamily="34" charset="-122"/>
                <a:cs typeface="Cambria" pitchFamily="34" charset="-120"/>
              </a:rPr>
              <a:t>11,7%</a:t>
            </a:r>
            <a:endParaRPr lang="en-US" sz="3000" dirty="0"/>
          </a:p>
        </p:txBody>
      </p:sp>
      <p:sp>
        <p:nvSpPr>
          <p:cNvPr id="15" name="Text 13"/>
          <p:cNvSpPr txBox="1"/>
          <p:nvPr/>
        </p:nvSpPr>
        <p:spPr>
          <a:xfrm>
            <a:off x="8503920" y="2560320"/>
            <a:ext cx="2514600" cy="320040"/>
          </a:xfrm>
          <a:prstGeom prst="rect">
            <a:avLst/>
          </a:prstGeom>
          <a:noFill/>
          <a:ln/>
        </p:spPr>
        <p:txBody>
          <a:bodyPr wrap="square" lIns="0" tIns="0" rIns="0" bIns="0" rtlCol="0" anchor="ctr"/>
          <a:lstStyle/>
          <a:p>
            <a:pPr marL="0" indent="0" algn="ctr">
              <a:buNone/>
            </a:pPr>
            <a:r>
              <a:rPr lang="en-US" sz="1100" dirty="0">
                <a:solidFill>
                  <a:schemeClr val="bg1"/>
                </a:solidFill>
              </a:rPr>
              <a:t>Affected rows</a:t>
            </a:r>
          </a:p>
        </p:txBody>
      </p:sp>
      <p:sp>
        <p:nvSpPr>
          <p:cNvPr id="16" name="Text 14"/>
          <p:cNvSpPr txBox="1"/>
          <p:nvPr/>
        </p:nvSpPr>
        <p:spPr>
          <a:xfrm>
            <a:off x="548640" y="3383280"/>
            <a:ext cx="5486400" cy="365760"/>
          </a:xfrm>
          <a:prstGeom prst="rect">
            <a:avLst/>
          </a:prstGeom>
          <a:noFill/>
          <a:ln/>
        </p:spPr>
        <p:txBody>
          <a:bodyPr wrap="square" lIns="0" tIns="0" rIns="0" bIns="0" rtlCol="0" anchor="ctr"/>
          <a:lstStyle/>
          <a:p>
            <a:pPr marL="0" indent="0">
              <a:buNone/>
            </a:pPr>
            <a:r>
              <a:rPr lang="en-US" sz="1500" dirty="0">
                <a:solidFill>
                  <a:schemeClr val="bg1"/>
                </a:solidFill>
              </a:rPr>
              <a:t>Columns in the dataset</a:t>
            </a:r>
          </a:p>
        </p:txBody>
      </p:sp>
      <p:sp>
        <p:nvSpPr>
          <p:cNvPr id="17" name="Shape 15"/>
          <p:cNvSpPr/>
          <p:nvPr/>
        </p:nvSpPr>
        <p:spPr>
          <a:xfrm>
            <a:off x="548640" y="3840480"/>
            <a:ext cx="5212080" cy="457200"/>
          </a:xfrm>
          <a:prstGeom prst="roundRect">
            <a:avLst>
              <a:gd name="adj" fmla="val 10000"/>
            </a:avLst>
          </a:prstGeom>
          <a:solidFill>
            <a:srgbClr val="161616"/>
          </a:solidFill>
          <a:ln>
            <a:solidFill>
              <a:srgbClr val="00B050"/>
            </a:solidFill>
          </a:ln>
        </p:spPr>
      </p:sp>
      <p:sp>
        <p:nvSpPr>
          <p:cNvPr id="18" name="Text 16"/>
          <p:cNvSpPr txBox="1"/>
          <p:nvPr/>
        </p:nvSpPr>
        <p:spPr>
          <a:xfrm>
            <a:off x="731520" y="3840480"/>
            <a:ext cx="4846320" cy="457200"/>
          </a:xfrm>
          <a:prstGeom prst="rect">
            <a:avLst/>
          </a:prstGeom>
          <a:noFill/>
          <a:ln>
            <a:noFill/>
          </a:ln>
        </p:spPr>
        <p:txBody>
          <a:bodyPr wrap="square" lIns="0" tIns="0" rIns="0" bIns="0" rtlCol="0" anchor="ctr"/>
          <a:lstStyle/>
          <a:p>
            <a:pPr marL="0" indent="0">
              <a:buNone/>
            </a:pPr>
            <a:r>
              <a:rPr lang="en-US" sz="1100" dirty="0">
                <a:solidFill>
                  <a:schemeClr val="bg1"/>
                </a:solidFill>
                <a:latin typeface="Calibri" pitchFamily="34" charset="0"/>
                <a:ea typeface="Calibri" pitchFamily="34" charset="-122"/>
                <a:cs typeface="Calibri" pitchFamily="34" charset="-120"/>
              </a:rPr>
              <a:t>Order_ID, Distance_km, Preparation_Time_min</a:t>
            </a:r>
            <a:endParaRPr lang="en-US" sz="1100" dirty="0">
              <a:solidFill>
                <a:schemeClr val="bg1"/>
              </a:solidFill>
            </a:endParaRPr>
          </a:p>
        </p:txBody>
      </p:sp>
      <p:sp>
        <p:nvSpPr>
          <p:cNvPr id="19" name="Shape 17"/>
          <p:cNvSpPr/>
          <p:nvPr/>
        </p:nvSpPr>
        <p:spPr>
          <a:xfrm>
            <a:off x="6035040" y="3840480"/>
            <a:ext cx="5212080" cy="457200"/>
          </a:xfrm>
          <a:prstGeom prst="roundRect">
            <a:avLst>
              <a:gd name="adj" fmla="val 10000"/>
            </a:avLst>
          </a:prstGeom>
          <a:solidFill>
            <a:srgbClr val="161616"/>
          </a:solidFill>
          <a:ln>
            <a:solidFill>
              <a:srgbClr val="00B050"/>
            </a:solidFill>
          </a:ln>
        </p:spPr>
      </p:sp>
      <p:sp>
        <p:nvSpPr>
          <p:cNvPr id="20" name="Text 18"/>
          <p:cNvSpPr txBox="1"/>
          <p:nvPr/>
        </p:nvSpPr>
        <p:spPr>
          <a:xfrm>
            <a:off x="6217920" y="3840480"/>
            <a:ext cx="4846320" cy="457200"/>
          </a:xfrm>
          <a:prstGeom prst="rect">
            <a:avLst/>
          </a:prstGeom>
          <a:noFill/>
          <a:ln>
            <a:noFill/>
          </a:ln>
        </p:spPr>
        <p:txBody>
          <a:bodyPr wrap="square" lIns="0" tIns="0" rIns="0" bIns="0" rtlCol="0" anchor="ctr"/>
          <a:lstStyle/>
          <a:p>
            <a:pPr marL="0" indent="0">
              <a:buNone/>
            </a:pPr>
            <a:r>
              <a:rPr lang="en-US" sz="1100" dirty="0">
                <a:solidFill>
                  <a:schemeClr val="bg1"/>
                </a:solidFill>
                <a:latin typeface="Calibri" pitchFamily="34" charset="0"/>
                <a:ea typeface="Calibri" pitchFamily="34" charset="-122"/>
                <a:cs typeface="Calibri" pitchFamily="34" charset="-120"/>
              </a:rPr>
              <a:t>Weather, Traffic_Level, Time_of_Day</a:t>
            </a:r>
            <a:endParaRPr lang="en-US" sz="1100" dirty="0">
              <a:solidFill>
                <a:schemeClr val="bg1"/>
              </a:solidFill>
            </a:endParaRPr>
          </a:p>
        </p:txBody>
      </p:sp>
      <p:sp>
        <p:nvSpPr>
          <p:cNvPr id="21" name="Shape 19"/>
          <p:cNvSpPr/>
          <p:nvPr/>
        </p:nvSpPr>
        <p:spPr>
          <a:xfrm>
            <a:off x="548640" y="4434840"/>
            <a:ext cx="5212080" cy="457200"/>
          </a:xfrm>
          <a:prstGeom prst="roundRect">
            <a:avLst>
              <a:gd name="adj" fmla="val 10000"/>
            </a:avLst>
          </a:prstGeom>
          <a:solidFill>
            <a:srgbClr val="161616"/>
          </a:solidFill>
          <a:ln>
            <a:solidFill>
              <a:srgbClr val="00B050"/>
            </a:solidFill>
          </a:ln>
        </p:spPr>
      </p:sp>
      <p:sp>
        <p:nvSpPr>
          <p:cNvPr id="22" name="Text 20"/>
          <p:cNvSpPr txBox="1"/>
          <p:nvPr/>
        </p:nvSpPr>
        <p:spPr>
          <a:xfrm>
            <a:off x="731520" y="4434840"/>
            <a:ext cx="4846320" cy="457200"/>
          </a:xfrm>
          <a:prstGeom prst="rect">
            <a:avLst/>
          </a:prstGeom>
          <a:noFill/>
          <a:ln>
            <a:noFill/>
          </a:ln>
        </p:spPr>
        <p:txBody>
          <a:bodyPr wrap="square" lIns="0" tIns="0" rIns="0" bIns="0" rtlCol="0" anchor="ctr"/>
          <a:lstStyle/>
          <a:p>
            <a:pPr marL="0" indent="0">
              <a:buNone/>
            </a:pPr>
            <a:r>
              <a:rPr lang="en-US" sz="1100" dirty="0">
                <a:solidFill>
                  <a:schemeClr val="bg1"/>
                </a:solidFill>
                <a:latin typeface="Calibri" pitchFamily="34" charset="0"/>
                <a:ea typeface="Calibri" pitchFamily="34" charset="-122"/>
                <a:cs typeface="Calibri" pitchFamily="34" charset="-120"/>
              </a:rPr>
              <a:t>Vehicle_Type, Courier_Experience_yrs</a:t>
            </a:r>
            <a:endParaRPr lang="en-US" sz="1100" dirty="0">
              <a:solidFill>
                <a:schemeClr val="bg1"/>
              </a:solidFill>
            </a:endParaRPr>
          </a:p>
        </p:txBody>
      </p:sp>
      <p:sp>
        <p:nvSpPr>
          <p:cNvPr id="23" name="Shape 21"/>
          <p:cNvSpPr/>
          <p:nvPr/>
        </p:nvSpPr>
        <p:spPr>
          <a:xfrm>
            <a:off x="6035040" y="4434840"/>
            <a:ext cx="5212080" cy="457200"/>
          </a:xfrm>
          <a:prstGeom prst="roundRect">
            <a:avLst>
              <a:gd name="adj" fmla="val 10000"/>
            </a:avLst>
          </a:prstGeom>
          <a:solidFill>
            <a:srgbClr val="161616"/>
          </a:solidFill>
          <a:ln>
            <a:solidFill>
              <a:srgbClr val="00B050"/>
            </a:solidFill>
          </a:ln>
        </p:spPr>
      </p:sp>
      <p:sp>
        <p:nvSpPr>
          <p:cNvPr id="24" name="Text 22"/>
          <p:cNvSpPr txBox="1"/>
          <p:nvPr/>
        </p:nvSpPr>
        <p:spPr>
          <a:xfrm>
            <a:off x="6217920" y="4434840"/>
            <a:ext cx="4846320" cy="457200"/>
          </a:xfrm>
          <a:prstGeom prst="rect">
            <a:avLst/>
          </a:prstGeom>
          <a:noFill/>
          <a:ln>
            <a:noFill/>
          </a:ln>
        </p:spPr>
        <p:txBody>
          <a:bodyPr wrap="square" lIns="0" tIns="0" rIns="0" bIns="0" rtlCol="0" anchor="ctr"/>
          <a:lstStyle/>
          <a:p>
            <a:pPr marL="0" indent="0">
              <a:buNone/>
            </a:pPr>
            <a:r>
              <a:rPr lang="en-US" sz="1100" dirty="0">
                <a:solidFill>
                  <a:schemeClr val="bg1"/>
                </a:solidFill>
                <a:latin typeface="Calibri" pitchFamily="34" charset="0"/>
                <a:ea typeface="Calibri" pitchFamily="34" charset="-122"/>
                <a:cs typeface="Calibri" pitchFamily="34" charset="-120"/>
              </a:rPr>
              <a:t>Delivery_Time_min (target)</a:t>
            </a:r>
            <a:endParaRPr lang="en-US" sz="1100" dirty="0">
              <a:solidFill>
                <a:schemeClr val="bg1"/>
              </a:solidFill>
            </a:endParaRPr>
          </a:p>
        </p:txBody>
      </p:sp>
      <p:sp>
        <p:nvSpPr>
          <p:cNvPr id="25" name="Shape 23"/>
          <p:cNvSpPr/>
          <p:nvPr/>
        </p:nvSpPr>
        <p:spPr>
          <a:xfrm>
            <a:off x="548640" y="5257800"/>
            <a:ext cx="11109960" cy="1005840"/>
          </a:xfrm>
          <a:prstGeom prst="roundRect">
            <a:avLst>
              <a:gd name="adj" fmla="val 6364"/>
            </a:avLst>
          </a:prstGeom>
          <a:solidFill>
            <a:srgbClr val="161616"/>
          </a:solidFill>
          <a:ln>
            <a:solidFill>
              <a:srgbClr val="00B050"/>
            </a:solidFill>
          </a:ln>
        </p:spPr>
      </p:sp>
      <p:sp>
        <p:nvSpPr>
          <p:cNvPr id="26" name="Text 24"/>
          <p:cNvSpPr txBox="1"/>
          <p:nvPr/>
        </p:nvSpPr>
        <p:spPr>
          <a:xfrm>
            <a:off x="822960" y="5394960"/>
            <a:ext cx="10561320" cy="731520"/>
          </a:xfrm>
          <a:prstGeom prst="rect">
            <a:avLst/>
          </a:prstGeom>
          <a:noFill/>
          <a:ln>
            <a:noFill/>
          </a:ln>
        </p:spPr>
        <p:txBody>
          <a:bodyPr wrap="square" lIns="0" tIns="0" rIns="0" bIns="0" rtlCol="0" anchor="ctr"/>
          <a:lstStyle/>
          <a:p>
            <a:pPr marL="0" indent="0" algn="just">
              <a:lnSpc>
                <a:spcPct val="120000"/>
              </a:lnSpc>
              <a:buNone/>
            </a:pPr>
            <a:r>
              <a:rPr lang="en-US" sz="1200" b="1" dirty="0">
                <a:solidFill>
                  <a:srgbClr val="06C167"/>
                </a:solidFill>
                <a:latin typeface="Calibri" pitchFamily="34" charset="0"/>
                <a:ea typeface="Calibri" pitchFamily="34" charset="-122"/>
                <a:cs typeface="Calibri" pitchFamily="34" charset="-120"/>
              </a:rPr>
              <a:t>Analysis target:  </a:t>
            </a:r>
            <a:r>
              <a:rPr lang="en-US" sz="1200" dirty="0">
                <a:solidFill>
                  <a:schemeClr val="bg1"/>
                </a:solidFill>
                <a:latin typeface="Calibri" pitchFamily="34" charset="0"/>
                <a:ea typeface="Calibri" pitchFamily="34" charset="-122"/>
                <a:cs typeface="Calibri" pitchFamily="34" charset="-120"/>
              </a:rPr>
              <a:t>explaining variations in </a:t>
            </a:r>
            <a:r>
              <a:rPr lang="en-US" sz="1200" dirty="0" err="1">
                <a:solidFill>
                  <a:schemeClr val="bg1"/>
                </a:solidFill>
                <a:latin typeface="Calibri" pitchFamily="34" charset="0"/>
                <a:ea typeface="Calibri" pitchFamily="34" charset="-122"/>
                <a:cs typeface="Calibri" pitchFamily="34" charset="-120"/>
              </a:rPr>
              <a:t>Delivery_Time_min</a:t>
            </a:r>
            <a:r>
              <a:rPr lang="en-US" sz="1200" dirty="0">
                <a:solidFill>
                  <a:schemeClr val="bg1"/>
                </a:solidFill>
                <a:latin typeface="Calibri" pitchFamily="34" charset="0"/>
                <a:ea typeface="Calibri" pitchFamily="34" charset="-122"/>
                <a:cs typeface="Calibri" pitchFamily="34" charset="-120"/>
              </a:rPr>
              <a:t> using a combination of operational factors (weather, traffic, </a:t>
            </a:r>
            <a:r>
              <a:rPr lang="en-US" sz="1200" dirty="0" err="1">
                <a:solidFill>
                  <a:schemeClr val="bg1"/>
                </a:solidFill>
                <a:latin typeface="Calibri" pitchFamily="34" charset="0"/>
                <a:ea typeface="Calibri" pitchFamily="34" charset="-122"/>
                <a:cs typeface="Calibri" pitchFamily="34" charset="-120"/>
              </a:rPr>
              <a:t>etc</a:t>
            </a:r>
            <a:r>
              <a:rPr lang="en-US" sz="1200" dirty="0">
                <a:solidFill>
                  <a:schemeClr val="bg1"/>
                </a:solidFill>
                <a:latin typeface="Calibri" pitchFamily="34" charset="0"/>
                <a:ea typeface="Calibri" pitchFamily="34" charset="-122"/>
                <a:cs typeface="Calibri" pitchFamily="34" charset="-120"/>
              </a:rPr>
              <a:t>) and distance/preparation factors, followed by a statistical significance test.</a:t>
            </a:r>
            <a:endParaRPr lang="en-US" sz="1200" dirty="0">
              <a:solidFill>
                <a:schemeClr val="bg1"/>
              </a:solidFill>
            </a:endParaRPr>
          </a:p>
        </p:txBody>
      </p:sp>
      <p:sp>
        <p:nvSpPr>
          <p:cNvPr id="27" name="Text 25"/>
          <p:cNvSpPr txBox="1"/>
          <p:nvPr/>
        </p:nvSpPr>
        <p:spPr>
          <a:xfrm>
            <a:off x="548640" y="6473952"/>
            <a:ext cx="7315200" cy="274320"/>
          </a:xfrm>
          <a:prstGeom prst="rect">
            <a:avLst/>
          </a:prstGeom>
          <a:noFill/>
          <a:ln/>
        </p:spPr>
        <p:txBody>
          <a:bodyPr wrap="square" lIns="0" tIns="0" rIns="0" bIns="0" rtlCol="0" anchor="ctr"/>
          <a:lstStyle/>
          <a:p>
            <a:pPr marL="0" indent="0">
              <a:buNone/>
            </a:pPr>
            <a:endParaRPr lang="en-US" sz="900" dirty="0"/>
          </a:p>
        </p:txBody>
      </p:sp>
      <p:sp>
        <p:nvSpPr>
          <p:cNvPr id="28" name="Text 26"/>
          <p:cNvSpPr txBox="1"/>
          <p:nvPr/>
        </p:nvSpPr>
        <p:spPr>
          <a:xfrm>
            <a:off x="11185855" y="6473952"/>
            <a:ext cx="457200" cy="274320"/>
          </a:xfrm>
          <a:prstGeom prst="rect">
            <a:avLst/>
          </a:prstGeom>
          <a:noFill/>
          <a:ln/>
        </p:spPr>
        <p:txBody>
          <a:bodyPr wrap="square" lIns="0" tIns="0" rIns="0" bIns="0" rtlCol="0" anchor="ctr"/>
          <a:lstStyle/>
          <a:p>
            <a:pPr marL="0" indent="0" algn="r">
              <a:buNone/>
            </a:pPr>
            <a:r>
              <a:rPr lang="en-US" sz="900" dirty="0">
                <a:solidFill>
                  <a:srgbClr val="5C645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0000"/>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92608"/>
          </a:xfrm>
          <a:prstGeom prst="rect">
            <a:avLst/>
          </a:prstGeom>
          <a:noFill/>
          <a:ln/>
        </p:spPr>
        <p:txBody>
          <a:bodyPr wrap="square" lIns="0" tIns="0" rIns="0" bIns="0" rtlCol="0" anchor="ctr"/>
          <a:lstStyle/>
          <a:p>
            <a:pPr marL="0" indent="0">
              <a:buNone/>
            </a:pPr>
            <a:r>
              <a:rPr lang="en-US" sz="1200" b="1" kern="0" spc="200" dirty="0">
                <a:solidFill>
                  <a:srgbClr val="06C167"/>
                </a:solidFill>
                <a:latin typeface="Calibri" pitchFamily="34" charset="0"/>
                <a:ea typeface="Calibri" pitchFamily="34" charset="-122"/>
                <a:cs typeface="Calibri" pitchFamily="34" charset="-120"/>
              </a:rPr>
              <a:t>DATA</a:t>
            </a:r>
            <a:endParaRPr lang="en-US" sz="1200" dirty="0"/>
          </a:p>
        </p:txBody>
      </p:sp>
      <p:sp>
        <p:nvSpPr>
          <p:cNvPr id="3" name="Text 1"/>
          <p:cNvSpPr txBox="1"/>
          <p:nvPr/>
        </p:nvSpPr>
        <p:spPr>
          <a:xfrm>
            <a:off x="548640" y="658368"/>
            <a:ext cx="10789920" cy="822960"/>
          </a:xfrm>
          <a:prstGeom prst="rect">
            <a:avLst/>
          </a:prstGeom>
          <a:noFill/>
          <a:ln/>
        </p:spPr>
        <p:txBody>
          <a:bodyPr wrap="square" lIns="0" tIns="0" rIns="0" bIns="0" rtlCol="0" anchor="ctr"/>
          <a:lstStyle/>
          <a:p>
            <a:pPr marL="0" indent="0">
              <a:buNone/>
            </a:pPr>
            <a:r>
              <a:rPr lang="en-US" sz="2900" b="1" dirty="0">
                <a:solidFill>
                  <a:schemeClr val="bg1"/>
                </a:solidFill>
              </a:rPr>
              <a:t>Data Cleaning</a:t>
            </a:r>
          </a:p>
        </p:txBody>
      </p:sp>
      <p:sp>
        <p:nvSpPr>
          <p:cNvPr id="4" name="Text 2"/>
          <p:cNvSpPr txBox="1"/>
          <p:nvPr/>
        </p:nvSpPr>
        <p:spPr>
          <a:xfrm>
            <a:off x="548640" y="1499616"/>
            <a:ext cx="5486400" cy="365760"/>
          </a:xfrm>
          <a:prstGeom prst="rect">
            <a:avLst/>
          </a:prstGeom>
          <a:noFill/>
          <a:ln/>
        </p:spPr>
        <p:txBody>
          <a:bodyPr wrap="square" lIns="0" tIns="0" rIns="0" bIns="0" rtlCol="0" anchor="ctr"/>
          <a:lstStyle/>
          <a:p>
            <a:pPr marL="0" indent="0">
              <a:buNone/>
            </a:pPr>
            <a:r>
              <a:rPr lang="en-US" sz="1500" b="1" dirty="0">
                <a:solidFill>
                  <a:schemeClr val="bg1"/>
                </a:solidFill>
              </a:rPr>
              <a:t>Imputation Strategy</a:t>
            </a:r>
          </a:p>
        </p:txBody>
      </p:sp>
      <p:sp>
        <p:nvSpPr>
          <p:cNvPr id="5" name="Shape 3"/>
          <p:cNvSpPr/>
          <p:nvPr/>
        </p:nvSpPr>
        <p:spPr>
          <a:xfrm>
            <a:off x="548640" y="1965960"/>
            <a:ext cx="5486400" cy="640080"/>
          </a:xfrm>
          <a:prstGeom prst="roundRect">
            <a:avLst>
              <a:gd name="adj" fmla="val 8571"/>
            </a:avLst>
          </a:prstGeom>
          <a:solidFill>
            <a:srgbClr val="161616"/>
          </a:solidFill>
          <a:ln>
            <a:solidFill>
              <a:srgbClr val="00B050"/>
            </a:solidFill>
          </a:ln>
        </p:spPr>
      </p:sp>
      <p:sp>
        <p:nvSpPr>
          <p:cNvPr id="6" name="Text 4"/>
          <p:cNvSpPr txBox="1"/>
          <p:nvPr/>
        </p:nvSpPr>
        <p:spPr>
          <a:xfrm>
            <a:off x="731520" y="2039112"/>
            <a:ext cx="5120640" cy="493776"/>
          </a:xfrm>
          <a:prstGeom prst="rect">
            <a:avLst/>
          </a:prstGeom>
          <a:noFill/>
          <a:ln/>
        </p:spPr>
        <p:txBody>
          <a:bodyPr wrap="square" lIns="0" tIns="0" rIns="0" bIns="0" rtlCol="0" anchor="ctr"/>
          <a:lstStyle/>
          <a:p>
            <a:pPr marL="0" indent="0">
              <a:buNone/>
            </a:pPr>
            <a:r>
              <a:rPr lang="en-US" sz="1200" b="1" dirty="0">
                <a:solidFill>
                  <a:srgbClr val="06C167"/>
                </a:solidFill>
                <a:latin typeface="Calibri" pitchFamily="34" charset="0"/>
                <a:ea typeface="Calibri" pitchFamily="34" charset="-122"/>
                <a:cs typeface="Calibri" pitchFamily="34" charset="-120"/>
              </a:rPr>
              <a:t>Categorical:  </a:t>
            </a:r>
            <a:r>
              <a:rPr lang="en-US" sz="1200" dirty="0">
                <a:solidFill>
                  <a:schemeClr val="bg1"/>
                </a:solidFill>
                <a:latin typeface="Calibri" pitchFamily="34" charset="0"/>
                <a:ea typeface="Calibri" pitchFamily="34" charset="-122"/>
                <a:cs typeface="Calibri" pitchFamily="34" charset="-120"/>
              </a:rPr>
              <a:t>Weather, Traffic_Level, Time_of_Day → handled with mode</a:t>
            </a:r>
            <a:endParaRPr lang="en-US" sz="1200" dirty="0">
              <a:solidFill>
                <a:schemeClr val="bg1"/>
              </a:solidFill>
            </a:endParaRPr>
          </a:p>
        </p:txBody>
      </p:sp>
      <p:sp>
        <p:nvSpPr>
          <p:cNvPr id="7" name="Shape 5"/>
          <p:cNvSpPr/>
          <p:nvPr/>
        </p:nvSpPr>
        <p:spPr>
          <a:xfrm>
            <a:off x="548640" y="2743200"/>
            <a:ext cx="5486400" cy="640080"/>
          </a:xfrm>
          <a:prstGeom prst="roundRect">
            <a:avLst>
              <a:gd name="adj" fmla="val 8571"/>
            </a:avLst>
          </a:prstGeom>
          <a:solidFill>
            <a:srgbClr val="161616"/>
          </a:solidFill>
          <a:ln>
            <a:solidFill>
              <a:srgbClr val="00B050"/>
            </a:solidFill>
          </a:ln>
        </p:spPr>
      </p:sp>
      <p:sp>
        <p:nvSpPr>
          <p:cNvPr id="8" name="Text 6"/>
          <p:cNvSpPr txBox="1"/>
          <p:nvPr/>
        </p:nvSpPr>
        <p:spPr>
          <a:xfrm>
            <a:off x="731520" y="2816352"/>
            <a:ext cx="5120640" cy="493776"/>
          </a:xfrm>
          <a:prstGeom prst="rect">
            <a:avLst/>
          </a:prstGeom>
          <a:noFill/>
          <a:ln/>
        </p:spPr>
        <p:txBody>
          <a:bodyPr wrap="square" lIns="0" tIns="0" rIns="0" bIns="0" rtlCol="0" anchor="ctr"/>
          <a:lstStyle/>
          <a:p>
            <a:pPr marL="0" indent="0">
              <a:buNone/>
            </a:pPr>
            <a:r>
              <a:rPr lang="en-US" sz="1200" b="1" dirty="0">
                <a:solidFill>
                  <a:srgbClr val="06C167"/>
                </a:solidFill>
                <a:latin typeface="Calibri" pitchFamily="34" charset="0"/>
                <a:ea typeface="Calibri" pitchFamily="34" charset="-122"/>
                <a:cs typeface="Calibri" pitchFamily="34" charset="-120"/>
              </a:rPr>
              <a:t>Numerical:  </a:t>
            </a:r>
            <a:r>
              <a:rPr lang="en-US" sz="1200" dirty="0">
                <a:solidFill>
                  <a:schemeClr val="bg1"/>
                </a:solidFill>
                <a:latin typeface="Calibri" pitchFamily="34" charset="0"/>
                <a:ea typeface="Calibri" pitchFamily="34" charset="-122"/>
                <a:cs typeface="Calibri" pitchFamily="34" charset="-120"/>
              </a:rPr>
              <a:t>Courier_Experience_yrs → handled with median</a:t>
            </a:r>
            <a:endParaRPr lang="en-US" sz="1200" dirty="0">
              <a:solidFill>
                <a:schemeClr val="bg1"/>
              </a:solidFill>
            </a:endParaRPr>
          </a:p>
        </p:txBody>
      </p:sp>
      <p:sp>
        <p:nvSpPr>
          <p:cNvPr id="9" name="Text 7"/>
          <p:cNvSpPr txBox="1"/>
          <p:nvPr/>
        </p:nvSpPr>
        <p:spPr>
          <a:xfrm>
            <a:off x="548640" y="3703320"/>
            <a:ext cx="5486400" cy="3657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Missing Value Pattern</a:t>
            </a:r>
            <a:endParaRPr lang="en-US" sz="1500" dirty="0"/>
          </a:p>
        </p:txBody>
      </p:sp>
      <p:sp>
        <p:nvSpPr>
          <p:cNvPr id="10" name="Shape 8"/>
          <p:cNvSpPr/>
          <p:nvPr/>
        </p:nvSpPr>
        <p:spPr>
          <a:xfrm>
            <a:off x="548640" y="4187952"/>
            <a:ext cx="91440" cy="91440"/>
          </a:xfrm>
          <a:prstGeom prst="ellipse">
            <a:avLst/>
          </a:prstGeom>
          <a:solidFill>
            <a:srgbClr val="06C167"/>
          </a:solidFill>
          <a:ln/>
        </p:spPr>
      </p:sp>
      <p:sp>
        <p:nvSpPr>
          <p:cNvPr id="11" name="Text 9"/>
          <p:cNvSpPr txBox="1"/>
          <p:nvPr/>
        </p:nvSpPr>
        <p:spPr>
          <a:xfrm>
            <a:off x="777240" y="4114800"/>
            <a:ext cx="5212080" cy="365760"/>
          </a:xfrm>
          <a:prstGeom prst="rect">
            <a:avLst/>
          </a:prstGeom>
          <a:noFill/>
          <a:ln/>
        </p:spPr>
        <p:txBody>
          <a:bodyPr wrap="square" lIns="0" tIns="0" rIns="0" bIns="0" rtlCol="0" anchor="ctr"/>
          <a:lstStyle/>
          <a:p>
            <a:pPr marL="0" indent="0">
              <a:buNone/>
            </a:pPr>
            <a:r>
              <a:rPr lang="en-US" sz="1150" dirty="0">
                <a:solidFill>
                  <a:schemeClr val="bg1"/>
                </a:solidFill>
                <a:latin typeface="Calibri" pitchFamily="34" charset="0"/>
                <a:ea typeface="Calibri" pitchFamily="34" charset="-122"/>
                <a:cs typeface="Calibri" pitchFamily="34" charset="-120"/>
              </a:rPr>
              <a:t>117 unique rows affected out of a total of 1,000 (11.7%)</a:t>
            </a:r>
            <a:endParaRPr lang="en-US" sz="1150" dirty="0">
              <a:solidFill>
                <a:schemeClr val="bg1"/>
              </a:solidFill>
            </a:endParaRPr>
          </a:p>
        </p:txBody>
      </p:sp>
      <p:sp>
        <p:nvSpPr>
          <p:cNvPr id="12" name="Shape 10"/>
          <p:cNvSpPr/>
          <p:nvPr/>
        </p:nvSpPr>
        <p:spPr>
          <a:xfrm>
            <a:off x="548640" y="4645152"/>
            <a:ext cx="91440" cy="91440"/>
          </a:xfrm>
          <a:prstGeom prst="ellipse">
            <a:avLst/>
          </a:prstGeom>
          <a:solidFill>
            <a:srgbClr val="06C167"/>
          </a:solidFill>
          <a:ln/>
        </p:spPr>
      </p:sp>
      <p:sp>
        <p:nvSpPr>
          <p:cNvPr id="13" name="Text 11"/>
          <p:cNvSpPr txBox="1"/>
          <p:nvPr/>
        </p:nvSpPr>
        <p:spPr>
          <a:xfrm>
            <a:off x="777240" y="4572000"/>
            <a:ext cx="5212080" cy="365760"/>
          </a:xfrm>
          <a:prstGeom prst="rect">
            <a:avLst/>
          </a:prstGeom>
          <a:noFill/>
          <a:ln/>
        </p:spPr>
        <p:txBody>
          <a:bodyPr wrap="square" lIns="0" tIns="0" rIns="0" bIns="0" rtlCol="0" anchor="ctr"/>
          <a:lstStyle/>
          <a:p>
            <a:pPr marL="0" indent="0">
              <a:buNone/>
            </a:pPr>
            <a:r>
              <a:rPr lang="en-US" sz="1150" dirty="0">
                <a:solidFill>
                  <a:schemeClr val="bg1"/>
                </a:solidFill>
                <a:latin typeface="Calibri" pitchFamily="34" charset="0"/>
                <a:ea typeface="Calibri" pitchFamily="34" charset="-122"/>
                <a:cs typeface="Calibri" pitchFamily="34" charset="-120"/>
              </a:rPr>
              <a:t>114 rows are blank in only 1 column</a:t>
            </a:r>
            <a:endParaRPr lang="en-US" sz="1150" dirty="0">
              <a:solidFill>
                <a:schemeClr val="bg1"/>
              </a:solidFill>
            </a:endParaRPr>
          </a:p>
        </p:txBody>
      </p:sp>
      <p:sp>
        <p:nvSpPr>
          <p:cNvPr id="14" name="Shape 12"/>
          <p:cNvSpPr/>
          <p:nvPr/>
        </p:nvSpPr>
        <p:spPr>
          <a:xfrm>
            <a:off x="548640" y="5102352"/>
            <a:ext cx="91440" cy="91440"/>
          </a:xfrm>
          <a:prstGeom prst="ellipse">
            <a:avLst/>
          </a:prstGeom>
          <a:solidFill>
            <a:srgbClr val="06C167"/>
          </a:solidFill>
          <a:ln/>
        </p:spPr>
      </p:sp>
      <p:sp>
        <p:nvSpPr>
          <p:cNvPr id="15" name="Text 13"/>
          <p:cNvSpPr txBox="1"/>
          <p:nvPr/>
        </p:nvSpPr>
        <p:spPr>
          <a:xfrm>
            <a:off x="777240" y="5029200"/>
            <a:ext cx="5212080" cy="365760"/>
          </a:xfrm>
          <a:prstGeom prst="rect">
            <a:avLst/>
          </a:prstGeom>
          <a:noFill/>
          <a:ln/>
        </p:spPr>
        <p:txBody>
          <a:bodyPr wrap="square" lIns="0" tIns="0" rIns="0" bIns="0" rtlCol="0" anchor="ctr"/>
          <a:lstStyle/>
          <a:p>
            <a:pPr marL="0" indent="0">
              <a:buNone/>
            </a:pPr>
            <a:r>
              <a:rPr lang="en-US" sz="1150" dirty="0">
                <a:solidFill>
                  <a:schemeClr val="bg1"/>
                </a:solidFill>
                <a:latin typeface="Calibri" pitchFamily="34" charset="0"/>
                <a:ea typeface="Calibri" pitchFamily="34" charset="-122"/>
                <a:cs typeface="Calibri" pitchFamily="34" charset="-120"/>
              </a:rPr>
              <a:t>Only 3 rows are blank in more than 1 column</a:t>
            </a:r>
            <a:endParaRPr lang="en-US" sz="1150" dirty="0">
              <a:solidFill>
                <a:schemeClr val="bg1"/>
              </a:solidFill>
            </a:endParaRPr>
          </a:p>
        </p:txBody>
      </p:sp>
      <p:sp>
        <p:nvSpPr>
          <p:cNvPr id="16" name="Shape 14"/>
          <p:cNvSpPr/>
          <p:nvPr/>
        </p:nvSpPr>
        <p:spPr>
          <a:xfrm>
            <a:off x="6446520" y="827532"/>
            <a:ext cx="5212080" cy="2770632"/>
          </a:xfrm>
          <a:prstGeom prst="roundRect">
            <a:avLst>
              <a:gd name="adj" fmla="val 1758"/>
            </a:avLst>
          </a:prstGeom>
          <a:solidFill>
            <a:srgbClr val="0D2A1C"/>
          </a:solidFill>
          <a:ln w="12700">
            <a:solidFill>
              <a:srgbClr val="06C167"/>
            </a:solidFill>
            <a:prstDash val="solid"/>
          </a:ln>
        </p:spPr>
      </p:sp>
      <p:sp>
        <p:nvSpPr>
          <p:cNvPr id="17" name="Text 15"/>
          <p:cNvSpPr txBox="1"/>
          <p:nvPr/>
        </p:nvSpPr>
        <p:spPr>
          <a:xfrm>
            <a:off x="6659575" y="941832"/>
            <a:ext cx="4754880" cy="365760"/>
          </a:xfrm>
          <a:prstGeom prst="rect">
            <a:avLst/>
          </a:prstGeom>
          <a:noFill/>
          <a:ln/>
        </p:spPr>
        <p:txBody>
          <a:bodyPr wrap="square" lIns="0" tIns="0" rIns="0" bIns="0" rtlCol="0" anchor="ctr"/>
          <a:lstStyle/>
          <a:p>
            <a:pPr marL="0" indent="0">
              <a:buNone/>
            </a:pPr>
            <a:r>
              <a:rPr lang="en-US" sz="1400" b="1" dirty="0">
                <a:solidFill>
                  <a:srgbClr val="06C167"/>
                </a:solidFill>
                <a:latin typeface="Calibri" pitchFamily="34" charset="0"/>
                <a:ea typeface="Calibri" pitchFamily="34" charset="-122"/>
                <a:cs typeface="Calibri" pitchFamily="34" charset="-120"/>
              </a:rPr>
              <a:t>Why not just delete it?</a:t>
            </a:r>
            <a:endParaRPr lang="en-US" sz="1400" dirty="0"/>
          </a:p>
        </p:txBody>
      </p:sp>
      <p:sp>
        <p:nvSpPr>
          <p:cNvPr id="18" name="Text 16"/>
          <p:cNvSpPr txBox="1"/>
          <p:nvPr/>
        </p:nvSpPr>
        <p:spPr>
          <a:xfrm>
            <a:off x="6659574" y="685800"/>
            <a:ext cx="4663440" cy="3291840"/>
          </a:xfrm>
          <a:prstGeom prst="rect">
            <a:avLst/>
          </a:prstGeom>
          <a:noFill/>
          <a:ln/>
        </p:spPr>
        <p:txBody>
          <a:bodyPr wrap="square" lIns="0" tIns="0" rIns="0" bIns="0" rtlCol="0" anchor="ctr"/>
          <a:lstStyle/>
          <a:p>
            <a:pPr marL="0" indent="0" algn="just">
              <a:lnSpc>
                <a:spcPct val="135000"/>
              </a:lnSpc>
              <a:buNone/>
            </a:pPr>
            <a:r>
              <a:rPr lang="en-US" sz="1250" dirty="0">
                <a:solidFill>
                  <a:srgbClr val="FFFFFF"/>
                </a:solidFill>
                <a:latin typeface="Calibri" pitchFamily="34" charset="0"/>
                <a:ea typeface="Calibri" pitchFamily="34" charset="-122"/>
                <a:cs typeface="Calibri" pitchFamily="34" charset="-120"/>
              </a:rPr>
              <a:t>The missing data are randomly scattered across 117 rows (rather than concentrated in one place), and only 3 rows have missing values in more than one column.</a:t>
            </a:r>
          </a:p>
          <a:p>
            <a:pPr marL="0" indent="0" algn="just">
              <a:lnSpc>
                <a:spcPct val="135000"/>
              </a:lnSpc>
              <a:buNone/>
            </a:pPr>
            <a:endParaRPr lang="en-US" sz="1250" dirty="0"/>
          </a:p>
          <a:p>
            <a:pPr marL="0" indent="0" algn="just">
              <a:lnSpc>
                <a:spcPct val="135000"/>
              </a:lnSpc>
              <a:buNone/>
            </a:pPr>
            <a:r>
              <a:rPr lang="en-US" sz="1250" dirty="0">
                <a:solidFill>
                  <a:srgbClr val="FFFFFF"/>
                </a:solidFill>
                <a:latin typeface="Calibri" pitchFamily="34" charset="0"/>
                <a:ea typeface="Calibri" pitchFamily="34" charset="-122"/>
                <a:cs typeface="Calibri" pitchFamily="34" charset="-120"/>
              </a:rPr>
              <a:t>Deleting them would mean discarding 11.7% of still-useful data, so imputation was chosen as the safer approach to preserve the sample size for subsequent statistical tests.</a:t>
            </a:r>
            <a:endParaRPr lang="en-US" sz="1250" dirty="0"/>
          </a:p>
        </p:txBody>
      </p:sp>
      <p:sp>
        <p:nvSpPr>
          <p:cNvPr id="19" name="Text 17"/>
          <p:cNvSpPr txBox="1"/>
          <p:nvPr/>
        </p:nvSpPr>
        <p:spPr>
          <a:xfrm>
            <a:off x="548640" y="6473952"/>
            <a:ext cx="7315200" cy="274320"/>
          </a:xfrm>
          <a:prstGeom prst="rect">
            <a:avLst/>
          </a:prstGeom>
          <a:noFill/>
          <a:ln/>
        </p:spPr>
        <p:txBody>
          <a:bodyPr wrap="square" lIns="0" tIns="0" rIns="0" bIns="0" rtlCol="0" anchor="ctr"/>
          <a:lstStyle/>
          <a:p>
            <a:pPr marL="0" indent="0">
              <a:buNone/>
            </a:pPr>
            <a:endParaRPr lang="en-US" sz="900" dirty="0"/>
          </a:p>
        </p:txBody>
      </p:sp>
      <p:sp>
        <p:nvSpPr>
          <p:cNvPr id="20" name="Text 18"/>
          <p:cNvSpPr txBox="1"/>
          <p:nvPr/>
        </p:nvSpPr>
        <p:spPr>
          <a:xfrm>
            <a:off x="11185855" y="6473952"/>
            <a:ext cx="457200" cy="274320"/>
          </a:xfrm>
          <a:prstGeom prst="rect">
            <a:avLst/>
          </a:prstGeom>
          <a:noFill/>
          <a:ln/>
        </p:spPr>
        <p:txBody>
          <a:bodyPr wrap="square" lIns="0" tIns="0" rIns="0" bIns="0" rtlCol="0" anchor="ctr"/>
          <a:lstStyle/>
          <a:p>
            <a:pPr marL="0" indent="0" algn="r">
              <a:buNone/>
            </a:pPr>
            <a:r>
              <a:rPr lang="en-US" sz="900" dirty="0">
                <a:solidFill>
                  <a:srgbClr val="5C645F"/>
                </a:solidFill>
                <a:latin typeface="Calibri" pitchFamily="34" charset="0"/>
                <a:ea typeface="Calibri" pitchFamily="34" charset="-122"/>
                <a:cs typeface="Calibri" pitchFamily="34" charset="-120"/>
              </a:rPr>
              <a:t>4</a:t>
            </a:r>
            <a:endParaRPr lang="en-US" sz="900" dirty="0"/>
          </a:p>
        </p:txBody>
      </p:sp>
      <p:pic>
        <p:nvPicPr>
          <p:cNvPr id="22" name="Picture 21">
            <a:extLst>
              <a:ext uri="{FF2B5EF4-FFF2-40B4-BE49-F238E27FC236}">
                <a16:creationId xmlns:a16="http://schemas.microsoft.com/office/drawing/2014/main" id="{E648B3AB-1F65-2C53-FEB4-C48CE58116A0}"/>
              </a:ext>
            </a:extLst>
          </p:cNvPr>
          <p:cNvPicPr>
            <a:picLocks noChangeAspect="1"/>
          </p:cNvPicPr>
          <p:nvPr/>
        </p:nvPicPr>
        <p:blipFill>
          <a:blip r:embed="rId3"/>
          <a:stretch>
            <a:fillRect/>
          </a:stretch>
        </p:blipFill>
        <p:spPr>
          <a:xfrm>
            <a:off x="7204281" y="3803904"/>
            <a:ext cx="3696557" cy="250771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0000"/>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92608"/>
          </a:xfrm>
          <a:prstGeom prst="rect">
            <a:avLst/>
          </a:prstGeom>
          <a:noFill/>
          <a:ln/>
        </p:spPr>
        <p:txBody>
          <a:bodyPr wrap="square" lIns="0" tIns="0" rIns="0" bIns="0" rtlCol="0" anchor="ctr"/>
          <a:lstStyle/>
          <a:p>
            <a:pPr marL="0" indent="0">
              <a:buNone/>
            </a:pPr>
            <a:r>
              <a:rPr lang="en-US" sz="1200" b="1" kern="0" spc="200" dirty="0">
                <a:solidFill>
                  <a:srgbClr val="06C167"/>
                </a:solidFill>
                <a:latin typeface="Calibri" pitchFamily="34" charset="0"/>
                <a:ea typeface="Calibri" pitchFamily="34" charset="-122"/>
                <a:cs typeface="Calibri" pitchFamily="34" charset="-120"/>
              </a:rPr>
              <a:t>DATA EXPLORATION</a:t>
            </a:r>
            <a:endParaRPr lang="en-US" sz="1200" dirty="0"/>
          </a:p>
        </p:txBody>
      </p:sp>
      <p:sp>
        <p:nvSpPr>
          <p:cNvPr id="3" name="Text 1"/>
          <p:cNvSpPr txBox="1"/>
          <p:nvPr/>
        </p:nvSpPr>
        <p:spPr>
          <a:xfrm>
            <a:off x="548640" y="658368"/>
            <a:ext cx="10789920" cy="822960"/>
          </a:xfrm>
          <a:prstGeom prst="rect">
            <a:avLst/>
          </a:prstGeom>
          <a:noFill/>
          <a:ln/>
        </p:spPr>
        <p:txBody>
          <a:bodyPr wrap="square" lIns="0" tIns="0" rIns="0" bIns="0" rtlCol="0" anchor="ctr"/>
          <a:lstStyle/>
          <a:p>
            <a:pPr marL="0" indent="0">
              <a:buNone/>
            </a:pPr>
            <a:r>
              <a:rPr lang="en-US" sz="2900" b="1" dirty="0">
                <a:solidFill>
                  <a:srgbClr val="FFFFFF"/>
                </a:solidFill>
                <a:latin typeface="Cambria" pitchFamily="34" charset="0"/>
                <a:ea typeface="Cambria" pitchFamily="34" charset="-122"/>
              </a:rPr>
              <a:t>Distribution of the Delivery Time Data</a:t>
            </a:r>
            <a:endParaRPr lang="en-US" sz="2900" dirty="0"/>
          </a:p>
        </p:txBody>
      </p:sp>
      <p:sp>
        <p:nvSpPr>
          <p:cNvPr id="5" name="Shape 2"/>
          <p:cNvSpPr/>
          <p:nvPr/>
        </p:nvSpPr>
        <p:spPr>
          <a:xfrm>
            <a:off x="8503920" y="1554480"/>
            <a:ext cx="3154680" cy="1188720"/>
          </a:xfrm>
          <a:prstGeom prst="roundRect">
            <a:avLst>
              <a:gd name="adj" fmla="val 5385"/>
            </a:avLst>
          </a:prstGeom>
          <a:solidFill>
            <a:srgbClr val="161616"/>
          </a:solidFill>
          <a:ln>
            <a:solidFill>
              <a:srgbClr val="00B050"/>
            </a:solidFill>
          </a:ln>
        </p:spPr>
      </p:sp>
      <p:sp>
        <p:nvSpPr>
          <p:cNvPr id="6" name="Text 3"/>
          <p:cNvSpPr txBox="1"/>
          <p:nvPr/>
        </p:nvSpPr>
        <p:spPr>
          <a:xfrm>
            <a:off x="8686800" y="1682496"/>
            <a:ext cx="2788920" cy="594360"/>
          </a:xfrm>
          <a:prstGeom prst="rect">
            <a:avLst/>
          </a:prstGeom>
          <a:noFill/>
          <a:ln/>
        </p:spPr>
        <p:txBody>
          <a:bodyPr wrap="square" lIns="0" tIns="0" rIns="0" bIns="0" rtlCol="0" anchor="ctr"/>
          <a:lstStyle/>
          <a:p>
            <a:pPr marL="0" indent="0">
              <a:buNone/>
            </a:pPr>
            <a:r>
              <a:rPr lang="en-US" sz="2400" b="1" dirty="0">
                <a:solidFill>
                  <a:srgbClr val="06C167"/>
                </a:solidFill>
                <a:latin typeface="Cambria" pitchFamily="34" charset="0"/>
                <a:ea typeface="Cambria" pitchFamily="34" charset="-122"/>
                <a:cs typeface="Cambria" pitchFamily="34" charset="-120"/>
              </a:rPr>
              <a:t>56,7</a:t>
            </a:r>
            <a:endParaRPr lang="en-US" sz="2400" dirty="0"/>
          </a:p>
        </p:txBody>
      </p:sp>
      <p:sp>
        <p:nvSpPr>
          <p:cNvPr id="7" name="Text 4"/>
          <p:cNvSpPr txBox="1"/>
          <p:nvPr/>
        </p:nvSpPr>
        <p:spPr>
          <a:xfrm>
            <a:off x="8686800" y="2331720"/>
            <a:ext cx="2788920" cy="320040"/>
          </a:xfrm>
          <a:prstGeom prst="rect">
            <a:avLst/>
          </a:prstGeom>
          <a:noFill/>
          <a:ln/>
        </p:spPr>
        <p:txBody>
          <a:bodyPr wrap="square" lIns="0" tIns="0" rIns="0" bIns="0" rtlCol="0" anchor="ctr"/>
          <a:lstStyle/>
          <a:p>
            <a:pPr marL="0" indent="0">
              <a:buNone/>
            </a:pPr>
            <a:r>
              <a:rPr lang="en-US" sz="1050" dirty="0">
                <a:solidFill>
                  <a:schemeClr val="bg1"/>
                </a:solidFill>
              </a:rPr>
              <a:t>Average (minutes)</a:t>
            </a:r>
          </a:p>
        </p:txBody>
      </p:sp>
      <p:sp>
        <p:nvSpPr>
          <p:cNvPr id="8" name="Shape 5"/>
          <p:cNvSpPr/>
          <p:nvPr/>
        </p:nvSpPr>
        <p:spPr>
          <a:xfrm>
            <a:off x="8503920" y="2971800"/>
            <a:ext cx="3154680" cy="1188720"/>
          </a:xfrm>
          <a:prstGeom prst="roundRect">
            <a:avLst>
              <a:gd name="adj" fmla="val 5385"/>
            </a:avLst>
          </a:prstGeom>
          <a:solidFill>
            <a:srgbClr val="161616"/>
          </a:solidFill>
          <a:ln>
            <a:solidFill>
              <a:srgbClr val="00B050"/>
            </a:solidFill>
          </a:ln>
        </p:spPr>
      </p:sp>
      <p:sp>
        <p:nvSpPr>
          <p:cNvPr id="9" name="Text 6"/>
          <p:cNvSpPr txBox="1"/>
          <p:nvPr/>
        </p:nvSpPr>
        <p:spPr>
          <a:xfrm>
            <a:off x="8686800" y="3099816"/>
            <a:ext cx="2788920" cy="594360"/>
          </a:xfrm>
          <a:prstGeom prst="rect">
            <a:avLst/>
          </a:prstGeom>
          <a:noFill/>
          <a:ln/>
        </p:spPr>
        <p:txBody>
          <a:bodyPr wrap="square" lIns="0" tIns="0" rIns="0" bIns="0" rtlCol="0" anchor="ctr"/>
          <a:lstStyle/>
          <a:p>
            <a:pPr marL="0" indent="0">
              <a:buNone/>
            </a:pPr>
            <a:r>
              <a:rPr lang="en-US" sz="2400" b="1" dirty="0">
                <a:solidFill>
                  <a:srgbClr val="06C167"/>
                </a:solidFill>
                <a:latin typeface="Cambria" pitchFamily="34" charset="0"/>
                <a:ea typeface="Cambria" pitchFamily="34" charset="-122"/>
                <a:cs typeface="Cambria" pitchFamily="34" charset="-120"/>
              </a:rPr>
              <a:t>55,5</a:t>
            </a:r>
            <a:endParaRPr lang="en-US" sz="2400" dirty="0"/>
          </a:p>
        </p:txBody>
      </p:sp>
      <p:sp>
        <p:nvSpPr>
          <p:cNvPr id="10" name="Text 7"/>
          <p:cNvSpPr txBox="1"/>
          <p:nvPr/>
        </p:nvSpPr>
        <p:spPr>
          <a:xfrm>
            <a:off x="8686800" y="3749040"/>
            <a:ext cx="2788920" cy="320040"/>
          </a:xfrm>
          <a:prstGeom prst="rect">
            <a:avLst/>
          </a:prstGeom>
          <a:noFill/>
          <a:ln/>
        </p:spPr>
        <p:txBody>
          <a:bodyPr wrap="square" lIns="0" tIns="0" rIns="0" bIns="0" rtlCol="0" anchor="ctr"/>
          <a:lstStyle/>
          <a:p>
            <a:pPr marL="0" indent="0">
              <a:buNone/>
            </a:pPr>
            <a:r>
              <a:rPr lang="en-US" sz="1050" dirty="0">
                <a:solidFill>
                  <a:schemeClr val="bg1"/>
                </a:solidFill>
                <a:latin typeface="Calibri" pitchFamily="34" charset="0"/>
                <a:ea typeface="Calibri" pitchFamily="34" charset="-122"/>
                <a:cs typeface="Calibri" pitchFamily="34" charset="-120"/>
              </a:rPr>
              <a:t>Median (minutes)</a:t>
            </a:r>
            <a:endParaRPr lang="en-US" sz="1050" dirty="0">
              <a:solidFill>
                <a:schemeClr val="bg1"/>
              </a:solidFill>
            </a:endParaRPr>
          </a:p>
        </p:txBody>
      </p:sp>
      <p:sp>
        <p:nvSpPr>
          <p:cNvPr id="11" name="Shape 8"/>
          <p:cNvSpPr/>
          <p:nvPr/>
        </p:nvSpPr>
        <p:spPr>
          <a:xfrm>
            <a:off x="8503920" y="4389120"/>
            <a:ext cx="3154680" cy="1188720"/>
          </a:xfrm>
          <a:prstGeom prst="roundRect">
            <a:avLst>
              <a:gd name="adj" fmla="val 5385"/>
            </a:avLst>
          </a:prstGeom>
          <a:solidFill>
            <a:srgbClr val="161616"/>
          </a:solidFill>
          <a:ln>
            <a:solidFill>
              <a:srgbClr val="00B050"/>
            </a:solidFill>
          </a:ln>
        </p:spPr>
      </p:sp>
      <p:sp>
        <p:nvSpPr>
          <p:cNvPr id="12" name="Text 9"/>
          <p:cNvSpPr txBox="1"/>
          <p:nvPr/>
        </p:nvSpPr>
        <p:spPr>
          <a:xfrm>
            <a:off x="8686800" y="4517136"/>
            <a:ext cx="2788920" cy="594360"/>
          </a:xfrm>
          <a:prstGeom prst="rect">
            <a:avLst/>
          </a:prstGeom>
          <a:noFill/>
          <a:ln/>
        </p:spPr>
        <p:txBody>
          <a:bodyPr wrap="square" lIns="0" tIns="0" rIns="0" bIns="0" rtlCol="0" anchor="ctr"/>
          <a:lstStyle/>
          <a:p>
            <a:pPr marL="0" indent="0">
              <a:buNone/>
            </a:pPr>
            <a:r>
              <a:rPr lang="en-US" sz="2400" b="1" dirty="0">
                <a:solidFill>
                  <a:srgbClr val="06C167"/>
                </a:solidFill>
                <a:latin typeface="Cambria" pitchFamily="34" charset="0"/>
                <a:ea typeface="Cambria" pitchFamily="34" charset="-122"/>
                <a:cs typeface="Cambria" pitchFamily="34" charset="-120"/>
              </a:rPr>
              <a:t>0,51</a:t>
            </a:r>
            <a:endParaRPr lang="en-US" sz="2400" dirty="0"/>
          </a:p>
        </p:txBody>
      </p:sp>
      <p:sp>
        <p:nvSpPr>
          <p:cNvPr id="13" name="Text 10"/>
          <p:cNvSpPr txBox="1"/>
          <p:nvPr/>
        </p:nvSpPr>
        <p:spPr>
          <a:xfrm>
            <a:off x="8686800" y="5166360"/>
            <a:ext cx="2788920" cy="320040"/>
          </a:xfrm>
          <a:prstGeom prst="rect">
            <a:avLst/>
          </a:prstGeom>
          <a:noFill/>
          <a:ln/>
        </p:spPr>
        <p:txBody>
          <a:bodyPr wrap="square" lIns="0" tIns="0" rIns="0" bIns="0" rtlCol="0" anchor="ctr"/>
          <a:lstStyle/>
          <a:p>
            <a:r>
              <a:rPr lang="en-ID" sz="1050" dirty="0">
                <a:solidFill>
                  <a:schemeClr val="bg1"/>
                </a:solidFill>
              </a:rPr>
              <a:t>Skewness (right-skewed), a small number of orders took much longer than average</a:t>
            </a:r>
            <a:endParaRPr lang="en-US" sz="1050" dirty="0">
              <a:solidFill>
                <a:schemeClr val="bg1"/>
              </a:solidFill>
            </a:endParaRPr>
          </a:p>
        </p:txBody>
      </p:sp>
      <p:sp>
        <p:nvSpPr>
          <p:cNvPr id="15" name="Text 12"/>
          <p:cNvSpPr txBox="1"/>
          <p:nvPr/>
        </p:nvSpPr>
        <p:spPr>
          <a:xfrm>
            <a:off x="11185855" y="6473952"/>
            <a:ext cx="457200" cy="274320"/>
          </a:xfrm>
          <a:prstGeom prst="rect">
            <a:avLst/>
          </a:prstGeom>
          <a:noFill/>
          <a:ln/>
        </p:spPr>
        <p:txBody>
          <a:bodyPr wrap="square" lIns="0" tIns="0" rIns="0" bIns="0" rtlCol="0" anchor="ctr"/>
          <a:lstStyle/>
          <a:p>
            <a:pPr marL="0" indent="0" algn="r">
              <a:buNone/>
            </a:pPr>
            <a:r>
              <a:rPr lang="en-US" sz="900" dirty="0">
                <a:solidFill>
                  <a:srgbClr val="5C645F"/>
                </a:solidFill>
                <a:latin typeface="Calibri" pitchFamily="34" charset="0"/>
                <a:ea typeface="Calibri" pitchFamily="34" charset="-122"/>
                <a:cs typeface="Calibri" pitchFamily="34" charset="-120"/>
              </a:rPr>
              <a:t>5</a:t>
            </a:r>
            <a:endParaRPr lang="en-US" sz="900" dirty="0"/>
          </a:p>
        </p:txBody>
      </p:sp>
      <p:pic>
        <p:nvPicPr>
          <p:cNvPr id="17" name="Picture 16">
            <a:extLst>
              <a:ext uri="{FF2B5EF4-FFF2-40B4-BE49-F238E27FC236}">
                <a16:creationId xmlns:a16="http://schemas.microsoft.com/office/drawing/2014/main" id="{67CE6B5B-7E2A-A201-5944-99E1FA290BDE}"/>
              </a:ext>
            </a:extLst>
          </p:cNvPr>
          <p:cNvPicPr>
            <a:picLocks noChangeAspect="1"/>
          </p:cNvPicPr>
          <p:nvPr/>
        </p:nvPicPr>
        <p:blipFill>
          <a:blip r:embed="rId3"/>
          <a:stretch>
            <a:fillRect/>
          </a:stretch>
        </p:blipFill>
        <p:spPr>
          <a:xfrm>
            <a:off x="533400" y="1682496"/>
            <a:ext cx="7640900" cy="376490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0000"/>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92608"/>
          </a:xfrm>
          <a:prstGeom prst="rect">
            <a:avLst/>
          </a:prstGeom>
          <a:noFill/>
          <a:ln/>
        </p:spPr>
        <p:txBody>
          <a:bodyPr wrap="square" lIns="0" tIns="0" rIns="0" bIns="0" rtlCol="0" anchor="ctr"/>
          <a:lstStyle/>
          <a:p>
            <a:pPr marL="0" indent="0">
              <a:buNone/>
            </a:pPr>
            <a:r>
              <a:rPr lang="en-US" sz="1200" b="1" kern="0" spc="200" dirty="0">
                <a:solidFill>
                  <a:srgbClr val="06C167"/>
                </a:solidFill>
                <a:latin typeface="Calibri" pitchFamily="34" charset="0"/>
                <a:ea typeface="Calibri" pitchFamily="34" charset="-122"/>
                <a:cs typeface="Calibri" pitchFamily="34" charset="-120"/>
              </a:rPr>
              <a:t>DATA EXPLORATION</a:t>
            </a:r>
            <a:endParaRPr lang="en-US" sz="1200" dirty="0"/>
          </a:p>
        </p:txBody>
      </p:sp>
      <p:sp>
        <p:nvSpPr>
          <p:cNvPr id="3" name="Text 1"/>
          <p:cNvSpPr txBox="1"/>
          <p:nvPr/>
        </p:nvSpPr>
        <p:spPr>
          <a:xfrm>
            <a:off x="548640" y="658368"/>
            <a:ext cx="10789920" cy="822960"/>
          </a:xfrm>
          <a:prstGeom prst="rect">
            <a:avLst/>
          </a:prstGeom>
          <a:noFill/>
          <a:ln/>
        </p:spPr>
        <p:txBody>
          <a:bodyPr wrap="square" lIns="0" tIns="0" rIns="0" bIns="0" rtlCol="0" anchor="ctr"/>
          <a:lstStyle/>
          <a:p>
            <a:pPr marL="0" indent="0">
              <a:buNone/>
            </a:pPr>
            <a:r>
              <a:rPr lang="en-US" sz="2900" b="1" dirty="0">
                <a:solidFill>
                  <a:srgbClr val="FFFFFF"/>
                </a:solidFill>
                <a:latin typeface="Cambria" pitchFamily="34" charset="0"/>
                <a:ea typeface="Cambria" pitchFamily="34" charset="-122"/>
                <a:cs typeface="Cambria" pitchFamily="34" charset="-120"/>
              </a:rPr>
              <a:t>Weather &amp; Traffic Slow Down Deliveries</a:t>
            </a:r>
            <a:endParaRPr lang="en-US" sz="2900" dirty="0"/>
          </a:p>
        </p:txBody>
      </p:sp>
      <p:sp>
        <p:nvSpPr>
          <p:cNvPr id="11" name="Shape 8"/>
          <p:cNvSpPr/>
          <p:nvPr/>
        </p:nvSpPr>
        <p:spPr>
          <a:xfrm>
            <a:off x="7041813" y="2589245"/>
            <a:ext cx="4160520" cy="1777482"/>
          </a:xfrm>
          <a:prstGeom prst="roundRect">
            <a:avLst>
              <a:gd name="adj" fmla="val 5385"/>
            </a:avLst>
          </a:prstGeom>
          <a:solidFill>
            <a:srgbClr val="161616"/>
          </a:solidFill>
          <a:ln>
            <a:solidFill>
              <a:srgbClr val="00B050"/>
            </a:solidFill>
          </a:ln>
        </p:spPr>
      </p:sp>
      <p:sp>
        <p:nvSpPr>
          <p:cNvPr id="12" name="Text 9"/>
          <p:cNvSpPr txBox="1"/>
          <p:nvPr/>
        </p:nvSpPr>
        <p:spPr>
          <a:xfrm>
            <a:off x="7270413" y="2692908"/>
            <a:ext cx="3703320" cy="320040"/>
          </a:xfrm>
          <a:prstGeom prst="rect">
            <a:avLst/>
          </a:prstGeom>
          <a:noFill/>
          <a:ln/>
        </p:spPr>
        <p:txBody>
          <a:bodyPr wrap="square" lIns="0" tIns="0" rIns="0" bIns="0" rtlCol="0" anchor="ctr"/>
          <a:lstStyle/>
          <a:p>
            <a:pPr marL="0" indent="0">
              <a:buNone/>
            </a:pPr>
            <a:r>
              <a:rPr lang="en-US" sz="1400" b="1" dirty="0">
                <a:solidFill>
                  <a:srgbClr val="06C167"/>
                </a:solidFill>
                <a:latin typeface="Calibri" pitchFamily="34" charset="0"/>
                <a:ea typeface="Calibri" pitchFamily="34" charset="-122"/>
                <a:cs typeface="Calibri" pitchFamily="34" charset="-120"/>
              </a:rPr>
              <a:t>Snowy weather affects delivery time the most</a:t>
            </a:r>
            <a:endParaRPr lang="en-US" sz="1400" dirty="0"/>
          </a:p>
        </p:txBody>
      </p:sp>
      <p:sp>
        <p:nvSpPr>
          <p:cNvPr id="13" name="Text 10"/>
          <p:cNvSpPr txBox="1"/>
          <p:nvPr/>
        </p:nvSpPr>
        <p:spPr>
          <a:xfrm>
            <a:off x="7270413" y="3288105"/>
            <a:ext cx="3703320" cy="685800"/>
          </a:xfrm>
          <a:prstGeom prst="rect">
            <a:avLst/>
          </a:prstGeom>
          <a:noFill/>
          <a:ln/>
        </p:spPr>
        <p:txBody>
          <a:bodyPr wrap="square" lIns="0" tIns="0" rIns="0" bIns="0" rtlCol="0" anchor="ctr"/>
          <a:lstStyle/>
          <a:p>
            <a:pPr marL="0" indent="0" algn="just">
              <a:lnSpc>
                <a:spcPct val="120000"/>
              </a:lnSpc>
              <a:buNone/>
            </a:pPr>
            <a:r>
              <a:rPr lang="en-US" sz="1400" dirty="0">
                <a:solidFill>
                  <a:schemeClr val="bg1"/>
                </a:solidFill>
                <a:latin typeface="Calibri" pitchFamily="34" charset="0"/>
                <a:ea typeface="Calibri" pitchFamily="34" charset="-122"/>
                <a:cs typeface="Calibri" pitchFamily="34" charset="-120"/>
              </a:rPr>
              <a:t>Snowy weather conditions consistently have the longest delivery times, with the longest delivery occurring during rainy weather and heavy traffic conditions,</a:t>
            </a:r>
            <a:endParaRPr lang="en-US" sz="1400" dirty="0">
              <a:solidFill>
                <a:schemeClr val="bg1"/>
              </a:solidFill>
            </a:endParaRPr>
          </a:p>
        </p:txBody>
      </p:sp>
      <p:sp>
        <p:nvSpPr>
          <p:cNvPr id="15" name="Text 12"/>
          <p:cNvSpPr txBox="1"/>
          <p:nvPr/>
        </p:nvSpPr>
        <p:spPr>
          <a:xfrm>
            <a:off x="11185855" y="6473952"/>
            <a:ext cx="457200" cy="274320"/>
          </a:xfrm>
          <a:prstGeom prst="rect">
            <a:avLst/>
          </a:prstGeom>
          <a:noFill/>
          <a:ln/>
        </p:spPr>
        <p:txBody>
          <a:bodyPr wrap="square" lIns="0" tIns="0" rIns="0" bIns="0" rtlCol="0" anchor="ctr"/>
          <a:lstStyle/>
          <a:p>
            <a:pPr marL="0" indent="0" algn="r">
              <a:buNone/>
            </a:pPr>
            <a:r>
              <a:rPr lang="en-US" sz="900" dirty="0">
                <a:solidFill>
                  <a:srgbClr val="5C645F"/>
                </a:solidFill>
                <a:latin typeface="Calibri" pitchFamily="34" charset="0"/>
                <a:ea typeface="Calibri" pitchFamily="34" charset="-122"/>
                <a:cs typeface="Calibri" pitchFamily="34" charset="-120"/>
              </a:rPr>
              <a:t>6</a:t>
            </a:r>
            <a:endParaRPr lang="en-US" sz="900" dirty="0"/>
          </a:p>
        </p:txBody>
      </p:sp>
      <p:pic>
        <p:nvPicPr>
          <p:cNvPr id="5" name="Picture 4">
            <a:extLst>
              <a:ext uri="{FF2B5EF4-FFF2-40B4-BE49-F238E27FC236}">
                <a16:creationId xmlns:a16="http://schemas.microsoft.com/office/drawing/2014/main" id="{459E4EC2-74CF-BF79-68DA-E832F09E9F2C}"/>
              </a:ext>
            </a:extLst>
          </p:cNvPr>
          <p:cNvPicPr>
            <a:picLocks noChangeAspect="1"/>
          </p:cNvPicPr>
          <p:nvPr/>
        </p:nvPicPr>
        <p:blipFill>
          <a:blip r:embed="rId3"/>
          <a:stretch>
            <a:fillRect/>
          </a:stretch>
        </p:blipFill>
        <p:spPr>
          <a:xfrm>
            <a:off x="548640" y="1698018"/>
            <a:ext cx="6035563" cy="436663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99C665FD-3A6C-3E25-30E8-8255F432396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0381B9A-1D8F-EAA7-1518-0231CC8751F2}"/>
              </a:ext>
            </a:extLst>
          </p:cNvPr>
          <p:cNvSpPr txBox="1"/>
          <p:nvPr/>
        </p:nvSpPr>
        <p:spPr>
          <a:xfrm>
            <a:off x="548640" y="384048"/>
            <a:ext cx="9144000" cy="292608"/>
          </a:xfrm>
          <a:prstGeom prst="rect">
            <a:avLst/>
          </a:prstGeom>
          <a:noFill/>
          <a:ln/>
        </p:spPr>
        <p:txBody>
          <a:bodyPr wrap="square" lIns="0" tIns="0" rIns="0" bIns="0" rtlCol="0" anchor="ctr"/>
          <a:lstStyle/>
          <a:p>
            <a:pPr marL="0" indent="0">
              <a:buNone/>
            </a:pPr>
            <a:r>
              <a:rPr lang="en-US" sz="1200" b="1" kern="0" spc="200" dirty="0">
                <a:solidFill>
                  <a:srgbClr val="06C167"/>
                </a:solidFill>
                <a:latin typeface="Calibri" pitchFamily="34" charset="0"/>
                <a:ea typeface="Calibri" pitchFamily="34" charset="-122"/>
                <a:cs typeface="Calibri" pitchFamily="34" charset="-120"/>
              </a:rPr>
              <a:t>DATA EXPLORATION</a:t>
            </a:r>
            <a:endParaRPr lang="en-US" sz="1200" dirty="0"/>
          </a:p>
        </p:txBody>
      </p:sp>
      <p:sp>
        <p:nvSpPr>
          <p:cNvPr id="3" name="Text 1">
            <a:extLst>
              <a:ext uri="{FF2B5EF4-FFF2-40B4-BE49-F238E27FC236}">
                <a16:creationId xmlns:a16="http://schemas.microsoft.com/office/drawing/2014/main" id="{DFC38186-1D22-6BEF-4504-F66A0810CD0A}"/>
              </a:ext>
            </a:extLst>
          </p:cNvPr>
          <p:cNvSpPr txBox="1"/>
          <p:nvPr/>
        </p:nvSpPr>
        <p:spPr>
          <a:xfrm>
            <a:off x="548640" y="658368"/>
            <a:ext cx="10789920" cy="822960"/>
          </a:xfrm>
          <a:prstGeom prst="rect">
            <a:avLst/>
          </a:prstGeom>
          <a:noFill/>
          <a:ln/>
        </p:spPr>
        <p:txBody>
          <a:bodyPr wrap="square" lIns="0" tIns="0" rIns="0" bIns="0" rtlCol="0" anchor="ctr"/>
          <a:lstStyle/>
          <a:p>
            <a:pPr marL="0" indent="0">
              <a:buNone/>
            </a:pPr>
            <a:r>
              <a:rPr lang="en-US" sz="2900" b="1" dirty="0">
                <a:solidFill>
                  <a:schemeClr val="bg1"/>
                </a:solidFill>
                <a:latin typeface="Cambria" panose="02040503050406030204" pitchFamily="18" charset="0"/>
                <a:ea typeface="Cambria" panose="02040503050406030204" pitchFamily="18" charset="0"/>
              </a:rPr>
              <a:t>Correlation Between Numerical Metrics</a:t>
            </a:r>
          </a:p>
        </p:txBody>
      </p:sp>
      <p:sp>
        <p:nvSpPr>
          <p:cNvPr id="14" name="Text 11">
            <a:extLst>
              <a:ext uri="{FF2B5EF4-FFF2-40B4-BE49-F238E27FC236}">
                <a16:creationId xmlns:a16="http://schemas.microsoft.com/office/drawing/2014/main" id="{65F196A7-B3DC-D0B2-C5A8-6DAB6570678B}"/>
              </a:ext>
            </a:extLst>
          </p:cNvPr>
          <p:cNvSpPr txBox="1"/>
          <p:nvPr/>
        </p:nvSpPr>
        <p:spPr>
          <a:xfrm>
            <a:off x="548640" y="6473952"/>
            <a:ext cx="7315200" cy="274320"/>
          </a:xfrm>
          <a:prstGeom prst="rect">
            <a:avLst/>
          </a:prstGeom>
          <a:noFill/>
          <a:ln/>
        </p:spPr>
        <p:txBody>
          <a:bodyPr wrap="square" lIns="0" tIns="0" rIns="0" bIns="0" rtlCol="0" anchor="ctr"/>
          <a:lstStyle/>
          <a:p>
            <a:pPr marL="0" indent="0">
              <a:buNone/>
            </a:pPr>
            <a:endParaRPr lang="en-US" sz="900" dirty="0"/>
          </a:p>
        </p:txBody>
      </p:sp>
      <p:sp>
        <p:nvSpPr>
          <p:cNvPr id="15" name="Text 12">
            <a:extLst>
              <a:ext uri="{FF2B5EF4-FFF2-40B4-BE49-F238E27FC236}">
                <a16:creationId xmlns:a16="http://schemas.microsoft.com/office/drawing/2014/main" id="{8DDACDEA-10EE-4CBA-2620-4ADAD3516C1E}"/>
              </a:ext>
            </a:extLst>
          </p:cNvPr>
          <p:cNvSpPr txBox="1"/>
          <p:nvPr/>
        </p:nvSpPr>
        <p:spPr>
          <a:xfrm>
            <a:off x="11185855" y="6473952"/>
            <a:ext cx="457200" cy="274320"/>
          </a:xfrm>
          <a:prstGeom prst="rect">
            <a:avLst/>
          </a:prstGeom>
          <a:noFill/>
          <a:ln/>
        </p:spPr>
        <p:txBody>
          <a:bodyPr wrap="square" lIns="0" tIns="0" rIns="0" bIns="0" rtlCol="0" anchor="ctr"/>
          <a:lstStyle/>
          <a:p>
            <a:pPr marL="0" indent="0" algn="r">
              <a:buNone/>
            </a:pPr>
            <a:r>
              <a:rPr lang="en-US" sz="900" dirty="0">
                <a:solidFill>
                  <a:srgbClr val="5C645F"/>
                </a:solidFill>
                <a:latin typeface="Calibri" pitchFamily="34" charset="0"/>
                <a:ea typeface="Calibri" pitchFamily="34" charset="-122"/>
                <a:cs typeface="Calibri" pitchFamily="34" charset="-120"/>
              </a:rPr>
              <a:t>6</a:t>
            </a:r>
            <a:endParaRPr lang="en-US" sz="900" dirty="0"/>
          </a:p>
        </p:txBody>
      </p:sp>
      <p:sp>
        <p:nvSpPr>
          <p:cNvPr id="7" name="Shape 8">
            <a:extLst>
              <a:ext uri="{FF2B5EF4-FFF2-40B4-BE49-F238E27FC236}">
                <a16:creationId xmlns:a16="http://schemas.microsoft.com/office/drawing/2014/main" id="{6DBF97DB-D311-1C04-8E48-A22BD23CB791}"/>
              </a:ext>
            </a:extLst>
          </p:cNvPr>
          <p:cNvSpPr/>
          <p:nvPr/>
        </p:nvSpPr>
        <p:spPr>
          <a:xfrm>
            <a:off x="5802395" y="2192694"/>
            <a:ext cx="6097554" cy="2118049"/>
          </a:xfrm>
          <a:prstGeom prst="roundRect">
            <a:avLst>
              <a:gd name="adj" fmla="val 5385"/>
            </a:avLst>
          </a:prstGeom>
          <a:solidFill>
            <a:srgbClr val="161616"/>
          </a:solidFill>
          <a:ln>
            <a:solidFill>
              <a:srgbClr val="00B050"/>
            </a:solidFill>
          </a:ln>
        </p:spPr>
      </p:sp>
      <p:sp>
        <p:nvSpPr>
          <p:cNvPr id="9" name="TextBox 8">
            <a:extLst>
              <a:ext uri="{FF2B5EF4-FFF2-40B4-BE49-F238E27FC236}">
                <a16:creationId xmlns:a16="http://schemas.microsoft.com/office/drawing/2014/main" id="{B4F03D04-F4D1-284A-6CCD-9E0133FE34BF}"/>
              </a:ext>
            </a:extLst>
          </p:cNvPr>
          <p:cNvSpPr txBox="1"/>
          <p:nvPr/>
        </p:nvSpPr>
        <p:spPr>
          <a:xfrm>
            <a:off x="5891272" y="2405643"/>
            <a:ext cx="5589528" cy="2154436"/>
          </a:xfrm>
          <a:prstGeom prst="rect">
            <a:avLst/>
          </a:prstGeom>
          <a:noFill/>
        </p:spPr>
        <p:txBody>
          <a:bodyPr wrap="square">
            <a:spAutoFit/>
          </a:bodyPr>
          <a:lstStyle/>
          <a:p>
            <a:pPr indent="0" algn="just">
              <a:buNone/>
            </a:pPr>
            <a:r>
              <a:rPr lang="en-US" sz="1400" b="1" i="0" dirty="0">
                <a:solidFill>
                  <a:srgbClr val="00B050"/>
                </a:solidFill>
                <a:effectLst/>
                <a:latin typeface="+mn-lt"/>
              </a:rPr>
              <a:t>Distance is the dominant predictor of order delivery time</a:t>
            </a:r>
            <a:endParaRPr lang="en-ID" sz="1400" b="1" i="0" dirty="0">
              <a:solidFill>
                <a:srgbClr val="00B050"/>
              </a:solidFill>
              <a:effectLst/>
              <a:latin typeface="+mn-lt"/>
            </a:endParaRPr>
          </a:p>
          <a:p>
            <a:pPr indent="0" algn="just">
              <a:buNone/>
            </a:pPr>
            <a:endParaRPr lang="en-ID" sz="1300" dirty="0">
              <a:solidFill>
                <a:schemeClr val="bg1"/>
              </a:solidFill>
            </a:endParaRPr>
          </a:p>
          <a:p>
            <a:pPr indent="0" algn="just">
              <a:buNone/>
            </a:pPr>
            <a:r>
              <a:rPr lang="en-US" sz="1400" dirty="0">
                <a:solidFill>
                  <a:schemeClr val="bg1"/>
                </a:solidFill>
              </a:rPr>
              <a:t>This is followed by the order preparation time at the restaurant/eatery itself, which has a moderate effect (r = 0.31). The courier’s experience has virtually no effect, with a correlation level of only (r = −0.09). These three predictors are also not correlated with one another, so the interpretation of each one’s effect on delivery time can be considered independent.</a:t>
            </a:r>
            <a:br>
              <a:rPr lang="en-ID" sz="1400" b="0" i="0" dirty="0">
                <a:solidFill>
                  <a:schemeClr val="tx1"/>
                </a:solidFill>
                <a:effectLst/>
                <a:latin typeface="+mn-lt"/>
              </a:rPr>
            </a:br>
            <a:endParaRPr lang="en-ID" sz="1400" b="0" i="0" dirty="0">
              <a:solidFill>
                <a:schemeClr val="tx1"/>
              </a:solidFill>
              <a:effectLst/>
              <a:latin typeface="+mn-lt"/>
            </a:endParaRPr>
          </a:p>
          <a:p>
            <a:pPr>
              <a:buNone/>
            </a:pPr>
            <a:br>
              <a:rPr lang="en-ID" sz="1200" dirty="0"/>
            </a:br>
            <a:endParaRPr lang="en-ID" sz="1200" dirty="0"/>
          </a:p>
        </p:txBody>
      </p:sp>
      <p:pic>
        <p:nvPicPr>
          <p:cNvPr id="6" name="Picture 5">
            <a:extLst>
              <a:ext uri="{FF2B5EF4-FFF2-40B4-BE49-F238E27FC236}">
                <a16:creationId xmlns:a16="http://schemas.microsoft.com/office/drawing/2014/main" id="{C9EA7C4B-B4D6-6D86-0D86-718D45357B8E}"/>
              </a:ext>
            </a:extLst>
          </p:cNvPr>
          <p:cNvPicPr>
            <a:picLocks noChangeAspect="1"/>
          </p:cNvPicPr>
          <p:nvPr/>
        </p:nvPicPr>
        <p:blipFill>
          <a:blip r:embed="rId3"/>
          <a:stretch>
            <a:fillRect/>
          </a:stretch>
        </p:blipFill>
        <p:spPr>
          <a:xfrm>
            <a:off x="548640" y="1624753"/>
            <a:ext cx="5062984" cy="3974311"/>
          </a:xfrm>
          <a:prstGeom prst="rect">
            <a:avLst/>
          </a:prstGeom>
        </p:spPr>
      </p:pic>
    </p:spTree>
    <p:extLst>
      <p:ext uri="{BB962C8B-B14F-4D97-AF65-F5344CB8AC3E}">
        <p14:creationId xmlns:p14="http://schemas.microsoft.com/office/powerpoint/2010/main" val="19573156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000000"/>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92608"/>
          </a:xfrm>
          <a:prstGeom prst="rect">
            <a:avLst/>
          </a:prstGeom>
          <a:noFill/>
          <a:ln/>
        </p:spPr>
        <p:txBody>
          <a:bodyPr wrap="square" lIns="0" tIns="0" rIns="0" bIns="0" rtlCol="0" anchor="ctr"/>
          <a:lstStyle/>
          <a:p>
            <a:pPr marL="0" indent="0">
              <a:buNone/>
            </a:pPr>
            <a:r>
              <a:rPr lang="en-US" sz="1200" b="1" kern="0" spc="200" dirty="0">
                <a:solidFill>
                  <a:srgbClr val="06C167"/>
                </a:solidFill>
                <a:latin typeface="Calibri" pitchFamily="34" charset="0"/>
                <a:ea typeface="Calibri" pitchFamily="34" charset="-122"/>
                <a:cs typeface="Calibri" pitchFamily="34" charset="-120"/>
              </a:rPr>
              <a:t>DATA EXPLORATION</a:t>
            </a:r>
            <a:endParaRPr lang="en-US" sz="1200" dirty="0"/>
          </a:p>
        </p:txBody>
      </p:sp>
      <p:sp>
        <p:nvSpPr>
          <p:cNvPr id="3" name="Text 1"/>
          <p:cNvSpPr txBox="1"/>
          <p:nvPr/>
        </p:nvSpPr>
        <p:spPr>
          <a:xfrm>
            <a:off x="548640" y="658368"/>
            <a:ext cx="10789920" cy="822960"/>
          </a:xfrm>
          <a:prstGeom prst="rect">
            <a:avLst/>
          </a:prstGeom>
          <a:noFill/>
          <a:ln/>
        </p:spPr>
        <p:txBody>
          <a:bodyPr wrap="square" lIns="0" tIns="0" rIns="0" bIns="0" rtlCol="0" anchor="ctr"/>
          <a:lstStyle/>
          <a:p>
            <a:pPr marL="0" indent="0">
              <a:buNone/>
            </a:pPr>
            <a:r>
              <a:rPr lang="en-US" sz="2900" b="1" dirty="0">
                <a:solidFill>
                  <a:srgbClr val="FFFFFF"/>
                </a:solidFill>
                <a:latin typeface="Cambria" pitchFamily="34" charset="0"/>
                <a:ea typeface="Cambria" pitchFamily="34" charset="-122"/>
                <a:cs typeface="Cambria" pitchFamily="34" charset="-120"/>
              </a:rPr>
              <a:t>Combination of Poor Conditions = Worst Delay</a:t>
            </a:r>
            <a:endParaRPr lang="en-US" sz="2900" dirty="0"/>
          </a:p>
        </p:txBody>
      </p:sp>
      <p:sp>
        <p:nvSpPr>
          <p:cNvPr id="4" name="Shape 2"/>
          <p:cNvSpPr/>
          <p:nvPr/>
        </p:nvSpPr>
        <p:spPr>
          <a:xfrm>
            <a:off x="548640" y="1737360"/>
            <a:ext cx="4480560" cy="2834640"/>
          </a:xfrm>
          <a:prstGeom prst="roundRect">
            <a:avLst>
              <a:gd name="adj" fmla="val 2903"/>
            </a:avLst>
          </a:prstGeom>
          <a:solidFill>
            <a:srgbClr val="0D2A1C"/>
          </a:solidFill>
          <a:ln w="12700">
            <a:solidFill>
              <a:srgbClr val="06C167"/>
            </a:solidFill>
            <a:prstDash val="solid"/>
          </a:ln>
        </p:spPr>
      </p:sp>
      <p:sp>
        <p:nvSpPr>
          <p:cNvPr id="5" name="Text 3"/>
          <p:cNvSpPr txBox="1"/>
          <p:nvPr/>
        </p:nvSpPr>
        <p:spPr>
          <a:xfrm>
            <a:off x="548640" y="1965960"/>
            <a:ext cx="4480560" cy="320040"/>
          </a:xfrm>
          <a:prstGeom prst="rect">
            <a:avLst/>
          </a:prstGeom>
          <a:noFill/>
          <a:ln/>
        </p:spPr>
        <p:txBody>
          <a:bodyPr wrap="square" lIns="0" tIns="0" rIns="0" bIns="0" rtlCol="0" anchor="ctr"/>
          <a:lstStyle/>
          <a:p>
            <a:pPr marL="0" indent="0" algn="ctr">
              <a:buNone/>
            </a:pPr>
            <a:r>
              <a:rPr lang="en-US" sz="1250" b="1" dirty="0">
                <a:solidFill>
                  <a:srgbClr val="06C167"/>
                </a:solidFill>
                <a:latin typeface="Calibri" pitchFamily="34" charset="0"/>
                <a:ea typeface="Calibri" pitchFamily="34" charset="-122"/>
                <a:cs typeface="Calibri" pitchFamily="34" charset="-120"/>
              </a:rPr>
              <a:t>Best Condition</a:t>
            </a:r>
            <a:endParaRPr lang="en-US" sz="1250" dirty="0"/>
          </a:p>
        </p:txBody>
      </p:sp>
      <p:sp>
        <p:nvSpPr>
          <p:cNvPr id="6" name="Text 4"/>
          <p:cNvSpPr txBox="1"/>
          <p:nvPr/>
        </p:nvSpPr>
        <p:spPr>
          <a:xfrm>
            <a:off x="548640" y="2331720"/>
            <a:ext cx="4480560" cy="1005840"/>
          </a:xfrm>
          <a:prstGeom prst="rect">
            <a:avLst/>
          </a:prstGeom>
          <a:noFill/>
          <a:ln/>
        </p:spPr>
        <p:txBody>
          <a:bodyPr wrap="square" lIns="0" tIns="0" rIns="0" bIns="0" rtlCol="0" anchor="ctr"/>
          <a:lstStyle/>
          <a:p>
            <a:pPr marL="0" indent="0" algn="ctr">
              <a:buNone/>
            </a:pPr>
            <a:r>
              <a:rPr lang="en-US" sz="5600" b="1" dirty="0">
                <a:solidFill>
                  <a:srgbClr val="FFFFFF"/>
                </a:solidFill>
                <a:latin typeface="Cambria" pitchFamily="34" charset="0"/>
                <a:ea typeface="Cambria" pitchFamily="34" charset="-122"/>
                <a:cs typeface="Cambria" pitchFamily="34" charset="-120"/>
              </a:rPr>
              <a:t>49,9</a:t>
            </a:r>
            <a:endParaRPr lang="en-US" sz="5600" dirty="0"/>
          </a:p>
        </p:txBody>
      </p:sp>
      <p:sp>
        <p:nvSpPr>
          <p:cNvPr id="7" name="Text 5"/>
          <p:cNvSpPr txBox="1"/>
          <p:nvPr/>
        </p:nvSpPr>
        <p:spPr>
          <a:xfrm>
            <a:off x="548640" y="3246120"/>
            <a:ext cx="4480560" cy="320040"/>
          </a:xfrm>
          <a:prstGeom prst="rect">
            <a:avLst/>
          </a:prstGeom>
          <a:noFill/>
          <a:ln/>
        </p:spPr>
        <p:txBody>
          <a:bodyPr wrap="square" lIns="0" tIns="0" rIns="0" bIns="0" rtlCol="0" anchor="ctr"/>
          <a:lstStyle/>
          <a:p>
            <a:pPr marL="0" indent="0" algn="ctr">
              <a:buNone/>
            </a:pPr>
            <a:r>
              <a:rPr lang="en-US" sz="1300" dirty="0">
                <a:solidFill>
                  <a:srgbClr val="9AA3A0"/>
                </a:solidFill>
                <a:latin typeface="Calibri" pitchFamily="34" charset="0"/>
                <a:ea typeface="Calibri" pitchFamily="34" charset="-122"/>
                <a:cs typeface="Calibri" pitchFamily="34" charset="-120"/>
              </a:rPr>
              <a:t>minutes</a:t>
            </a:r>
            <a:endParaRPr lang="en-US" sz="1300" dirty="0"/>
          </a:p>
        </p:txBody>
      </p:sp>
      <p:sp>
        <p:nvSpPr>
          <p:cNvPr id="8" name="Text 6"/>
          <p:cNvSpPr txBox="1"/>
          <p:nvPr/>
        </p:nvSpPr>
        <p:spPr>
          <a:xfrm>
            <a:off x="548640" y="3794760"/>
            <a:ext cx="4480560" cy="320040"/>
          </a:xfrm>
          <a:prstGeom prst="rect">
            <a:avLst/>
          </a:prstGeom>
          <a:noFill/>
          <a:ln/>
        </p:spPr>
        <p:txBody>
          <a:bodyPr wrap="square" lIns="0" tIns="0" rIns="0" bIns="0" rtlCol="0" anchor="ctr"/>
          <a:lstStyle/>
          <a:p>
            <a:pPr marL="0" indent="0" algn="ctr">
              <a:buNone/>
            </a:pPr>
            <a:r>
              <a:rPr lang="en-US" sz="1150" i="1" dirty="0">
                <a:solidFill>
                  <a:srgbClr val="8FF0C0"/>
                </a:solidFill>
                <a:latin typeface="Calibri" pitchFamily="34" charset="0"/>
                <a:ea typeface="Calibri" pitchFamily="34" charset="-122"/>
                <a:cs typeface="Calibri" pitchFamily="34" charset="-120"/>
              </a:rPr>
              <a:t>Low Traffic + Clear Weather</a:t>
            </a:r>
            <a:endParaRPr lang="en-US" sz="1150" dirty="0"/>
          </a:p>
        </p:txBody>
      </p:sp>
      <p:sp>
        <p:nvSpPr>
          <p:cNvPr id="9" name="Shape 7"/>
          <p:cNvSpPr/>
          <p:nvPr/>
        </p:nvSpPr>
        <p:spPr>
          <a:xfrm>
            <a:off x="7178040" y="1737360"/>
            <a:ext cx="4480560" cy="2834640"/>
          </a:xfrm>
          <a:prstGeom prst="roundRect">
            <a:avLst>
              <a:gd name="adj" fmla="val 2903"/>
            </a:avLst>
          </a:prstGeom>
          <a:solidFill>
            <a:srgbClr val="161616"/>
          </a:solidFill>
          <a:ln w="12700">
            <a:solidFill>
              <a:srgbClr val="00B050"/>
            </a:solidFill>
            <a:prstDash val="solid"/>
          </a:ln>
        </p:spPr>
      </p:sp>
      <p:sp>
        <p:nvSpPr>
          <p:cNvPr id="10" name="Text 8"/>
          <p:cNvSpPr txBox="1"/>
          <p:nvPr/>
        </p:nvSpPr>
        <p:spPr>
          <a:xfrm>
            <a:off x="7178040" y="1965960"/>
            <a:ext cx="4480560" cy="320040"/>
          </a:xfrm>
          <a:prstGeom prst="rect">
            <a:avLst/>
          </a:prstGeom>
          <a:noFill/>
          <a:ln/>
        </p:spPr>
        <p:txBody>
          <a:bodyPr wrap="square" lIns="0" tIns="0" rIns="0" bIns="0" rtlCol="0" anchor="ctr"/>
          <a:lstStyle/>
          <a:p>
            <a:pPr marL="0" indent="0" algn="ctr">
              <a:buNone/>
            </a:pPr>
            <a:r>
              <a:rPr lang="en-US" sz="1250" b="1" dirty="0">
                <a:solidFill>
                  <a:srgbClr val="9AA3A0"/>
                </a:solidFill>
                <a:latin typeface="Calibri" pitchFamily="34" charset="0"/>
                <a:ea typeface="Calibri" pitchFamily="34" charset="-122"/>
                <a:cs typeface="Calibri" pitchFamily="34" charset="-120"/>
              </a:rPr>
              <a:t>Worst Condition</a:t>
            </a:r>
            <a:endParaRPr lang="en-US" sz="1250" dirty="0"/>
          </a:p>
        </p:txBody>
      </p:sp>
      <p:sp>
        <p:nvSpPr>
          <p:cNvPr id="11" name="Text 9"/>
          <p:cNvSpPr txBox="1"/>
          <p:nvPr/>
        </p:nvSpPr>
        <p:spPr>
          <a:xfrm>
            <a:off x="7178040" y="2331720"/>
            <a:ext cx="4480560" cy="1005840"/>
          </a:xfrm>
          <a:prstGeom prst="rect">
            <a:avLst/>
          </a:prstGeom>
          <a:noFill/>
          <a:ln/>
        </p:spPr>
        <p:txBody>
          <a:bodyPr wrap="square" lIns="0" tIns="0" rIns="0" bIns="0" rtlCol="0" anchor="ctr"/>
          <a:lstStyle/>
          <a:p>
            <a:pPr marL="0" indent="0" algn="ctr">
              <a:buNone/>
            </a:pPr>
            <a:r>
              <a:rPr lang="en-US" sz="5600" b="1" dirty="0">
                <a:solidFill>
                  <a:srgbClr val="FFFFFF"/>
                </a:solidFill>
                <a:latin typeface="Cambria" pitchFamily="34" charset="0"/>
                <a:ea typeface="Cambria" pitchFamily="34" charset="-122"/>
                <a:cs typeface="Cambria" pitchFamily="34" charset="-120"/>
              </a:rPr>
              <a:t>77</a:t>
            </a:r>
            <a:endParaRPr lang="en-US" sz="5600" dirty="0"/>
          </a:p>
        </p:txBody>
      </p:sp>
      <p:sp>
        <p:nvSpPr>
          <p:cNvPr id="12" name="Text 10"/>
          <p:cNvSpPr txBox="1"/>
          <p:nvPr/>
        </p:nvSpPr>
        <p:spPr>
          <a:xfrm>
            <a:off x="7178040" y="3246120"/>
            <a:ext cx="4480560" cy="320040"/>
          </a:xfrm>
          <a:prstGeom prst="rect">
            <a:avLst/>
          </a:prstGeom>
          <a:noFill/>
          <a:ln/>
        </p:spPr>
        <p:txBody>
          <a:bodyPr wrap="square" lIns="0" tIns="0" rIns="0" bIns="0" rtlCol="0" anchor="ctr"/>
          <a:lstStyle/>
          <a:p>
            <a:pPr marL="0" indent="0" algn="ctr">
              <a:buNone/>
            </a:pPr>
            <a:r>
              <a:rPr lang="en-US" sz="1300" dirty="0">
                <a:solidFill>
                  <a:srgbClr val="9AA3A0"/>
                </a:solidFill>
                <a:latin typeface="Calibri" pitchFamily="34" charset="0"/>
                <a:ea typeface="Calibri" pitchFamily="34" charset="-122"/>
                <a:cs typeface="Calibri" pitchFamily="34" charset="-120"/>
              </a:rPr>
              <a:t>minutes</a:t>
            </a:r>
            <a:endParaRPr lang="en-US" sz="1300" dirty="0"/>
          </a:p>
        </p:txBody>
      </p:sp>
      <p:sp>
        <p:nvSpPr>
          <p:cNvPr id="13" name="Text 11"/>
          <p:cNvSpPr txBox="1"/>
          <p:nvPr/>
        </p:nvSpPr>
        <p:spPr>
          <a:xfrm>
            <a:off x="7178040" y="3794760"/>
            <a:ext cx="4480560" cy="320040"/>
          </a:xfrm>
          <a:prstGeom prst="rect">
            <a:avLst/>
          </a:prstGeom>
          <a:noFill/>
          <a:ln/>
        </p:spPr>
        <p:txBody>
          <a:bodyPr wrap="square" lIns="0" tIns="0" rIns="0" bIns="0" rtlCol="0" anchor="ctr"/>
          <a:lstStyle/>
          <a:p>
            <a:pPr marL="0" indent="0" algn="ctr">
              <a:buNone/>
            </a:pPr>
            <a:r>
              <a:rPr lang="en-US" sz="1150" i="1" dirty="0">
                <a:solidFill>
                  <a:srgbClr val="9AA3A0"/>
                </a:solidFill>
                <a:latin typeface="Calibri" pitchFamily="34" charset="0"/>
                <a:ea typeface="Calibri" pitchFamily="34" charset="-122"/>
                <a:cs typeface="Calibri" pitchFamily="34" charset="-120"/>
              </a:rPr>
              <a:t>High Traffic + Rainy Weather</a:t>
            </a:r>
            <a:endParaRPr lang="en-US" sz="1150" dirty="0"/>
          </a:p>
        </p:txBody>
      </p:sp>
      <p:sp>
        <p:nvSpPr>
          <p:cNvPr id="14" name="Shape 12"/>
          <p:cNvSpPr/>
          <p:nvPr/>
        </p:nvSpPr>
        <p:spPr>
          <a:xfrm>
            <a:off x="5257800" y="2606040"/>
            <a:ext cx="1691640" cy="1691640"/>
          </a:xfrm>
          <a:prstGeom prst="ellipse">
            <a:avLst/>
          </a:prstGeom>
          <a:solidFill>
            <a:srgbClr val="000000"/>
          </a:solidFill>
          <a:ln w="31750">
            <a:solidFill>
              <a:srgbClr val="06C167"/>
            </a:solidFill>
            <a:prstDash val="solid"/>
          </a:ln>
        </p:spPr>
      </p:sp>
      <p:sp>
        <p:nvSpPr>
          <p:cNvPr id="15" name="Text 13"/>
          <p:cNvSpPr txBox="1"/>
          <p:nvPr/>
        </p:nvSpPr>
        <p:spPr>
          <a:xfrm>
            <a:off x="5257800" y="2971800"/>
            <a:ext cx="1691640" cy="548640"/>
          </a:xfrm>
          <a:prstGeom prst="rect">
            <a:avLst/>
          </a:prstGeom>
          <a:noFill/>
          <a:ln/>
        </p:spPr>
        <p:txBody>
          <a:bodyPr wrap="square" lIns="0" tIns="0" rIns="0" bIns="0" rtlCol="0" anchor="ctr"/>
          <a:lstStyle/>
          <a:p>
            <a:pPr marL="0" indent="0" algn="ctr">
              <a:buNone/>
            </a:pPr>
            <a:r>
              <a:rPr lang="en-US" sz="2200" b="1" dirty="0">
                <a:solidFill>
                  <a:srgbClr val="06C167"/>
                </a:solidFill>
                <a:latin typeface="Cambria" pitchFamily="34" charset="0"/>
                <a:ea typeface="Cambria" pitchFamily="34" charset="-122"/>
                <a:cs typeface="Cambria" pitchFamily="34" charset="-120"/>
              </a:rPr>
              <a:t>+54%</a:t>
            </a:r>
            <a:endParaRPr lang="en-US" sz="2200" dirty="0"/>
          </a:p>
        </p:txBody>
      </p:sp>
      <p:sp>
        <p:nvSpPr>
          <p:cNvPr id="16" name="Text 14"/>
          <p:cNvSpPr txBox="1"/>
          <p:nvPr/>
        </p:nvSpPr>
        <p:spPr>
          <a:xfrm>
            <a:off x="5257800" y="3429000"/>
            <a:ext cx="1691640" cy="274320"/>
          </a:xfrm>
          <a:prstGeom prst="rect">
            <a:avLst/>
          </a:prstGeom>
          <a:noFill/>
          <a:ln/>
        </p:spPr>
        <p:txBody>
          <a:bodyPr wrap="square" lIns="0" tIns="0" rIns="0" bIns="0" rtlCol="0" anchor="ctr"/>
          <a:lstStyle/>
          <a:p>
            <a:pPr marL="0" indent="0" algn="ctr">
              <a:buNone/>
            </a:pPr>
            <a:r>
              <a:rPr lang="en-US" sz="900" dirty="0">
                <a:solidFill>
                  <a:srgbClr val="9AA3A0"/>
                </a:solidFill>
                <a:latin typeface="Calibri" pitchFamily="34" charset="0"/>
                <a:ea typeface="Calibri" pitchFamily="34" charset="-122"/>
                <a:cs typeface="Calibri" pitchFamily="34" charset="-120"/>
              </a:rPr>
              <a:t>slower</a:t>
            </a:r>
            <a:endParaRPr lang="en-US" sz="900" dirty="0"/>
          </a:p>
        </p:txBody>
      </p:sp>
      <p:sp>
        <p:nvSpPr>
          <p:cNvPr id="17" name="Shape 15"/>
          <p:cNvSpPr/>
          <p:nvPr/>
        </p:nvSpPr>
        <p:spPr>
          <a:xfrm>
            <a:off x="548640" y="4846320"/>
            <a:ext cx="11109960" cy="1143000"/>
          </a:xfrm>
          <a:prstGeom prst="roundRect">
            <a:avLst>
              <a:gd name="adj" fmla="val 5600"/>
            </a:avLst>
          </a:prstGeom>
          <a:solidFill>
            <a:srgbClr val="161616"/>
          </a:solidFill>
          <a:ln>
            <a:solidFill>
              <a:srgbClr val="00B050"/>
            </a:solidFill>
          </a:ln>
        </p:spPr>
      </p:sp>
      <p:sp>
        <p:nvSpPr>
          <p:cNvPr id="18" name="Text 16"/>
          <p:cNvSpPr txBox="1"/>
          <p:nvPr/>
        </p:nvSpPr>
        <p:spPr>
          <a:xfrm>
            <a:off x="822960" y="4956048"/>
            <a:ext cx="10561320" cy="960120"/>
          </a:xfrm>
          <a:prstGeom prst="rect">
            <a:avLst/>
          </a:prstGeom>
          <a:noFill/>
          <a:ln/>
        </p:spPr>
        <p:txBody>
          <a:bodyPr wrap="square" lIns="0" tIns="0" rIns="0" bIns="0" rtlCol="0" anchor="ctr"/>
          <a:lstStyle/>
          <a:p>
            <a:pPr marL="0" indent="0" algn="just">
              <a:lnSpc>
                <a:spcPct val="125000"/>
              </a:lnSpc>
              <a:buNone/>
            </a:pPr>
            <a:r>
              <a:rPr lang="en-US" sz="1180" b="1" dirty="0">
                <a:solidFill>
                  <a:schemeClr val="bg1"/>
                </a:solidFill>
                <a:latin typeface="Calibri" pitchFamily="34" charset="0"/>
                <a:ea typeface="Calibri" pitchFamily="34" charset="-122"/>
                <a:cs typeface="Calibri" pitchFamily="34" charset="-120"/>
              </a:rPr>
              <a:t>Interaction effects:  </a:t>
            </a:r>
            <a:r>
              <a:rPr lang="en-US" sz="1180" dirty="0">
                <a:solidFill>
                  <a:schemeClr val="bg1"/>
                </a:solidFill>
                <a:latin typeface="Calibri" pitchFamily="34" charset="0"/>
                <a:ea typeface="Calibri" pitchFamily="34" charset="-122"/>
                <a:cs typeface="Calibri" pitchFamily="34" charset="-120"/>
              </a:rPr>
              <a:t>The combined impact of high traffic and rain is worse than if the two effects were simply added separately (simple estimate: ~68 minutes; actual: 77 minutes). Snowy weather, meanwhile, remains consistently severe at all traffic levels (average: 68.2 minutes), whereas Rainy weather only rises sharply when traffic is high. Travel distance remains strongly correlated (r = 0.78) across all conditions.</a:t>
            </a:r>
            <a:endParaRPr lang="en-US" sz="1180" dirty="0">
              <a:solidFill>
                <a:schemeClr val="bg1"/>
              </a:solidFill>
            </a:endParaRPr>
          </a:p>
        </p:txBody>
      </p:sp>
      <p:sp>
        <p:nvSpPr>
          <p:cNvPr id="20" name="Text 18"/>
          <p:cNvSpPr txBox="1"/>
          <p:nvPr/>
        </p:nvSpPr>
        <p:spPr>
          <a:xfrm>
            <a:off x="11185855" y="6473952"/>
            <a:ext cx="457200" cy="274320"/>
          </a:xfrm>
          <a:prstGeom prst="rect">
            <a:avLst/>
          </a:prstGeom>
          <a:noFill/>
          <a:ln/>
        </p:spPr>
        <p:txBody>
          <a:bodyPr wrap="square" lIns="0" tIns="0" rIns="0" bIns="0" rtlCol="0" anchor="ctr"/>
          <a:lstStyle/>
          <a:p>
            <a:pPr marL="0" indent="0" algn="r">
              <a:buNone/>
            </a:pPr>
            <a:r>
              <a:rPr lang="en-US" sz="900" dirty="0">
                <a:solidFill>
                  <a:srgbClr val="5C645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000000"/>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92608"/>
          </a:xfrm>
          <a:prstGeom prst="rect">
            <a:avLst/>
          </a:prstGeom>
          <a:noFill/>
          <a:ln/>
        </p:spPr>
        <p:txBody>
          <a:bodyPr wrap="square" lIns="0" tIns="0" rIns="0" bIns="0" rtlCol="0" anchor="ctr"/>
          <a:lstStyle/>
          <a:p>
            <a:pPr marL="0" indent="0">
              <a:buNone/>
            </a:pPr>
            <a:r>
              <a:rPr lang="en-US" sz="1200" b="1" kern="0" spc="200" dirty="0">
                <a:solidFill>
                  <a:srgbClr val="06C167"/>
                </a:solidFill>
                <a:latin typeface="Calibri" pitchFamily="34" charset="0"/>
                <a:ea typeface="Calibri" pitchFamily="34" charset="-122"/>
                <a:cs typeface="Calibri" pitchFamily="34" charset="-120"/>
              </a:rPr>
              <a:t>DATA EXPLORATION</a:t>
            </a:r>
            <a:endParaRPr lang="en-US" sz="1200" dirty="0"/>
          </a:p>
        </p:txBody>
      </p:sp>
      <p:sp>
        <p:nvSpPr>
          <p:cNvPr id="3" name="Text 1"/>
          <p:cNvSpPr txBox="1"/>
          <p:nvPr/>
        </p:nvSpPr>
        <p:spPr>
          <a:xfrm>
            <a:off x="548640" y="658368"/>
            <a:ext cx="10789920" cy="822960"/>
          </a:xfrm>
          <a:prstGeom prst="rect">
            <a:avLst/>
          </a:prstGeom>
          <a:noFill/>
          <a:ln/>
        </p:spPr>
        <p:txBody>
          <a:bodyPr wrap="square" lIns="0" tIns="0" rIns="0" bIns="0" rtlCol="0" anchor="ctr"/>
          <a:lstStyle/>
          <a:p>
            <a:pPr marL="0" indent="0">
              <a:buNone/>
            </a:pPr>
            <a:r>
              <a:rPr lang="en-US" sz="2900" b="1" dirty="0">
                <a:solidFill>
                  <a:srgbClr val="FFFFFF"/>
                </a:solidFill>
                <a:latin typeface="Cambria" pitchFamily="34" charset="0"/>
                <a:ea typeface="Cambria" pitchFamily="34" charset="-122"/>
                <a:cs typeface="Cambria" pitchFamily="34" charset="-120"/>
              </a:rPr>
              <a:t>Relationship Between Distance and Delivery Time</a:t>
            </a:r>
            <a:endParaRPr lang="en-US" sz="2900" dirty="0"/>
          </a:p>
        </p:txBody>
      </p:sp>
      <p:sp>
        <p:nvSpPr>
          <p:cNvPr id="5" name="Shape 2"/>
          <p:cNvSpPr/>
          <p:nvPr/>
        </p:nvSpPr>
        <p:spPr>
          <a:xfrm>
            <a:off x="8503920" y="1737360"/>
            <a:ext cx="3154680" cy="3749040"/>
          </a:xfrm>
          <a:prstGeom prst="roundRect">
            <a:avLst>
              <a:gd name="adj" fmla="val 2319"/>
            </a:avLst>
          </a:prstGeom>
          <a:solidFill>
            <a:srgbClr val="0D2A1C"/>
          </a:solidFill>
          <a:ln w="12700">
            <a:solidFill>
              <a:srgbClr val="06C167"/>
            </a:solidFill>
            <a:prstDash val="solid"/>
          </a:ln>
        </p:spPr>
      </p:sp>
      <p:sp>
        <p:nvSpPr>
          <p:cNvPr id="6" name="Text 3"/>
          <p:cNvSpPr txBox="1"/>
          <p:nvPr/>
        </p:nvSpPr>
        <p:spPr>
          <a:xfrm>
            <a:off x="8732520" y="1965960"/>
            <a:ext cx="2743200" cy="640080"/>
          </a:xfrm>
          <a:prstGeom prst="rect">
            <a:avLst/>
          </a:prstGeom>
          <a:noFill/>
          <a:ln/>
        </p:spPr>
        <p:txBody>
          <a:bodyPr wrap="square" lIns="0" tIns="0" rIns="0" bIns="0" rtlCol="0" anchor="ctr"/>
          <a:lstStyle/>
          <a:p>
            <a:pPr marL="0" indent="0">
              <a:buNone/>
            </a:pPr>
            <a:r>
              <a:rPr lang="en-US" sz="3000" b="1" dirty="0">
                <a:solidFill>
                  <a:srgbClr val="06C167"/>
                </a:solidFill>
                <a:latin typeface="Cambria" pitchFamily="34" charset="0"/>
                <a:ea typeface="Cambria" pitchFamily="34" charset="-122"/>
                <a:cs typeface="Cambria" pitchFamily="34" charset="-120"/>
              </a:rPr>
              <a:t>r = 0,78</a:t>
            </a:r>
            <a:endParaRPr lang="en-US" sz="3000" dirty="0"/>
          </a:p>
        </p:txBody>
      </p:sp>
      <p:sp>
        <p:nvSpPr>
          <p:cNvPr id="7" name="Text 4"/>
          <p:cNvSpPr txBox="1"/>
          <p:nvPr/>
        </p:nvSpPr>
        <p:spPr>
          <a:xfrm>
            <a:off x="8732520" y="2606040"/>
            <a:ext cx="2697480" cy="731520"/>
          </a:xfrm>
          <a:prstGeom prst="rect">
            <a:avLst/>
          </a:prstGeom>
          <a:noFill/>
          <a:ln/>
        </p:spPr>
        <p:txBody>
          <a:bodyPr wrap="square" lIns="0" tIns="0" rIns="0" bIns="0" rtlCol="0" anchor="ctr"/>
          <a:lstStyle/>
          <a:p>
            <a:pPr marL="0" indent="0">
              <a:lnSpc>
                <a:spcPct val="125000"/>
              </a:lnSpc>
              <a:buNone/>
            </a:pPr>
            <a:r>
              <a:rPr lang="en-US" sz="1200" b="1" dirty="0">
                <a:solidFill>
                  <a:srgbClr val="FFFFFF"/>
                </a:solidFill>
                <a:latin typeface="Calibri" pitchFamily="34" charset="0"/>
                <a:ea typeface="Calibri" pitchFamily="34" charset="-122"/>
                <a:cs typeface="Calibri" pitchFamily="34" charset="-120"/>
              </a:rPr>
              <a:t>Strong correlation between distance and delivery time</a:t>
            </a:r>
            <a:endParaRPr lang="en-US" sz="1200" dirty="0"/>
          </a:p>
        </p:txBody>
      </p:sp>
      <p:sp>
        <p:nvSpPr>
          <p:cNvPr id="8" name="Shape 5"/>
          <p:cNvSpPr/>
          <p:nvPr/>
        </p:nvSpPr>
        <p:spPr>
          <a:xfrm>
            <a:off x="8732520" y="3474720"/>
            <a:ext cx="2651760" cy="0"/>
          </a:xfrm>
          <a:prstGeom prst="line">
            <a:avLst/>
          </a:prstGeom>
          <a:noFill/>
          <a:ln w="9525">
            <a:solidFill>
              <a:srgbClr val="5C645F"/>
            </a:solidFill>
            <a:prstDash val="solid"/>
          </a:ln>
        </p:spPr>
      </p:sp>
      <p:sp>
        <p:nvSpPr>
          <p:cNvPr id="9" name="Text 6"/>
          <p:cNvSpPr txBox="1"/>
          <p:nvPr/>
        </p:nvSpPr>
        <p:spPr>
          <a:xfrm>
            <a:off x="8732520" y="3657600"/>
            <a:ext cx="2697480" cy="1737360"/>
          </a:xfrm>
          <a:prstGeom prst="rect">
            <a:avLst/>
          </a:prstGeom>
          <a:noFill/>
          <a:ln/>
        </p:spPr>
        <p:txBody>
          <a:bodyPr wrap="square" lIns="0" tIns="0" rIns="0" bIns="0" rtlCol="0" anchor="ctr"/>
          <a:lstStyle/>
          <a:p>
            <a:pPr marL="0" indent="0">
              <a:lnSpc>
                <a:spcPct val="130000"/>
              </a:lnSpc>
              <a:buNone/>
            </a:pPr>
            <a:r>
              <a:rPr lang="en-US" sz="1150" dirty="0">
                <a:solidFill>
                  <a:schemeClr val="bg1"/>
                </a:solidFill>
                <a:latin typeface="Calibri" pitchFamily="34" charset="0"/>
                <a:ea typeface="Calibri" pitchFamily="34" charset="-122"/>
                <a:cs typeface="Calibri" pitchFamily="34" charset="-120"/>
              </a:rPr>
              <a:t>The greater the distance travelled, the longer the delivery time; this pattern is consistent across all weather and traffic conditions.</a:t>
            </a:r>
            <a:endParaRPr lang="en-US" sz="1150" dirty="0">
              <a:solidFill>
                <a:schemeClr val="bg1"/>
              </a:solidFill>
            </a:endParaRPr>
          </a:p>
        </p:txBody>
      </p:sp>
      <p:sp>
        <p:nvSpPr>
          <p:cNvPr id="11" name="Text 8"/>
          <p:cNvSpPr txBox="1"/>
          <p:nvPr/>
        </p:nvSpPr>
        <p:spPr>
          <a:xfrm>
            <a:off x="11185855" y="6473952"/>
            <a:ext cx="457200" cy="274320"/>
          </a:xfrm>
          <a:prstGeom prst="rect">
            <a:avLst/>
          </a:prstGeom>
          <a:noFill/>
          <a:ln/>
        </p:spPr>
        <p:txBody>
          <a:bodyPr wrap="square" lIns="0" tIns="0" rIns="0" bIns="0" rtlCol="0" anchor="ctr"/>
          <a:lstStyle/>
          <a:p>
            <a:pPr marL="0" indent="0" algn="r">
              <a:buNone/>
            </a:pPr>
            <a:r>
              <a:rPr lang="en-US" sz="900" dirty="0">
                <a:solidFill>
                  <a:srgbClr val="5C645F"/>
                </a:solidFill>
                <a:latin typeface="Calibri" pitchFamily="34" charset="0"/>
                <a:ea typeface="Calibri" pitchFamily="34" charset="-122"/>
                <a:cs typeface="Calibri" pitchFamily="34" charset="-120"/>
              </a:rPr>
              <a:t>8</a:t>
            </a:r>
            <a:endParaRPr lang="en-US" sz="900" dirty="0"/>
          </a:p>
        </p:txBody>
      </p:sp>
      <p:pic>
        <p:nvPicPr>
          <p:cNvPr id="13" name="Picture 12">
            <a:extLst>
              <a:ext uri="{FF2B5EF4-FFF2-40B4-BE49-F238E27FC236}">
                <a16:creationId xmlns:a16="http://schemas.microsoft.com/office/drawing/2014/main" id="{B04C32BA-C755-8C71-D29D-42A98C591E09}"/>
              </a:ext>
            </a:extLst>
          </p:cNvPr>
          <p:cNvPicPr>
            <a:picLocks noChangeAspect="1"/>
          </p:cNvPicPr>
          <p:nvPr/>
        </p:nvPicPr>
        <p:blipFill>
          <a:blip r:embed="rId3"/>
          <a:stretch>
            <a:fillRect/>
          </a:stretch>
        </p:blipFill>
        <p:spPr>
          <a:xfrm>
            <a:off x="548640" y="1701810"/>
            <a:ext cx="7172752" cy="354581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000000"/>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92608"/>
          </a:xfrm>
          <a:prstGeom prst="rect">
            <a:avLst/>
          </a:prstGeom>
          <a:noFill/>
          <a:ln/>
        </p:spPr>
        <p:txBody>
          <a:bodyPr wrap="square" lIns="0" tIns="0" rIns="0" bIns="0" rtlCol="0" anchor="ctr"/>
          <a:lstStyle/>
          <a:p>
            <a:pPr marL="0" indent="0">
              <a:buNone/>
            </a:pPr>
            <a:r>
              <a:rPr lang="en-US" sz="1200" b="1" kern="0" spc="200" dirty="0">
                <a:solidFill>
                  <a:srgbClr val="06C167"/>
                </a:solidFill>
                <a:latin typeface="Calibri" pitchFamily="34" charset="0"/>
                <a:ea typeface="Calibri" pitchFamily="34" charset="-122"/>
                <a:cs typeface="Calibri" pitchFamily="34" charset="-120"/>
              </a:rPr>
              <a:t>METHODS</a:t>
            </a:r>
            <a:endParaRPr lang="en-US" sz="1200" dirty="0"/>
          </a:p>
        </p:txBody>
      </p:sp>
      <p:sp>
        <p:nvSpPr>
          <p:cNvPr id="3" name="Text 1"/>
          <p:cNvSpPr txBox="1"/>
          <p:nvPr/>
        </p:nvSpPr>
        <p:spPr>
          <a:xfrm>
            <a:off x="548640" y="658368"/>
            <a:ext cx="10789920" cy="822960"/>
          </a:xfrm>
          <a:prstGeom prst="rect">
            <a:avLst/>
          </a:prstGeom>
          <a:noFill/>
          <a:ln/>
        </p:spPr>
        <p:txBody>
          <a:bodyPr wrap="square" lIns="0" tIns="0" rIns="0" bIns="0" rtlCol="0" anchor="ctr"/>
          <a:lstStyle/>
          <a:p>
            <a:pPr marL="0" indent="0">
              <a:buNone/>
            </a:pPr>
            <a:r>
              <a:rPr lang="en-US" sz="2900" b="1" dirty="0">
                <a:solidFill>
                  <a:srgbClr val="FFFFFF"/>
                </a:solidFill>
                <a:latin typeface="Cambria" pitchFamily="34" charset="0"/>
                <a:ea typeface="Cambria" pitchFamily="34" charset="-122"/>
                <a:cs typeface="Cambria" pitchFamily="34" charset="-120"/>
              </a:rPr>
              <a:t>From Visual Patterns to Statistical Evidence</a:t>
            </a:r>
            <a:endParaRPr lang="en-US" sz="2900" dirty="0"/>
          </a:p>
        </p:txBody>
      </p:sp>
      <p:sp>
        <p:nvSpPr>
          <p:cNvPr id="4" name="Shape 2"/>
          <p:cNvSpPr/>
          <p:nvPr/>
        </p:nvSpPr>
        <p:spPr>
          <a:xfrm>
            <a:off x="548640" y="2331720"/>
            <a:ext cx="2514600" cy="2377440"/>
          </a:xfrm>
          <a:prstGeom prst="roundRect">
            <a:avLst>
              <a:gd name="adj" fmla="val 3077"/>
            </a:avLst>
          </a:prstGeom>
          <a:solidFill>
            <a:srgbClr val="161616"/>
          </a:solidFill>
          <a:ln>
            <a:solidFill>
              <a:srgbClr val="00B050"/>
            </a:solidFill>
          </a:ln>
        </p:spPr>
      </p:sp>
      <p:sp>
        <p:nvSpPr>
          <p:cNvPr id="5" name="Shape 3"/>
          <p:cNvSpPr/>
          <p:nvPr/>
        </p:nvSpPr>
        <p:spPr>
          <a:xfrm>
            <a:off x="1531620" y="2560320"/>
            <a:ext cx="548640" cy="548640"/>
          </a:xfrm>
          <a:prstGeom prst="ellipse">
            <a:avLst/>
          </a:prstGeom>
          <a:solidFill>
            <a:srgbClr val="06C167"/>
          </a:solidFill>
          <a:ln/>
        </p:spPr>
      </p:sp>
      <p:sp>
        <p:nvSpPr>
          <p:cNvPr id="6" name="Text 4"/>
          <p:cNvSpPr txBox="1"/>
          <p:nvPr/>
        </p:nvSpPr>
        <p:spPr>
          <a:xfrm>
            <a:off x="1531620" y="2560320"/>
            <a:ext cx="548640" cy="548640"/>
          </a:xfrm>
          <a:prstGeom prst="rect">
            <a:avLst/>
          </a:prstGeom>
          <a:noFill/>
          <a:ln/>
        </p:spPr>
        <p:txBody>
          <a:bodyPr wrap="square" lIns="0" tIns="0" rIns="0" bIns="0" rtlCol="0" anchor="ctr"/>
          <a:lstStyle/>
          <a:p>
            <a:pPr marL="0" indent="0" algn="ctr">
              <a:buNone/>
            </a:pPr>
            <a:r>
              <a:rPr lang="en-US" sz="2000" b="1" dirty="0">
                <a:solidFill>
                  <a:srgbClr val="000000"/>
                </a:solidFill>
                <a:latin typeface="Cambria" pitchFamily="34" charset="0"/>
                <a:ea typeface="Cambria" pitchFamily="34" charset="-122"/>
                <a:cs typeface="Cambria" pitchFamily="34" charset="-120"/>
              </a:rPr>
              <a:t>1</a:t>
            </a:r>
            <a:endParaRPr lang="en-US" sz="2000" dirty="0"/>
          </a:p>
        </p:txBody>
      </p:sp>
      <p:sp>
        <p:nvSpPr>
          <p:cNvPr id="7" name="Text 5"/>
          <p:cNvSpPr txBox="1"/>
          <p:nvPr/>
        </p:nvSpPr>
        <p:spPr>
          <a:xfrm>
            <a:off x="685800" y="3246120"/>
            <a:ext cx="2240280" cy="320040"/>
          </a:xfrm>
          <a:prstGeom prst="rect">
            <a:avLst/>
          </a:prstGeom>
          <a:noFill/>
          <a:ln/>
        </p:spPr>
        <p:txBody>
          <a:bodyPr wrap="square" lIns="0" tIns="0" rIns="0" bIns="0" rtlCol="0" anchor="ctr"/>
          <a:lstStyle/>
          <a:p>
            <a:pPr marL="0" indent="0" algn="ctr">
              <a:buNone/>
            </a:pPr>
            <a:r>
              <a:rPr lang="en-US" sz="1400" b="1" dirty="0">
                <a:solidFill>
                  <a:schemeClr val="bg1"/>
                </a:solidFill>
                <a:ea typeface="Cambria" panose="02040503050406030204" pitchFamily="18" charset="0"/>
              </a:rPr>
              <a:t>Normality Check</a:t>
            </a:r>
          </a:p>
        </p:txBody>
      </p:sp>
      <p:sp>
        <p:nvSpPr>
          <p:cNvPr id="8" name="Text 6"/>
          <p:cNvSpPr txBox="1"/>
          <p:nvPr/>
        </p:nvSpPr>
        <p:spPr>
          <a:xfrm>
            <a:off x="685800" y="3566160"/>
            <a:ext cx="2240280" cy="274320"/>
          </a:xfrm>
          <a:prstGeom prst="rect">
            <a:avLst/>
          </a:prstGeom>
          <a:noFill/>
          <a:ln/>
        </p:spPr>
        <p:txBody>
          <a:bodyPr wrap="square" lIns="0" tIns="0" rIns="0" bIns="0" rtlCol="0" anchor="ctr"/>
          <a:lstStyle/>
          <a:p>
            <a:pPr marL="0" indent="0" algn="ctr">
              <a:buNone/>
            </a:pPr>
            <a:r>
              <a:rPr lang="en-US" sz="1050" i="1" dirty="0">
                <a:solidFill>
                  <a:srgbClr val="9AA3A0"/>
                </a:solidFill>
                <a:latin typeface="Calibri" pitchFamily="34" charset="0"/>
                <a:ea typeface="Calibri" pitchFamily="34" charset="-122"/>
                <a:cs typeface="Calibri" pitchFamily="34" charset="-120"/>
              </a:rPr>
              <a:t>Shapiro-Wilk</a:t>
            </a:r>
            <a:endParaRPr lang="en-US" sz="1050" dirty="0"/>
          </a:p>
        </p:txBody>
      </p:sp>
      <p:sp>
        <p:nvSpPr>
          <p:cNvPr id="9" name="Shape 7"/>
          <p:cNvSpPr/>
          <p:nvPr/>
        </p:nvSpPr>
        <p:spPr>
          <a:xfrm>
            <a:off x="1005840" y="3959352"/>
            <a:ext cx="1600200" cy="0"/>
          </a:xfrm>
          <a:prstGeom prst="line">
            <a:avLst/>
          </a:prstGeom>
          <a:noFill/>
          <a:ln w="9525">
            <a:solidFill>
              <a:srgbClr val="2A2F2C"/>
            </a:solidFill>
            <a:prstDash val="solid"/>
          </a:ln>
        </p:spPr>
      </p:sp>
      <p:sp>
        <p:nvSpPr>
          <p:cNvPr id="10" name="Text 8"/>
          <p:cNvSpPr txBox="1"/>
          <p:nvPr/>
        </p:nvSpPr>
        <p:spPr>
          <a:xfrm>
            <a:off x="685800" y="4087368"/>
            <a:ext cx="224028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 = 0,0000409</a:t>
            </a:r>
            <a:endParaRPr lang="en-US" sz="1200" dirty="0"/>
          </a:p>
        </p:txBody>
      </p:sp>
      <p:sp>
        <p:nvSpPr>
          <p:cNvPr id="11" name="Text 9"/>
          <p:cNvSpPr txBox="1"/>
          <p:nvPr/>
        </p:nvSpPr>
        <p:spPr>
          <a:xfrm>
            <a:off x="685800" y="4389120"/>
            <a:ext cx="2240280" cy="274320"/>
          </a:xfrm>
          <a:prstGeom prst="rect">
            <a:avLst/>
          </a:prstGeom>
          <a:noFill/>
          <a:ln/>
        </p:spPr>
        <p:txBody>
          <a:bodyPr wrap="square" lIns="0" tIns="0" rIns="0" bIns="0" rtlCol="0" anchor="ctr"/>
          <a:lstStyle/>
          <a:p>
            <a:pPr marL="0" indent="0" algn="ctr">
              <a:buNone/>
            </a:pPr>
            <a:r>
              <a:rPr lang="en-US" sz="1000" dirty="0">
                <a:solidFill>
                  <a:srgbClr val="9AA3A0"/>
                </a:solidFill>
                <a:latin typeface="Calibri" pitchFamily="34" charset="0"/>
                <a:ea typeface="Calibri" pitchFamily="34" charset="-122"/>
                <a:cs typeface="Calibri" pitchFamily="34" charset="-120"/>
              </a:rPr>
              <a:t>Not normal</a:t>
            </a:r>
            <a:endParaRPr lang="en-US" sz="1000" dirty="0"/>
          </a:p>
        </p:txBody>
      </p:sp>
      <p:sp>
        <p:nvSpPr>
          <p:cNvPr id="12" name="Shape 10"/>
          <p:cNvSpPr/>
          <p:nvPr/>
        </p:nvSpPr>
        <p:spPr>
          <a:xfrm>
            <a:off x="3081528" y="3401568"/>
            <a:ext cx="283464" cy="237744"/>
          </a:xfrm>
          <a:prstGeom prst="rightArrow">
            <a:avLst/>
          </a:prstGeom>
          <a:solidFill>
            <a:srgbClr val="5C645F"/>
          </a:solidFill>
          <a:ln/>
        </p:spPr>
      </p:sp>
      <p:sp>
        <p:nvSpPr>
          <p:cNvPr id="13" name="Shape 11"/>
          <p:cNvSpPr/>
          <p:nvPr/>
        </p:nvSpPr>
        <p:spPr>
          <a:xfrm>
            <a:off x="3383280" y="2331720"/>
            <a:ext cx="2514600" cy="2377440"/>
          </a:xfrm>
          <a:prstGeom prst="roundRect">
            <a:avLst>
              <a:gd name="adj" fmla="val 3077"/>
            </a:avLst>
          </a:prstGeom>
          <a:solidFill>
            <a:srgbClr val="161616"/>
          </a:solidFill>
          <a:ln>
            <a:solidFill>
              <a:srgbClr val="00B050"/>
            </a:solidFill>
          </a:ln>
        </p:spPr>
      </p:sp>
      <p:sp>
        <p:nvSpPr>
          <p:cNvPr id="14" name="Shape 12"/>
          <p:cNvSpPr/>
          <p:nvPr/>
        </p:nvSpPr>
        <p:spPr>
          <a:xfrm>
            <a:off x="4366260" y="2560320"/>
            <a:ext cx="548640" cy="548640"/>
          </a:xfrm>
          <a:prstGeom prst="ellipse">
            <a:avLst/>
          </a:prstGeom>
          <a:solidFill>
            <a:srgbClr val="06C167"/>
          </a:solidFill>
          <a:ln/>
        </p:spPr>
      </p:sp>
      <p:sp>
        <p:nvSpPr>
          <p:cNvPr id="15" name="Text 13"/>
          <p:cNvSpPr txBox="1"/>
          <p:nvPr/>
        </p:nvSpPr>
        <p:spPr>
          <a:xfrm>
            <a:off x="4366260" y="2560320"/>
            <a:ext cx="548640" cy="548640"/>
          </a:xfrm>
          <a:prstGeom prst="rect">
            <a:avLst/>
          </a:prstGeom>
          <a:noFill/>
          <a:ln/>
        </p:spPr>
        <p:txBody>
          <a:bodyPr wrap="square" lIns="0" tIns="0" rIns="0" bIns="0" rtlCol="0" anchor="ctr"/>
          <a:lstStyle/>
          <a:p>
            <a:pPr marL="0" indent="0" algn="ctr">
              <a:buNone/>
            </a:pPr>
            <a:r>
              <a:rPr lang="en-US" sz="2000" b="1" dirty="0">
                <a:solidFill>
                  <a:srgbClr val="000000"/>
                </a:solidFill>
                <a:latin typeface="Cambria" pitchFamily="34" charset="0"/>
                <a:ea typeface="Cambria" pitchFamily="34" charset="-122"/>
                <a:cs typeface="Cambria" pitchFamily="34" charset="-120"/>
              </a:rPr>
              <a:t>2</a:t>
            </a:r>
            <a:endParaRPr lang="en-US" sz="2000" dirty="0"/>
          </a:p>
        </p:txBody>
      </p:sp>
      <p:sp>
        <p:nvSpPr>
          <p:cNvPr id="16" name="Text 14"/>
          <p:cNvSpPr txBox="1"/>
          <p:nvPr/>
        </p:nvSpPr>
        <p:spPr>
          <a:xfrm>
            <a:off x="3520440" y="3246120"/>
            <a:ext cx="2240280"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Kruskal-Wallis</a:t>
            </a:r>
            <a:endParaRPr lang="en-US" sz="1400" dirty="0"/>
          </a:p>
        </p:txBody>
      </p:sp>
      <p:sp>
        <p:nvSpPr>
          <p:cNvPr id="17" name="Text 15"/>
          <p:cNvSpPr txBox="1"/>
          <p:nvPr/>
        </p:nvSpPr>
        <p:spPr>
          <a:xfrm>
            <a:off x="3520440" y="3566160"/>
            <a:ext cx="2240280" cy="274320"/>
          </a:xfrm>
          <a:prstGeom prst="rect">
            <a:avLst/>
          </a:prstGeom>
          <a:noFill/>
          <a:ln/>
        </p:spPr>
        <p:txBody>
          <a:bodyPr wrap="square" lIns="0" tIns="0" rIns="0" bIns="0" rtlCol="0" anchor="ctr"/>
          <a:lstStyle/>
          <a:p>
            <a:pPr marL="0" indent="0" algn="ctr">
              <a:buNone/>
            </a:pPr>
            <a:r>
              <a:rPr lang="en-US" sz="1050" i="1" dirty="0">
                <a:solidFill>
                  <a:srgbClr val="9AA3A0"/>
                </a:solidFill>
                <a:latin typeface="Calibri" pitchFamily="34" charset="0"/>
                <a:ea typeface="Calibri" pitchFamily="34" charset="-122"/>
                <a:cs typeface="Calibri" pitchFamily="34" charset="-120"/>
              </a:rPr>
              <a:t>H-test</a:t>
            </a:r>
            <a:endParaRPr lang="en-US" sz="1050" dirty="0"/>
          </a:p>
        </p:txBody>
      </p:sp>
      <p:sp>
        <p:nvSpPr>
          <p:cNvPr id="18" name="Shape 16"/>
          <p:cNvSpPr/>
          <p:nvPr/>
        </p:nvSpPr>
        <p:spPr>
          <a:xfrm>
            <a:off x="3840480" y="3959352"/>
            <a:ext cx="1600200" cy="0"/>
          </a:xfrm>
          <a:prstGeom prst="line">
            <a:avLst/>
          </a:prstGeom>
          <a:noFill/>
          <a:ln w="9525">
            <a:solidFill>
              <a:srgbClr val="2A2F2C"/>
            </a:solidFill>
            <a:prstDash val="solid"/>
          </a:ln>
        </p:spPr>
      </p:sp>
      <p:sp>
        <p:nvSpPr>
          <p:cNvPr id="19" name="Text 17"/>
          <p:cNvSpPr txBox="1"/>
          <p:nvPr/>
        </p:nvSpPr>
        <p:spPr>
          <a:xfrm>
            <a:off x="3520440" y="4087368"/>
            <a:ext cx="224028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 &lt; 0,00001</a:t>
            </a:r>
            <a:endParaRPr lang="en-US" sz="1200" dirty="0"/>
          </a:p>
        </p:txBody>
      </p:sp>
      <p:sp>
        <p:nvSpPr>
          <p:cNvPr id="20" name="Text 18"/>
          <p:cNvSpPr txBox="1"/>
          <p:nvPr/>
        </p:nvSpPr>
        <p:spPr>
          <a:xfrm>
            <a:off x="3520440" y="4389120"/>
            <a:ext cx="2240280" cy="274320"/>
          </a:xfrm>
          <a:prstGeom prst="rect">
            <a:avLst/>
          </a:prstGeom>
          <a:noFill/>
          <a:ln/>
        </p:spPr>
        <p:txBody>
          <a:bodyPr wrap="square" lIns="0" tIns="0" rIns="0" bIns="0" rtlCol="0" anchor="ctr"/>
          <a:lstStyle/>
          <a:p>
            <a:pPr marL="0" indent="0" algn="ctr">
              <a:buNone/>
            </a:pPr>
            <a:r>
              <a:rPr lang="en-US" sz="1000" dirty="0">
                <a:solidFill>
                  <a:srgbClr val="9AA3A0"/>
                </a:solidFill>
                <a:latin typeface="Calibri" pitchFamily="34" charset="0"/>
                <a:ea typeface="Calibri" pitchFamily="34" charset="-122"/>
                <a:cs typeface="Calibri" pitchFamily="34" charset="-120"/>
              </a:rPr>
              <a:t>Significant</a:t>
            </a:r>
            <a:endParaRPr lang="en-US" sz="1000" dirty="0"/>
          </a:p>
        </p:txBody>
      </p:sp>
      <p:sp>
        <p:nvSpPr>
          <p:cNvPr id="21" name="Shape 19"/>
          <p:cNvSpPr/>
          <p:nvPr/>
        </p:nvSpPr>
        <p:spPr>
          <a:xfrm>
            <a:off x="5916168" y="3401568"/>
            <a:ext cx="283464" cy="237744"/>
          </a:xfrm>
          <a:prstGeom prst="rightArrow">
            <a:avLst/>
          </a:prstGeom>
          <a:solidFill>
            <a:srgbClr val="5C645F"/>
          </a:solidFill>
          <a:ln/>
        </p:spPr>
      </p:sp>
      <p:sp>
        <p:nvSpPr>
          <p:cNvPr id="22" name="Shape 20"/>
          <p:cNvSpPr/>
          <p:nvPr/>
        </p:nvSpPr>
        <p:spPr>
          <a:xfrm>
            <a:off x="6217920" y="2331720"/>
            <a:ext cx="2514600" cy="2377440"/>
          </a:xfrm>
          <a:prstGeom prst="roundRect">
            <a:avLst>
              <a:gd name="adj" fmla="val 3077"/>
            </a:avLst>
          </a:prstGeom>
          <a:solidFill>
            <a:srgbClr val="161616"/>
          </a:solidFill>
          <a:ln>
            <a:solidFill>
              <a:srgbClr val="00B050"/>
            </a:solidFill>
          </a:ln>
        </p:spPr>
      </p:sp>
      <p:sp>
        <p:nvSpPr>
          <p:cNvPr id="23" name="Shape 21"/>
          <p:cNvSpPr/>
          <p:nvPr/>
        </p:nvSpPr>
        <p:spPr>
          <a:xfrm>
            <a:off x="7200900" y="2560320"/>
            <a:ext cx="548640" cy="548640"/>
          </a:xfrm>
          <a:prstGeom prst="ellipse">
            <a:avLst/>
          </a:prstGeom>
          <a:solidFill>
            <a:srgbClr val="06C167"/>
          </a:solidFill>
          <a:ln/>
        </p:spPr>
      </p:sp>
      <p:sp>
        <p:nvSpPr>
          <p:cNvPr id="24" name="Text 22"/>
          <p:cNvSpPr txBox="1"/>
          <p:nvPr/>
        </p:nvSpPr>
        <p:spPr>
          <a:xfrm>
            <a:off x="7200900" y="2560320"/>
            <a:ext cx="548640" cy="548640"/>
          </a:xfrm>
          <a:prstGeom prst="rect">
            <a:avLst/>
          </a:prstGeom>
          <a:noFill/>
          <a:ln/>
        </p:spPr>
        <p:txBody>
          <a:bodyPr wrap="square" lIns="0" tIns="0" rIns="0" bIns="0" rtlCol="0" anchor="ctr"/>
          <a:lstStyle/>
          <a:p>
            <a:pPr marL="0" indent="0" algn="ctr">
              <a:buNone/>
            </a:pPr>
            <a:r>
              <a:rPr lang="en-US" sz="2000" b="1" dirty="0">
                <a:solidFill>
                  <a:srgbClr val="000000"/>
                </a:solidFill>
                <a:latin typeface="Cambria" pitchFamily="34" charset="0"/>
                <a:ea typeface="Cambria" pitchFamily="34" charset="-122"/>
                <a:cs typeface="Cambria" pitchFamily="34" charset="-120"/>
              </a:rPr>
              <a:t>3</a:t>
            </a:r>
            <a:endParaRPr lang="en-US" sz="2000" dirty="0"/>
          </a:p>
        </p:txBody>
      </p:sp>
      <p:sp>
        <p:nvSpPr>
          <p:cNvPr id="25" name="Text 23"/>
          <p:cNvSpPr txBox="1"/>
          <p:nvPr/>
        </p:nvSpPr>
        <p:spPr>
          <a:xfrm>
            <a:off x="6355080" y="3246120"/>
            <a:ext cx="2240280"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Effect Size</a:t>
            </a:r>
            <a:endParaRPr lang="en-US" sz="1400" dirty="0"/>
          </a:p>
        </p:txBody>
      </p:sp>
      <p:sp>
        <p:nvSpPr>
          <p:cNvPr id="26" name="Text 24"/>
          <p:cNvSpPr txBox="1"/>
          <p:nvPr/>
        </p:nvSpPr>
        <p:spPr>
          <a:xfrm>
            <a:off x="6355080" y="3566160"/>
            <a:ext cx="2240280" cy="274320"/>
          </a:xfrm>
          <a:prstGeom prst="rect">
            <a:avLst/>
          </a:prstGeom>
          <a:noFill/>
          <a:ln/>
        </p:spPr>
        <p:txBody>
          <a:bodyPr wrap="square" lIns="0" tIns="0" rIns="0" bIns="0" rtlCol="0" anchor="ctr"/>
          <a:lstStyle/>
          <a:p>
            <a:pPr marL="0" indent="0" algn="ctr">
              <a:buNone/>
            </a:pPr>
            <a:r>
              <a:rPr lang="en-US" sz="1050" i="1" dirty="0">
                <a:solidFill>
                  <a:srgbClr val="9AA3A0"/>
                </a:solidFill>
                <a:latin typeface="Calibri" pitchFamily="34" charset="0"/>
                <a:ea typeface="Calibri" pitchFamily="34" charset="-122"/>
                <a:cs typeface="Calibri" pitchFamily="34" charset="-120"/>
              </a:rPr>
              <a:t>Epsilon-squared</a:t>
            </a:r>
            <a:endParaRPr lang="en-US" sz="1050" dirty="0"/>
          </a:p>
        </p:txBody>
      </p:sp>
      <p:sp>
        <p:nvSpPr>
          <p:cNvPr id="27" name="Shape 25"/>
          <p:cNvSpPr/>
          <p:nvPr/>
        </p:nvSpPr>
        <p:spPr>
          <a:xfrm>
            <a:off x="6675120" y="3959352"/>
            <a:ext cx="1600200" cy="0"/>
          </a:xfrm>
          <a:prstGeom prst="line">
            <a:avLst/>
          </a:prstGeom>
          <a:noFill/>
          <a:ln w="9525">
            <a:solidFill>
              <a:srgbClr val="2A2F2C"/>
            </a:solidFill>
            <a:prstDash val="solid"/>
          </a:ln>
        </p:spPr>
      </p:sp>
      <p:sp>
        <p:nvSpPr>
          <p:cNvPr id="28" name="Text 26"/>
          <p:cNvSpPr txBox="1"/>
          <p:nvPr/>
        </p:nvSpPr>
        <p:spPr>
          <a:xfrm>
            <a:off x="6355080" y="4087368"/>
            <a:ext cx="224028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ε² = 3,3% &amp; 3,5%</a:t>
            </a:r>
            <a:endParaRPr lang="en-US" sz="1200" dirty="0"/>
          </a:p>
        </p:txBody>
      </p:sp>
      <p:sp>
        <p:nvSpPr>
          <p:cNvPr id="29" name="Text 27"/>
          <p:cNvSpPr txBox="1"/>
          <p:nvPr/>
        </p:nvSpPr>
        <p:spPr>
          <a:xfrm>
            <a:off x="6355080" y="4389120"/>
            <a:ext cx="2240280" cy="274320"/>
          </a:xfrm>
          <a:prstGeom prst="rect">
            <a:avLst/>
          </a:prstGeom>
          <a:noFill/>
          <a:ln/>
        </p:spPr>
        <p:txBody>
          <a:bodyPr wrap="square" lIns="0" tIns="0" rIns="0" bIns="0" rtlCol="0" anchor="ctr"/>
          <a:lstStyle/>
          <a:p>
            <a:pPr marL="0" indent="0" algn="ctr">
              <a:buNone/>
            </a:pPr>
            <a:r>
              <a:rPr lang="en-US" sz="1000" dirty="0">
                <a:solidFill>
                  <a:srgbClr val="9AA3A0"/>
                </a:solidFill>
                <a:latin typeface="Calibri" pitchFamily="34" charset="0"/>
                <a:ea typeface="Calibri" pitchFamily="34" charset="-122"/>
                <a:cs typeface="Calibri" pitchFamily="34" charset="-120"/>
              </a:rPr>
              <a:t>Small impact on delivery time</a:t>
            </a:r>
            <a:endParaRPr lang="en-US" sz="1000" dirty="0"/>
          </a:p>
        </p:txBody>
      </p:sp>
      <p:sp>
        <p:nvSpPr>
          <p:cNvPr id="30" name="Shape 28"/>
          <p:cNvSpPr/>
          <p:nvPr/>
        </p:nvSpPr>
        <p:spPr>
          <a:xfrm>
            <a:off x="8750808" y="3401568"/>
            <a:ext cx="283464" cy="237744"/>
          </a:xfrm>
          <a:prstGeom prst="rightArrow">
            <a:avLst/>
          </a:prstGeom>
          <a:solidFill>
            <a:srgbClr val="5C645F"/>
          </a:solidFill>
          <a:ln/>
        </p:spPr>
      </p:sp>
      <p:sp>
        <p:nvSpPr>
          <p:cNvPr id="31" name="Shape 29"/>
          <p:cNvSpPr/>
          <p:nvPr/>
        </p:nvSpPr>
        <p:spPr>
          <a:xfrm>
            <a:off x="9052560" y="2331720"/>
            <a:ext cx="2514600" cy="2377440"/>
          </a:xfrm>
          <a:prstGeom prst="roundRect">
            <a:avLst>
              <a:gd name="adj" fmla="val 3077"/>
            </a:avLst>
          </a:prstGeom>
          <a:solidFill>
            <a:srgbClr val="06C167"/>
          </a:solidFill>
          <a:ln/>
        </p:spPr>
      </p:sp>
      <p:sp>
        <p:nvSpPr>
          <p:cNvPr id="32" name="Shape 30"/>
          <p:cNvSpPr/>
          <p:nvPr/>
        </p:nvSpPr>
        <p:spPr>
          <a:xfrm>
            <a:off x="10035540" y="2560320"/>
            <a:ext cx="548640" cy="548640"/>
          </a:xfrm>
          <a:prstGeom prst="ellipse">
            <a:avLst/>
          </a:prstGeom>
          <a:solidFill>
            <a:srgbClr val="000000"/>
          </a:solidFill>
          <a:ln/>
        </p:spPr>
      </p:sp>
      <p:sp>
        <p:nvSpPr>
          <p:cNvPr id="33" name="Text 31"/>
          <p:cNvSpPr txBox="1"/>
          <p:nvPr/>
        </p:nvSpPr>
        <p:spPr>
          <a:xfrm>
            <a:off x="10035540" y="2560320"/>
            <a:ext cx="548640" cy="548640"/>
          </a:xfrm>
          <a:prstGeom prst="rect">
            <a:avLst/>
          </a:prstGeom>
          <a:noFill/>
          <a:ln/>
        </p:spPr>
        <p:txBody>
          <a:bodyPr wrap="square" lIns="0" tIns="0" rIns="0" bIns="0" rtlCol="0" anchor="ctr"/>
          <a:lstStyle/>
          <a:p>
            <a:pPr marL="0" indent="0" algn="ctr">
              <a:buNone/>
            </a:pPr>
            <a:r>
              <a:rPr lang="en-US" sz="2000" b="1" dirty="0">
                <a:solidFill>
                  <a:srgbClr val="06C167"/>
                </a:solidFill>
                <a:latin typeface="Cambria" pitchFamily="34" charset="0"/>
                <a:ea typeface="Cambria" pitchFamily="34" charset="-122"/>
                <a:cs typeface="Cambria" pitchFamily="34" charset="-120"/>
              </a:rPr>
              <a:t>4</a:t>
            </a:r>
            <a:endParaRPr lang="en-US" sz="2000" dirty="0"/>
          </a:p>
        </p:txBody>
      </p:sp>
      <p:sp>
        <p:nvSpPr>
          <p:cNvPr id="34" name="Text 32"/>
          <p:cNvSpPr txBox="1"/>
          <p:nvPr/>
        </p:nvSpPr>
        <p:spPr>
          <a:xfrm>
            <a:off x="9189720" y="3246120"/>
            <a:ext cx="2240280" cy="320040"/>
          </a:xfrm>
          <a:prstGeom prst="rect">
            <a:avLst/>
          </a:prstGeom>
          <a:noFill/>
          <a:ln/>
        </p:spPr>
        <p:txBody>
          <a:bodyPr wrap="square" lIns="0" tIns="0" rIns="0" bIns="0" rtlCol="0" anchor="ctr"/>
          <a:lstStyle/>
          <a:p>
            <a:pPr marL="0" indent="0" algn="ctr">
              <a:buNone/>
            </a:pPr>
            <a:r>
              <a:rPr lang="en-US" sz="1400" b="1" dirty="0">
                <a:solidFill>
                  <a:srgbClr val="000000"/>
                </a:solidFill>
                <a:latin typeface="Calibri" pitchFamily="34" charset="0"/>
                <a:ea typeface="Calibri" pitchFamily="34" charset="-122"/>
                <a:cs typeface="Calibri" pitchFamily="34" charset="-120"/>
              </a:rPr>
              <a:t>Insight</a:t>
            </a:r>
            <a:endParaRPr lang="en-US" sz="1400" dirty="0"/>
          </a:p>
        </p:txBody>
      </p:sp>
      <p:sp>
        <p:nvSpPr>
          <p:cNvPr id="35" name="Text 33"/>
          <p:cNvSpPr txBox="1"/>
          <p:nvPr/>
        </p:nvSpPr>
        <p:spPr>
          <a:xfrm>
            <a:off x="9189720" y="3566160"/>
            <a:ext cx="2240280" cy="274320"/>
          </a:xfrm>
          <a:prstGeom prst="rect">
            <a:avLst/>
          </a:prstGeom>
          <a:noFill/>
          <a:ln/>
        </p:spPr>
        <p:txBody>
          <a:bodyPr wrap="square" lIns="0" tIns="0" rIns="0" bIns="0" rtlCol="0" anchor="ctr"/>
          <a:lstStyle/>
          <a:p>
            <a:pPr marL="0" indent="0" algn="ctr">
              <a:buNone/>
            </a:pPr>
            <a:r>
              <a:rPr lang="en-US" sz="1050" i="1" dirty="0">
                <a:solidFill>
                  <a:srgbClr val="0D2A1C"/>
                </a:solidFill>
                <a:latin typeface="Calibri" pitchFamily="34" charset="0"/>
                <a:ea typeface="Calibri" pitchFamily="34" charset="-122"/>
                <a:cs typeface="Calibri" pitchFamily="34" charset="-120"/>
              </a:rPr>
              <a:t>&amp; Recommendations</a:t>
            </a:r>
            <a:endParaRPr lang="en-US" sz="1050" dirty="0"/>
          </a:p>
        </p:txBody>
      </p:sp>
      <p:sp>
        <p:nvSpPr>
          <p:cNvPr id="36" name="Shape 34"/>
          <p:cNvSpPr/>
          <p:nvPr/>
        </p:nvSpPr>
        <p:spPr>
          <a:xfrm>
            <a:off x="9509760" y="3959352"/>
            <a:ext cx="1600200" cy="0"/>
          </a:xfrm>
          <a:prstGeom prst="line">
            <a:avLst/>
          </a:prstGeom>
          <a:noFill/>
          <a:ln w="9525">
            <a:solidFill>
              <a:srgbClr val="000000">
                <a:alpha val="40000"/>
              </a:srgbClr>
            </a:solidFill>
            <a:prstDash val="solid"/>
          </a:ln>
        </p:spPr>
      </p:sp>
      <p:sp>
        <p:nvSpPr>
          <p:cNvPr id="37" name="Text 35"/>
          <p:cNvSpPr txBox="1"/>
          <p:nvPr/>
        </p:nvSpPr>
        <p:spPr>
          <a:xfrm>
            <a:off x="9189720" y="4087368"/>
            <a:ext cx="2240280" cy="320040"/>
          </a:xfrm>
          <a:prstGeom prst="rect">
            <a:avLst/>
          </a:prstGeom>
          <a:noFill/>
          <a:ln/>
        </p:spPr>
        <p:txBody>
          <a:bodyPr wrap="square" lIns="0" tIns="0" rIns="0" bIns="0" rtlCol="0" anchor="ctr"/>
          <a:lstStyle/>
          <a:p>
            <a:pPr marL="0" indent="0" algn="ctr">
              <a:buNone/>
            </a:pPr>
            <a:r>
              <a:rPr lang="en-US" sz="1200" b="1" dirty="0">
                <a:solidFill>
                  <a:srgbClr val="000000"/>
                </a:solidFill>
                <a:latin typeface="Calibri" pitchFamily="34" charset="0"/>
                <a:ea typeface="Calibri" pitchFamily="34" charset="-122"/>
                <a:cs typeface="Calibri" pitchFamily="34" charset="-120"/>
              </a:rPr>
              <a:t>4 Business</a:t>
            </a:r>
            <a:endParaRPr lang="en-US" sz="1200" dirty="0"/>
          </a:p>
        </p:txBody>
      </p:sp>
      <p:sp>
        <p:nvSpPr>
          <p:cNvPr id="38" name="Text 36"/>
          <p:cNvSpPr txBox="1"/>
          <p:nvPr/>
        </p:nvSpPr>
        <p:spPr>
          <a:xfrm>
            <a:off x="9189720" y="4389120"/>
            <a:ext cx="2240280" cy="274320"/>
          </a:xfrm>
          <a:prstGeom prst="rect">
            <a:avLst/>
          </a:prstGeom>
          <a:noFill/>
          <a:ln/>
        </p:spPr>
        <p:txBody>
          <a:bodyPr wrap="square" lIns="0" tIns="0" rIns="0" bIns="0" rtlCol="0" anchor="ctr"/>
          <a:lstStyle/>
          <a:p>
            <a:pPr marL="0" indent="0" algn="ctr">
              <a:buNone/>
            </a:pPr>
            <a:r>
              <a:rPr lang="en-US" sz="1000" dirty="0">
                <a:solidFill>
                  <a:srgbClr val="0D2A1C"/>
                </a:solidFill>
                <a:latin typeface="Calibri" pitchFamily="34" charset="0"/>
                <a:ea typeface="Calibri" pitchFamily="34" charset="-122"/>
                <a:cs typeface="Calibri" pitchFamily="34" charset="-120"/>
              </a:rPr>
              <a:t>recommendations</a:t>
            </a:r>
            <a:endParaRPr lang="en-US" sz="1000" dirty="0"/>
          </a:p>
        </p:txBody>
      </p:sp>
      <p:sp>
        <p:nvSpPr>
          <p:cNvPr id="40" name="Text 38"/>
          <p:cNvSpPr txBox="1"/>
          <p:nvPr/>
        </p:nvSpPr>
        <p:spPr>
          <a:xfrm>
            <a:off x="11185855" y="6473952"/>
            <a:ext cx="457200" cy="274320"/>
          </a:xfrm>
          <a:prstGeom prst="rect">
            <a:avLst/>
          </a:prstGeom>
          <a:noFill/>
          <a:ln/>
        </p:spPr>
        <p:txBody>
          <a:bodyPr wrap="square" lIns="0" tIns="0" rIns="0" bIns="0" rtlCol="0" anchor="ctr"/>
          <a:lstStyle/>
          <a:p>
            <a:pPr marL="0" indent="0" algn="r">
              <a:buNone/>
            </a:pPr>
            <a:r>
              <a:rPr lang="en-US" sz="900" dirty="0">
                <a:solidFill>
                  <a:srgbClr val="5C645F"/>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B369871F-565E-4A9F-6047-0B0CF91D9496}"/>
            </a:ext>
          </a:extLst>
        </p:cNvPr>
        <p:cNvGrpSpPr/>
        <p:nvPr/>
      </p:nvGrpSpPr>
      <p:grpSpPr>
        <a:xfrm>
          <a:off x="0" y="0"/>
          <a:ext cx="0" cy="0"/>
          <a:chOff x="0" y="0"/>
          <a:chExt cx="0" cy="0"/>
        </a:xfrm>
      </p:grpSpPr>
      <p:sp>
        <p:nvSpPr>
          <p:cNvPr id="32" name="Shape 30">
            <a:extLst>
              <a:ext uri="{FF2B5EF4-FFF2-40B4-BE49-F238E27FC236}">
                <a16:creationId xmlns:a16="http://schemas.microsoft.com/office/drawing/2014/main" id="{79273D51-865C-061F-2292-FC7AFD22A64F}"/>
              </a:ext>
            </a:extLst>
          </p:cNvPr>
          <p:cNvSpPr/>
          <p:nvPr/>
        </p:nvSpPr>
        <p:spPr>
          <a:xfrm>
            <a:off x="10035540" y="2560320"/>
            <a:ext cx="548640" cy="548640"/>
          </a:xfrm>
          <a:prstGeom prst="ellipse">
            <a:avLst/>
          </a:prstGeom>
          <a:solidFill>
            <a:srgbClr val="000000"/>
          </a:solidFill>
          <a:ln/>
        </p:spPr>
      </p:sp>
      <p:sp>
        <p:nvSpPr>
          <p:cNvPr id="33" name="Text 31">
            <a:extLst>
              <a:ext uri="{FF2B5EF4-FFF2-40B4-BE49-F238E27FC236}">
                <a16:creationId xmlns:a16="http://schemas.microsoft.com/office/drawing/2014/main" id="{4279E2DD-8FF8-6860-E477-BAD5287858DA}"/>
              </a:ext>
            </a:extLst>
          </p:cNvPr>
          <p:cNvSpPr txBox="1"/>
          <p:nvPr/>
        </p:nvSpPr>
        <p:spPr>
          <a:xfrm>
            <a:off x="10035540" y="2560320"/>
            <a:ext cx="548640" cy="548640"/>
          </a:xfrm>
          <a:prstGeom prst="rect">
            <a:avLst/>
          </a:prstGeom>
          <a:noFill/>
          <a:ln/>
        </p:spPr>
        <p:txBody>
          <a:bodyPr wrap="square" lIns="0" tIns="0" rIns="0" bIns="0" rtlCol="0" anchor="ctr"/>
          <a:lstStyle/>
          <a:p>
            <a:pPr marL="0" indent="0" algn="ctr">
              <a:buNone/>
            </a:pPr>
            <a:endParaRPr lang="en-US" sz="2000" dirty="0"/>
          </a:p>
        </p:txBody>
      </p:sp>
      <p:sp>
        <p:nvSpPr>
          <p:cNvPr id="34" name="Text 32">
            <a:extLst>
              <a:ext uri="{FF2B5EF4-FFF2-40B4-BE49-F238E27FC236}">
                <a16:creationId xmlns:a16="http://schemas.microsoft.com/office/drawing/2014/main" id="{59A8BF84-1B08-A87B-4320-EF02C1FFDDB1}"/>
              </a:ext>
            </a:extLst>
          </p:cNvPr>
          <p:cNvSpPr txBox="1"/>
          <p:nvPr/>
        </p:nvSpPr>
        <p:spPr>
          <a:xfrm>
            <a:off x="9189720" y="3246120"/>
            <a:ext cx="2240280" cy="320040"/>
          </a:xfrm>
          <a:prstGeom prst="rect">
            <a:avLst/>
          </a:prstGeom>
          <a:noFill/>
          <a:ln/>
        </p:spPr>
        <p:txBody>
          <a:bodyPr wrap="square" lIns="0" tIns="0" rIns="0" bIns="0" rtlCol="0" anchor="ctr"/>
          <a:lstStyle/>
          <a:p>
            <a:pPr marL="0" indent="0" algn="ctr">
              <a:buNone/>
            </a:pPr>
            <a:r>
              <a:rPr lang="en-US" sz="1400" b="1" dirty="0">
                <a:solidFill>
                  <a:srgbClr val="000000"/>
                </a:solidFill>
                <a:latin typeface="Calibri" pitchFamily="34" charset="0"/>
                <a:ea typeface="Calibri" pitchFamily="34" charset="-122"/>
                <a:cs typeface="Calibri" pitchFamily="34" charset="-120"/>
              </a:rPr>
              <a:t>Insight</a:t>
            </a:r>
            <a:endParaRPr lang="en-US" sz="1400" dirty="0"/>
          </a:p>
        </p:txBody>
      </p:sp>
      <p:sp>
        <p:nvSpPr>
          <p:cNvPr id="36" name="Shape 34">
            <a:extLst>
              <a:ext uri="{FF2B5EF4-FFF2-40B4-BE49-F238E27FC236}">
                <a16:creationId xmlns:a16="http://schemas.microsoft.com/office/drawing/2014/main" id="{1D4E2FBE-3BE9-C4DC-0A3C-A0266828C249}"/>
              </a:ext>
            </a:extLst>
          </p:cNvPr>
          <p:cNvSpPr/>
          <p:nvPr/>
        </p:nvSpPr>
        <p:spPr>
          <a:xfrm>
            <a:off x="9509760" y="3959352"/>
            <a:ext cx="1600200" cy="0"/>
          </a:xfrm>
          <a:prstGeom prst="line">
            <a:avLst/>
          </a:prstGeom>
          <a:noFill/>
          <a:ln w="9525">
            <a:solidFill>
              <a:srgbClr val="000000">
                <a:alpha val="40000"/>
              </a:srgbClr>
            </a:solidFill>
            <a:prstDash val="solid"/>
          </a:ln>
        </p:spPr>
      </p:sp>
      <p:sp>
        <p:nvSpPr>
          <p:cNvPr id="37" name="Text 35">
            <a:extLst>
              <a:ext uri="{FF2B5EF4-FFF2-40B4-BE49-F238E27FC236}">
                <a16:creationId xmlns:a16="http://schemas.microsoft.com/office/drawing/2014/main" id="{2A56563D-639D-3A2E-8538-25F2F1F87FB7}"/>
              </a:ext>
            </a:extLst>
          </p:cNvPr>
          <p:cNvSpPr txBox="1"/>
          <p:nvPr/>
        </p:nvSpPr>
        <p:spPr>
          <a:xfrm>
            <a:off x="9189720" y="4087368"/>
            <a:ext cx="2240280" cy="320040"/>
          </a:xfrm>
          <a:prstGeom prst="rect">
            <a:avLst/>
          </a:prstGeom>
          <a:noFill/>
          <a:ln/>
        </p:spPr>
        <p:txBody>
          <a:bodyPr wrap="square" lIns="0" tIns="0" rIns="0" bIns="0" rtlCol="0" anchor="ctr"/>
          <a:lstStyle/>
          <a:p>
            <a:pPr marL="0" indent="0" algn="ctr">
              <a:buNone/>
            </a:pPr>
            <a:r>
              <a:rPr lang="en-US" sz="1200" b="1" dirty="0">
                <a:solidFill>
                  <a:srgbClr val="000000"/>
                </a:solidFill>
                <a:latin typeface="Calibri" pitchFamily="34" charset="0"/>
                <a:ea typeface="Calibri" pitchFamily="34" charset="-122"/>
                <a:cs typeface="Calibri" pitchFamily="34" charset="-120"/>
              </a:rPr>
              <a:t>4 rekomendasi</a:t>
            </a:r>
            <a:endParaRPr lang="en-US" sz="1200" dirty="0"/>
          </a:p>
        </p:txBody>
      </p:sp>
      <p:sp>
        <p:nvSpPr>
          <p:cNvPr id="40" name="Text 38">
            <a:extLst>
              <a:ext uri="{FF2B5EF4-FFF2-40B4-BE49-F238E27FC236}">
                <a16:creationId xmlns:a16="http://schemas.microsoft.com/office/drawing/2014/main" id="{CBEA2C81-D9B0-3243-7405-A06E843B898B}"/>
              </a:ext>
            </a:extLst>
          </p:cNvPr>
          <p:cNvSpPr txBox="1"/>
          <p:nvPr/>
        </p:nvSpPr>
        <p:spPr>
          <a:xfrm>
            <a:off x="11185855" y="6473952"/>
            <a:ext cx="457200" cy="274320"/>
          </a:xfrm>
          <a:prstGeom prst="rect">
            <a:avLst/>
          </a:prstGeom>
          <a:noFill/>
          <a:ln/>
        </p:spPr>
        <p:txBody>
          <a:bodyPr wrap="square" lIns="0" tIns="0" rIns="0" bIns="0" rtlCol="0" anchor="ctr"/>
          <a:lstStyle/>
          <a:p>
            <a:pPr marL="0" indent="0" algn="r">
              <a:buNone/>
            </a:pPr>
            <a:r>
              <a:rPr lang="en-US" sz="900" dirty="0">
                <a:solidFill>
                  <a:srgbClr val="5C645F"/>
                </a:solidFill>
                <a:latin typeface="Calibri" pitchFamily="34" charset="0"/>
                <a:ea typeface="Calibri" pitchFamily="34" charset="-122"/>
                <a:cs typeface="Calibri" pitchFamily="34" charset="-120"/>
              </a:rPr>
              <a:t>9</a:t>
            </a:r>
            <a:endParaRPr lang="en-US" sz="900" dirty="0"/>
          </a:p>
        </p:txBody>
      </p:sp>
      <p:pic>
        <p:nvPicPr>
          <p:cNvPr id="44" name="Picture 43">
            <a:extLst>
              <a:ext uri="{FF2B5EF4-FFF2-40B4-BE49-F238E27FC236}">
                <a16:creationId xmlns:a16="http://schemas.microsoft.com/office/drawing/2014/main" id="{4B819277-E78D-3A5B-6001-BD0348BD03EE}"/>
              </a:ext>
            </a:extLst>
          </p:cNvPr>
          <p:cNvPicPr>
            <a:picLocks noChangeAspect="1"/>
          </p:cNvPicPr>
          <p:nvPr/>
        </p:nvPicPr>
        <p:blipFill>
          <a:blip r:embed="rId3"/>
          <a:stretch>
            <a:fillRect/>
          </a:stretch>
        </p:blipFill>
        <p:spPr>
          <a:xfrm>
            <a:off x="2801461" y="260825"/>
            <a:ext cx="6855723" cy="6336350"/>
          </a:xfrm>
          <a:prstGeom prst="rect">
            <a:avLst/>
          </a:prstGeom>
        </p:spPr>
      </p:pic>
    </p:spTree>
    <p:extLst>
      <p:ext uri="{BB962C8B-B14F-4D97-AF65-F5344CB8AC3E}">
        <p14:creationId xmlns:p14="http://schemas.microsoft.com/office/powerpoint/2010/main" val="11513354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000000"/>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92608"/>
          </a:xfrm>
          <a:prstGeom prst="rect">
            <a:avLst/>
          </a:prstGeom>
          <a:noFill/>
          <a:ln/>
        </p:spPr>
        <p:txBody>
          <a:bodyPr wrap="square" lIns="0" tIns="0" rIns="0" bIns="0" rtlCol="0" anchor="ctr"/>
          <a:lstStyle/>
          <a:p>
            <a:pPr marL="0" indent="0">
              <a:buNone/>
            </a:pPr>
            <a:r>
              <a:rPr lang="en-US" sz="1200" b="1" kern="0" spc="200" dirty="0">
                <a:solidFill>
                  <a:srgbClr val="06C167"/>
                </a:solidFill>
                <a:latin typeface="Calibri" pitchFamily="34" charset="0"/>
                <a:ea typeface="Calibri" pitchFamily="34" charset="-122"/>
                <a:cs typeface="Calibri" pitchFamily="34" charset="-120"/>
              </a:rPr>
              <a:t>RESULTS</a:t>
            </a:r>
            <a:endParaRPr lang="en-US" sz="1200" dirty="0"/>
          </a:p>
        </p:txBody>
      </p:sp>
      <p:sp>
        <p:nvSpPr>
          <p:cNvPr id="3" name="Text 1"/>
          <p:cNvSpPr txBox="1"/>
          <p:nvPr/>
        </p:nvSpPr>
        <p:spPr>
          <a:xfrm>
            <a:off x="548640" y="658368"/>
            <a:ext cx="10789920" cy="822960"/>
          </a:xfrm>
          <a:prstGeom prst="rect">
            <a:avLst/>
          </a:prstGeom>
          <a:noFill/>
          <a:ln/>
        </p:spPr>
        <p:txBody>
          <a:bodyPr wrap="square" lIns="0" tIns="0" rIns="0" bIns="0" rtlCol="0" anchor="ctr"/>
          <a:lstStyle/>
          <a:p>
            <a:pPr marL="0" indent="0">
              <a:buNone/>
            </a:pPr>
            <a:r>
              <a:rPr lang="en-US" sz="2900" b="1" dirty="0">
                <a:solidFill>
                  <a:srgbClr val="FFFFFF"/>
                </a:solidFill>
                <a:latin typeface="Cambria" pitchFamily="34" charset="0"/>
                <a:ea typeface="Cambria" pitchFamily="34" charset="-122"/>
                <a:cs typeface="Cambria" pitchFamily="34" charset="-120"/>
              </a:rPr>
              <a:t>Kruskal–Wallis Test Results</a:t>
            </a:r>
            <a:endParaRPr lang="en-US" sz="2900" dirty="0"/>
          </a:p>
        </p:txBody>
      </p:sp>
      <p:sp>
        <p:nvSpPr>
          <p:cNvPr id="4" name="Text 2"/>
          <p:cNvSpPr txBox="1"/>
          <p:nvPr/>
        </p:nvSpPr>
        <p:spPr>
          <a:xfrm>
            <a:off x="548640" y="1417320"/>
            <a:ext cx="10789920" cy="457200"/>
          </a:xfrm>
          <a:prstGeom prst="rect">
            <a:avLst/>
          </a:prstGeom>
          <a:noFill/>
          <a:ln/>
        </p:spPr>
        <p:txBody>
          <a:bodyPr wrap="square" lIns="0" tIns="0" rIns="0" bIns="0" rtlCol="0" anchor="ctr"/>
          <a:lstStyle/>
          <a:p>
            <a:r>
              <a:rPr lang="en-ID" sz="1400" dirty="0">
                <a:solidFill>
                  <a:schemeClr val="bg1"/>
                </a:solidFill>
              </a:rPr>
              <a:t>Testing whether the average delivery-time ranks differ significantly between groups for each categorical variable (α = 0.05).</a:t>
            </a:r>
            <a:endParaRPr lang="en-ID" sz="1400" dirty="0">
              <a:solidFill>
                <a:schemeClr val="bg1"/>
              </a:solidFill>
              <a:effectLst/>
            </a:endParaRPr>
          </a:p>
        </p:txBody>
      </p:sp>
      <p:graphicFrame>
        <p:nvGraphicFramePr>
          <p:cNvPr id="11" name="Table 0"/>
          <p:cNvGraphicFramePr>
            <a:graphicFrameLocks noGrp="1"/>
          </p:cNvGraphicFramePr>
          <p:nvPr>
            <p:extLst>
              <p:ext uri="{D42A27DB-BD31-4B8C-83A1-F6EECF244321}">
                <p14:modId xmlns:p14="http://schemas.microsoft.com/office/powerpoint/2010/main" val="2877187964"/>
              </p:ext>
            </p:extLst>
          </p:nvPr>
        </p:nvGraphicFramePr>
        <p:xfrm>
          <a:off x="548640" y="2148840"/>
          <a:ext cx="11109960" cy="2834640"/>
        </p:xfrm>
        <a:graphic>
          <a:graphicData uri="http://schemas.openxmlformats.org/drawingml/2006/table">
            <a:tbl>
              <a:tblPr/>
              <a:tblGrid>
                <a:gridCol w="288036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tblGrid>
              <a:tr h="566928">
                <a:tc>
                  <a:txBody>
                    <a:bodyPr/>
                    <a:lstStyle/>
                    <a:p>
                      <a:pPr marL="0" indent="0" algn="ctr">
                        <a:buNone/>
                      </a:pPr>
                      <a:r>
                        <a:rPr lang="en-US" sz="1250" b="1" dirty="0">
                          <a:solidFill>
                            <a:srgbClr val="000000"/>
                          </a:solidFill>
                          <a:latin typeface="Calibri" pitchFamily="34" charset="0"/>
                          <a:ea typeface="Calibri" pitchFamily="34" charset="-122"/>
                          <a:cs typeface="Calibri" pitchFamily="34" charset="-120"/>
                        </a:rPr>
                        <a:t>Variable</a:t>
                      </a:r>
                      <a:endParaRPr lang="en-US" sz="1250" dirty="0">
                        <a:latin typeface="Calibri" charset="0"/>
                        <a:ea typeface="Calibri" charset="0"/>
                        <a:cs typeface="Calibri" charset="0"/>
                      </a:endParaRPr>
                    </a:p>
                  </a:txBody>
                  <a:tcPr anchor="ctr">
                    <a:lnL w="6350" cap="flat" cmpd="sng" algn="ctr">
                      <a:solidFill>
                        <a:srgbClr val="2A2F2C"/>
                      </a:solidFill>
                      <a:prstDash val="solid"/>
                      <a:round/>
                      <a:headEnd type="none" w="med" len="med"/>
                      <a:tailEnd type="none" w="med" len="med"/>
                    </a:lnL>
                    <a:lnR w="6350" cap="flat" cmpd="sng" algn="ctr">
                      <a:solidFill>
                        <a:srgbClr val="2A2F2C"/>
                      </a:solidFill>
                      <a:prstDash val="solid"/>
                      <a:round/>
                      <a:headEnd type="none" w="med" len="med"/>
                      <a:tailEnd type="none" w="med" len="med"/>
                    </a:lnR>
                    <a:lnT w="6350" cap="flat" cmpd="sng" algn="ctr">
                      <a:solidFill>
                        <a:srgbClr val="2A2F2C"/>
                      </a:solidFill>
                      <a:prstDash val="solid"/>
                      <a:round/>
                      <a:headEnd type="none" w="med" len="med"/>
                      <a:tailEnd type="none" w="med" len="med"/>
                    </a:lnT>
                    <a:lnB w="6350" cap="flat" cmpd="sng" algn="ctr">
                      <a:solidFill>
                        <a:srgbClr val="2A2F2C"/>
                      </a:solidFill>
                      <a:prstDash val="solid"/>
                      <a:round/>
                      <a:headEnd type="none" w="med" len="med"/>
                      <a:tailEnd type="none" w="med" len="med"/>
                    </a:lnB>
                    <a:solidFill>
                      <a:srgbClr val="06C167"/>
                    </a:solidFill>
                  </a:tcPr>
                </a:tc>
                <a:tc>
                  <a:txBody>
                    <a:bodyPr/>
                    <a:lstStyle/>
                    <a:p>
                      <a:pPr marL="0" indent="0" algn="ctr">
                        <a:buNone/>
                      </a:pPr>
                      <a:r>
                        <a:rPr lang="en-US" sz="1250" b="1" dirty="0">
                          <a:solidFill>
                            <a:srgbClr val="000000"/>
                          </a:solidFill>
                          <a:latin typeface="Calibri" pitchFamily="34" charset="0"/>
                          <a:ea typeface="Calibri" pitchFamily="34" charset="-122"/>
                          <a:cs typeface="Calibri" pitchFamily="34" charset="-120"/>
                        </a:rPr>
                        <a:t>Number of Groups (k)</a:t>
                      </a:r>
                      <a:endParaRPr lang="en-US" sz="1250" dirty="0">
                        <a:latin typeface="Calibri" charset="0"/>
                        <a:ea typeface="Calibri" charset="0"/>
                        <a:cs typeface="Calibri" charset="0"/>
                      </a:endParaRPr>
                    </a:p>
                  </a:txBody>
                  <a:tcPr anchor="ctr">
                    <a:lnL w="6350" cap="flat" cmpd="sng" algn="ctr">
                      <a:solidFill>
                        <a:srgbClr val="2A2F2C"/>
                      </a:solidFill>
                      <a:prstDash val="solid"/>
                      <a:round/>
                      <a:headEnd type="none" w="med" len="med"/>
                      <a:tailEnd type="none" w="med" len="med"/>
                    </a:lnL>
                    <a:lnR w="6350" cap="flat" cmpd="sng" algn="ctr">
                      <a:solidFill>
                        <a:srgbClr val="2A2F2C"/>
                      </a:solidFill>
                      <a:prstDash val="solid"/>
                      <a:round/>
                      <a:headEnd type="none" w="med" len="med"/>
                      <a:tailEnd type="none" w="med" len="med"/>
                    </a:lnR>
                    <a:lnT w="6350" cap="flat" cmpd="sng" algn="ctr">
                      <a:solidFill>
                        <a:srgbClr val="2A2F2C"/>
                      </a:solidFill>
                      <a:prstDash val="solid"/>
                      <a:round/>
                      <a:headEnd type="none" w="med" len="med"/>
                      <a:tailEnd type="none" w="med" len="med"/>
                    </a:lnT>
                    <a:lnB w="6350" cap="flat" cmpd="sng" algn="ctr">
                      <a:solidFill>
                        <a:srgbClr val="2A2F2C"/>
                      </a:solidFill>
                      <a:prstDash val="solid"/>
                      <a:round/>
                      <a:headEnd type="none" w="med" len="med"/>
                      <a:tailEnd type="none" w="med" len="med"/>
                    </a:lnB>
                    <a:solidFill>
                      <a:srgbClr val="06C167"/>
                    </a:solidFill>
                  </a:tcPr>
                </a:tc>
                <a:tc>
                  <a:txBody>
                    <a:bodyPr/>
                    <a:lstStyle/>
                    <a:p>
                      <a:pPr marL="0" indent="0" algn="ctr">
                        <a:buNone/>
                      </a:pPr>
                      <a:r>
                        <a:rPr lang="en-US" sz="1250" b="1" dirty="0">
                          <a:solidFill>
                            <a:srgbClr val="000000"/>
                          </a:solidFill>
                          <a:latin typeface="Calibri" pitchFamily="34" charset="0"/>
                          <a:ea typeface="Calibri" pitchFamily="34" charset="-122"/>
                          <a:cs typeface="Calibri" pitchFamily="34" charset="-120"/>
                        </a:rPr>
                        <a:t>H-statistic</a:t>
                      </a:r>
                      <a:endParaRPr lang="en-US" sz="1250" dirty="0">
                        <a:latin typeface="Calibri" charset="0"/>
                        <a:ea typeface="Calibri" charset="0"/>
                        <a:cs typeface="Calibri" charset="0"/>
                      </a:endParaRPr>
                    </a:p>
                  </a:txBody>
                  <a:tcPr anchor="ctr">
                    <a:lnL w="6350" cap="flat" cmpd="sng" algn="ctr">
                      <a:solidFill>
                        <a:srgbClr val="2A2F2C"/>
                      </a:solidFill>
                      <a:prstDash val="solid"/>
                      <a:round/>
                      <a:headEnd type="none" w="med" len="med"/>
                      <a:tailEnd type="none" w="med" len="med"/>
                    </a:lnL>
                    <a:lnR w="6350" cap="flat" cmpd="sng" algn="ctr">
                      <a:solidFill>
                        <a:srgbClr val="2A2F2C"/>
                      </a:solidFill>
                      <a:prstDash val="solid"/>
                      <a:round/>
                      <a:headEnd type="none" w="med" len="med"/>
                      <a:tailEnd type="none" w="med" len="med"/>
                    </a:lnR>
                    <a:lnT w="6350" cap="flat" cmpd="sng" algn="ctr">
                      <a:solidFill>
                        <a:srgbClr val="2A2F2C"/>
                      </a:solidFill>
                      <a:prstDash val="solid"/>
                      <a:round/>
                      <a:headEnd type="none" w="med" len="med"/>
                      <a:tailEnd type="none" w="med" len="med"/>
                    </a:lnT>
                    <a:lnB w="6350" cap="flat" cmpd="sng" algn="ctr">
                      <a:solidFill>
                        <a:srgbClr val="2A2F2C"/>
                      </a:solidFill>
                      <a:prstDash val="solid"/>
                      <a:round/>
                      <a:headEnd type="none" w="med" len="med"/>
                      <a:tailEnd type="none" w="med" len="med"/>
                    </a:lnB>
                    <a:solidFill>
                      <a:srgbClr val="06C167"/>
                    </a:solidFill>
                  </a:tcPr>
                </a:tc>
                <a:tc>
                  <a:txBody>
                    <a:bodyPr/>
                    <a:lstStyle/>
                    <a:p>
                      <a:pPr marL="0" indent="0" algn="ctr">
                        <a:buNone/>
                      </a:pPr>
                      <a:r>
                        <a:rPr lang="en-US" sz="1250" b="1" dirty="0">
                          <a:solidFill>
                            <a:srgbClr val="000000"/>
                          </a:solidFill>
                          <a:latin typeface="Calibri" pitchFamily="34" charset="0"/>
                          <a:ea typeface="Calibri" pitchFamily="34" charset="-122"/>
                          <a:cs typeface="Calibri" pitchFamily="34" charset="-120"/>
                        </a:rPr>
                        <a:t>p-value</a:t>
                      </a:r>
                      <a:endParaRPr lang="en-US" sz="1250" dirty="0">
                        <a:latin typeface="Calibri" charset="0"/>
                        <a:ea typeface="Calibri" charset="0"/>
                        <a:cs typeface="Calibri" charset="0"/>
                      </a:endParaRPr>
                    </a:p>
                  </a:txBody>
                  <a:tcPr anchor="ctr">
                    <a:lnL w="6350" cap="flat" cmpd="sng" algn="ctr">
                      <a:solidFill>
                        <a:srgbClr val="2A2F2C"/>
                      </a:solidFill>
                      <a:prstDash val="solid"/>
                      <a:round/>
                      <a:headEnd type="none" w="med" len="med"/>
                      <a:tailEnd type="none" w="med" len="med"/>
                    </a:lnL>
                    <a:lnR w="6350" cap="flat" cmpd="sng" algn="ctr">
                      <a:solidFill>
                        <a:srgbClr val="2A2F2C"/>
                      </a:solidFill>
                      <a:prstDash val="solid"/>
                      <a:round/>
                      <a:headEnd type="none" w="med" len="med"/>
                      <a:tailEnd type="none" w="med" len="med"/>
                    </a:lnR>
                    <a:lnT w="6350" cap="flat" cmpd="sng" algn="ctr">
                      <a:solidFill>
                        <a:srgbClr val="2A2F2C"/>
                      </a:solidFill>
                      <a:prstDash val="solid"/>
                      <a:round/>
                      <a:headEnd type="none" w="med" len="med"/>
                      <a:tailEnd type="none" w="med" len="med"/>
                    </a:lnT>
                    <a:lnB w="6350" cap="flat" cmpd="sng" algn="ctr">
                      <a:solidFill>
                        <a:srgbClr val="2A2F2C"/>
                      </a:solidFill>
                      <a:prstDash val="solid"/>
                      <a:round/>
                      <a:headEnd type="none" w="med" len="med"/>
                      <a:tailEnd type="none" w="med" len="med"/>
                    </a:lnB>
                    <a:solidFill>
                      <a:srgbClr val="06C167"/>
                    </a:solidFill>
                  </a:tcPr>
                </a:tc>
                <a:tc>
                  <a:txBody>
                    <a:bodyPr/>
                    <a:lstStyle/>
                    <a:p>
                      <a:pPr marL="0" indent="0" algn="ctr">
                        <a:buNone/>
                      </a:pPr>
                      <a:r>
                        <a:rPr lang="en-US" sz="1250" b="1" dirty="0">
                          <a:solidFill>
                            <a:srgbClr val="000000"/>
                          </a:solidFill>
                          <a:latin typeface="Calibri" pitchFamily="34" charset="0"/>
                          <a:ea typeface="Calibri" pitchFamily="34" charset="-122"/>
                          <a:cs typeface="Calibri" pitchFamily="34" charset="-120"/>
                        </a:rPr>
                        <a:t>Result</a:t>
                      </a:r>
                      <a:endParaRPr lang="en-US" sz="1250" dirty="0">
                        <a:latin typeface="Calibri" charset="0"/>
                        <a:ea typeface="Calibri" charset="0"/>
                        <a:cs typeface="Calibri" charset="0"/>
                      </a:endParaRPr>
                    </a:p>
                  </a:txBody>
                  <a:tcPr anchor="ctr">
                    <a:lnL w="6350" cap="flat" cmpd="sng" algn="ctr">
                      <a:solidFill>
                        <a:srgbClr val="2A2F2C"/>
                      </a:solidFill>
                      <a:prstDash val="solid"/>
                      <a:round/>
                      <a:headEnd type="none" w="med" len="med"/>
                      <a:tailEnd type="none" w="med" len="med"/>
                    </a:lnL>
                    <a:lnR w="6350" cap="flat" cmpd="sng" algn="ctr">
                      <a:solidFill>
                        <a:srgbClr val="2A2F2C"/>
                      </a:solidFill>
                      <a:prstDash val="solid"/>
                      <a:round/>
                      <a:headEnd type="none" w="med" len="med"/>
                      <a:tailEnd type="none" w="med" len="med"/>
                    </a:lnR>
                    <a:lnT w="6350" cap="flat" cmpd="sng" algn="ctr">
                      <a:solidFill>
                        <a:srgbClr val="2A2F2C"/>
                      </a:solidFill>
                      <a:prstDash val="solid"/>
                      <a:round/>
                      <a:headEnd type="none" w="med" len="med"/>
                      <a:tailEnd type="none" w="med" len="med"/>
                    </a:lnT>
                    <a:lnB w="6350" cap="flat" cmpd="sng" algn="ctr">
                      <a:solidFill>
                        <a:srgbClr val="2A2F2C"/>
                      </a:solidFill>
                      <a:prstDash val="solid"/>
                      <a:round/>
                      <a:headEnd type="none" w="med" len="med"/>
                      <a:tailEnd type="none" w="med" len="med"/>
                    </a:lnB>
                    <a:solidFill>
                      <a:srgbClr val="06C167"/>
                    </a:solidFill>
                  </a:tcPr>
                </a:tc>
                <a:extLst>
                  <a:ext uri="{0D108BD9-81ED-4DB2-BD59-A6C34878D82A}">
                    <a16:rowId xmlns:a16="http://schemas.microsoft.com/office/drawing/2014/main" val="10000"/>
                  </a:ext>
                </a:extLst>
              </a:tr>
              <a:tr h="566928">
                <a:tc>
                  <a:txBody>
                    <a:bodyPr/>
                    <a:lstStyle/>
                    <a:p>
                      <a:pPr marL="0" indent="0" algn="l">
                        <a:buNone/>
                      </a:pPr>
                      <a:r>
                        <a:rPr lang="en-US" sz="1250" dirty="0">
                          <a:solidFill>
                            <a:srgbClr val="FFFFFF"/>
                          </a:solidFill>
                          <a:latin typeface="Calibri" pitchFamily="34" charset="0"/>
                          <a:ea typeface="Calibri" pitchFamily="34" charset="-122"/>
                          <a:cs typeface="Calibri" pitchFamily="34" charset="-120"/>
                        </a:rPr>
                        <a:t>Weather</a:t>
                      </a:r>
                      <a:endParaRPr lang="en-US" sz="1250" dirty="0">
                        <a:latin typeface="Calibri" charset="0"/>
                        <a:ea typeface="Calibri" charset="0"/>
                        <a:cs typeface="Calibri" charset="0"/>
                      </a:endParaRPr>
                    </a:p>
                  </a:txBody>
                  <a:tcPr anchor="ctr">
                    <a:lnL w="6350" cap="flat" cmpd="sng" algn="ctr">
                      <a:solidFill>
                        <a:srgbClr val="2A2F2C"/>
                      </a:solidFill>
                      <a:prstDash val="solid"/>
                      <a:round/>
                      <a:headEnd type="none" w="med" len="med"/>
                      <a:tailEnd type="none" w="med" len="med"/>
                    </a:lnL>
                    <a:lnR w="6350" cap="flat" cmpd="sng" algn="ctr">
                      <a:solidFill>
                        <a:srgbClr val="2A2F2C"/>
                      </a:solidFill>
                      <a:prstDash val="solid"/>
                      <a:round/>
                      <a:headEnd type="none" w="med" len="med"/>
                      <a:tailEnd type="none" w="med" len="med"/>
                    </a:lnR>
                    <a:lnT w="6350" cap="flat" cmpd="sng" algn="ctr">
                      <a:solidFill>
                        <a:srgbClr val="2A2F2C"/>
                      </a:solidFill>
                      <a:prstDash val="solid"/>
                      <a:round/>
                      <a:headEnd type="none" w="med" len="med"/>
                      <a:tailEnd type="none" w="med" len="med"/>
                    </a:lnT>
                    <a:lnB w="6350" cap="flat" cmpd="sng" algn="ctr">
                      <a:solidFill>
                        <a:srgbClr val="2A2F2C"/>
                      </a:solidFill>
                      <a:prstDash val="solid"/>
                      <a:round/>
                      <a:headEnd type="none" w="med" len="med"/>
                      <a:tailEnd type="none" w="med" len="med"/>
                    </a:lnB>
                    <a:solidFill>
                      <a:srgbClr val="161616"/>
                    </a:solidFill>
                  </a:tcPr>
                </a:tc>
                <a:tc>
                  <a:txBody>
                    <a:bodyPr/>
                    <a:lstStyle/>
                    <a:p>
                      <a:pPr marL="0" indent="0" algn="ctr">
                        <a:buNone/>
                      </a:pPr>
                      <a:r>
                        <a:rPr lang="en-US" sz="1250" dirty="0">
                          <a:solidFill>
                            <a:srgbClr val="FFFFFF"/>
                          </a:solidFill>
                          <a:latin typeface="Calibri" pitchFamily="34" charset="0"/>
                          <a:ea typeface="Calibri" pitchFamily="34" charset="-122"/>
                          <a:cs typeface="Calibri" pitchFamily="34" charset="-120"/>
                        </a:rPr>
                        <a:t>5</a:t>
                      </a:r>
                      <a:endParaRPr lang="en-US" sz="1250" dirty="0">
                        <a:latin typeface="Calibri" charset="0"/>
                        <a:ea typeface="Calibri" charset="0"/>
                        <a:cs typeface="Calibri" charset="0"/>
                      </a:endParaRPr>
                    </a:p>
                  </a:txBody>
                  <a:tcPr anchor="ctr">
                    <a:lnL w="6350" cap="flat" cmpd="sng" algn="ctr">
                      <a:solidFill>
                        <a:srgbClr val="2A2F2C"/>
                      </a:solidFill>
                      <a:prstDash val="solid"/>
                      <a:round/>
                      <a:headEnd type="none" w="med" len="med"/>
                      <a:tailEnd type="none" w="med" len="med"/>
                    </a:lnL>
                    <a:lnR w="6350" cap="flat" cmpd="sng" algn="ctr">
                      <a:solidFill>
                        <a:srgbClr val="2A2F2C"/>
                      </a:solidFill>
                      <a:prstDash val="solid"/>
                      <a:round/>
                      <a:headEnd type="none" w="med" len="med"/>
                      <a:tailEnd type="none" w="med" len="med"/>
                    </a:lnR>
                    <a:lnT w="6350" cap="flat" cmpd="sng" algn="ctr">
                      <a:solidFill>
                        <a:srgbClr val="2A2F2C"/>
                      </a:solidFill>
                      <a:prstDash val="solid"/>
                      <a:round/>
                      <a:headEnd type="none" w="med" len="med"/>
                      <a:tailEnd type="none" w="med" len="med"/>
                    </a:lnT>
                    <a:lnB w="6350" cap="flat" cmpd="sng" algn="ctr">
                      <a:solidFill>
                        <a:srgbClr val="2A2F2C"/>
                      </a:solidFill>
                      <a:prstDash val="solid"/>
                      <a:round/>
                      <a:headEnd type="none" w="med" len="med"/>
                      <a:tailEnd type="none" w="med" len="med"/>
                    </a:lnB>
                    <a:solidFill>
                      <a:srgbClr val="161616"/>
                    </a:solidFill>
                  </a:tcPr>
                </a:tc>
                <a:tc>
                  <a:txBody>
                    <a:bodyPr/>
                    <a:lstStyle/>
                    <a:p>
                      <a:pPr marL="0" indent="0" algn="ctr">
                        <a:buNone/>
                      </a:pPr>
                      <a:r>
                        <a:rPr lang="en-US" sz="1250" dirty="0">
                          <a:solidFill>
                            <a:srgbClr val="FFFFFF"/>
                          </a:solidFill>
                          <a:latin typeface="Calibri" pitchFamily="34" charset="0"/>
                          <a:ea typeface="Calibri" pitchFamily="34" charset="-122"/>
                          <a:cs typeface="Calibri" pitchFamily="34" charset="-120"/>
                        </a:rPr>
                        <a:t>37,05</a:t>
                      </a:r>
                      <a:endParaRPr lang="en-US" sz="1250" dirty="0">
                        <a:latin typeface="Calibri" charset="0"/>
                        <a:ea typeface="Calibri" charset="0"/>
                        <a:cs typeface="Calibri" charset="0"/>
                      </a:endParaRPr>
                    </a:p>
                  </a:txBody>
                  <a:tcPr anchor="ctr">
                    <a:lnL w="6350" cap="flat" cmpd="sng" algn="ctr">
                      <a:solidFill>
                        <a:srgbClr val="2A2F2C"/>
                      </a:solidFill>
                      <a:prstDash val="solid"/>
                      <a:round/>
                      <a:headEnd type="none" w="med" len="med"/>
                      <a:tailEnd type="none" w="med" len="med"/>
                    </a:lnL>
                    <a:lnR w="6350" cap="flat" cmpd="sng" algn="ctr">
                      <a:solidFill>
                        <a:srgbClr val="2A2F2C"/>
                      </a:solidFill>
                      <a:prstDash val="solid"/>
                      <a:round/>
                      <a:headEnd type="none" w="med" len="med"/>
                      <a:tailEnd type="none" w="med" len="med"/>
                    </a:lnR>
                    <a:lnT w="6350" cap="flat" cmpd="sng" algn="ctr">
                      <a:solidFill>
                        <a:srgbClr val="2A2F2C"/>
                      </a:solidFill>
                      <a:prstDash val="solid"/>
                      <a:round/>
                      <a:headEnd type="none" w="med" len="med"/>
                      <a:tailEnd type="none" w="med" len="med"/>
                    </a:lnT>
                    <a:lnB w="6350" cap="flat" cmpd="sng" algn="ctr">
                      <a:solidFill>
                        <a:srgbClr val="2A2F2C"/>
                      </a:solidFill>
                      <a:prstDash val="solid"/>
                      <a:round/>
                      <a:headEnd type="none" w="med" len="med"/>
                      <a:tailEnd type="none" w="med" len="med"/>
                    </a:lnB>
                    <a:solidFill>
                      <a:srgbClr val="161616"/>
                    </a:solidFill>
                  </a:tcPr>
                </a:tc>
                <a:tc>
                  <a:txBody>
                    <a:bodyPr/>
                    <a:lstStyle/>
                    <a:p>
                      <a:pPr marL="0" indent="0" algn="ctr">
                        <a:buNone/>
                      </a:pPr>
                      <a:r>
                        <a:rPr lang="en-US" sz="1250" dirty="0">
                          <a:solidFill>
                            <a:srgbClr val="FFFFFF"/>
                          </a:solidFill>
                          <a:latin typeface="Calibri" pitchFamily="34" charset="0"/>
                          <a:ea typeface="Calibri" pitchFamily="34" charset="-122"/>
                          <a:cs typeface="Calibri" pitchFamily="34" charset="-120"/>
                        </a:rPr>
                        <a:t>&lt; 0,00001</a:t>
                      </a:r>
                      <a:endParaRPr lang="en-US" sz="1250" dirty="0">
                        <a:latin typeface="Calibri" charset="0"/>
                        <a:ea typeface="Calibri" charset="0"/>
                        <a:cs typeface="Calibri" charset="0"/>
                      </a:endParaRPr>
                    </a:p>
                  </a:txBody>
                  <a:tcPr anchor="ctr">
                    <a:lnL w="6350" cap="flat" cmpd="sng" algn="ctr">
                      <a:solidFill>
                        <a:srgbClr val="2A2F2C"/>
                      </a:solidFill>
                      <a:prstDash val="solid"/>
                      <a:round/>
                      <a:headEnd type="none" w="med" len="med"/>
                      <a:tailEnd type="none" w="med" len="med"/>
                    </a:lnL>
                    <a:lnR w="6350" cap="flat" cmpd="sng" algn="ctr">
                      <a:solidFill>
                        <a:srgbClr val="2A2F2C"/>
                      </a:solidFill>
                      <a:prstDash val="solid"/>
                      <a:round/>
                      <a:headEnd type="none" w="med" len="med"/>
                      <a:tailEnd type="none" w="med" len="med"/>
                    </a:lnR>
                    <a:lnT w="6350" cap="flat" cmpd="sng" algn="ctr">
                      <a:solidFill>
                        <a:srgbClr val="2A2F2C"/>
                      </a:solidFill>
                      <a:prstDash val="solid"/>
                      <a:round/>
                      <a:headEnd type="none" w="med" len="med"/>
                      <a:tailEnd type="none" w="med" len="med"/>
                    </a:lnT>
                    <a:lnB w="6350" cap="flat" cmpd="sng" algn="ctr">
                      <a:solidFill>
                        <a:srgbClr val="2A2F2C"/>
                      </a:solidFill>
                      <a:prstDash val="solid"/>
                      <a:round/>
                      <a:headEnd type="none" w="med" len="med"/>
                      <a:tailEnd type="none" w="med" len="med"/>
                    </a:lnB>
                    <a:solidFill>
                      <a:srgbClr val="161616"/>
                    </a:solidFill>
                  </a:tcPr>
                </a:tc>
                <a:tc>
                  <a:txBody>
                    <a:bodyPr/>
                    <a:lstStyle/>
                    <a:p>
                      <a:pPr marL="0" indent="0" algn="ctr">
                        <a:buNone/>
                      </a:pPr>
                      <a:r>
                        <a:rPr lang="en-US" sz="1250" b="1" dirty="0">
                          <a:solidFill>
                            <a:srgbClr val="06C167"/>
                          </a:solidFill>
                          <a:latin typeface="Calibri" pitchFamily="34" charset="0"/>
                          <a:ea typeface="Calibri" pitchFamily="34" charset="-122"/>
                          <a:cs typeface="Calibri" pitchFamily="34" charset="-120"/>
                        </a:rPr>
                        <a:t>Significant</a:t>
                      </a:r>
                      <a:endParaRPr lang="en-US" sz="1250" dirty="0">
                        <a:latin typeface="Calibri" charset="0"/>
                        <a:ea typeface="Calibri" charset="0"/>
                        <a:cs typeface="Calibri" charset="0"/>
                      </a:endParaRPr>
                    </a:p>
                  </a:txBody>
                  <a:tcPr anchor="ctr">
                    <a:lnL w="6350" cap="flat" cmpd="sng" algn="ctr">
                      <a:solidFill>
                        <a:srgbClr val="2A2F2C"/>
                      </a:solidFill>
                      <a:prstDash val="solid"/>
                      <a:round/>
                      <a:headEnd type="none" w="med" len="med"/>
                      <a:tailEnd type="none" w="med" len="med"/>
                    </a:lnL>
                    <a:lnR w="6350" cap="flat" cmpd="sng" algn="ctr">
                      <a:solidFill>
                        <a:srgbClr val="2A2F2C"/>
                      </a:solidFill>
                      <a:prstDash val="solid"/>
                      <a:round/>
                      <a:headEnd type="none" w="med" len="med"/>
                      <a:tailEnd type="none" w="med" len="med"/>
                    </a:lnR>
                    <a:lnT w="6350" cap="flat" cmpd="sng" algn="ctr">
                      <a:solidFill>
                        <a:srgbClr val="2A2F2C"/>
                      </a:solidFill>
                      <a:prstDash val="solid"/>
                      <a:round/>
                      <a:headEnd type="none" w="med" len="med"/>
                      <a:tailEnd type="none" w="med" len="med"/>
                    </a:lnT>
                    <a:lnB w="6350" cap="flat" cmpd="sng" algn="ctr">
                      <a:solidFill>
                        <a:srgbClr val="2A2F2C"/>
                      </a:solidFill>
                      <a:prstDash val="solid"/>
                      <a:round/>
                      <a:headEnd type="none" w="med" len="med"/>
                      <a:tailEnd type="none" w="med" len="med"/>
                    </a:lnB>
                    <a:solidFill>
                      <a:srgbClr val="161616"/>
                    </a:solidFill>
                  </a:tcPr>
                </a:tc>
                <a:extLst>
                  <a:ext uri="{0D108BD9-81ED-4DB2-BD59-A6C34878D82A}">
                    <a16:rowId xmlns:a16="http://schemas.microsoft.com/office/drawing/2014/main" val="10001"/>
                  </a:ext>
                </a:extLst>
              </a:tr>
              <a:tr h="566928">
                <a:tc>
                  <a:txBody>
                    <a:bodyPr/>
                    <a:lstStyle/>
                    <a:p>
                      <a:pPr marL="0" indent="0" algn="l">
                        <a:buNone/>
                      </a:pPr>
                      <a:r>
                        <a:rPr lang="en-US" sz="1250" dirty="0">
                          <a:solidFill>
                            <a:srgbClr val="FFFFFF"/>
                          </a:solidFill>
                          <a:latin typeface="Calibri" pitchFamily="34" charset="0"/>
                          <a:ea typeface="Calibri" pitchFamily="34" charset="-122"/>
                          <a:cs typeface="Calibri" pitchFamily="34" charset="-120"/>
                        </a:rPr>
                        <a:t>Traffic_Level</a:t>
                      </a:r>
                      <a:endParaRPr lang="en-US" sz="1250" dirty="0">
                        <a:latin typeface="Calibri" charset="0"/>
                        <a:ea typeface="Calibri" charset="0"/>
                        <a:cs typeface="Calibri" charset="0"/>
                      </a:endParaRPr>
                    </a:p>
                  </a:txBody>
                  <a:tcPr anchor="ctr">
                    <a:lnL w="6350" cap="flat" cmpd="sng" algn="ctr">
                      <a:solidFill>
                        <a:srgbClr val="2A2F2C"/>
                      </a:solidFill>
                      <a:prstDash val="solid"/>
                      <a:round/>
                      <a:headEnd type="none" w="med" len="med"/>
                      <a:tailEnd type="none" w="med" len="med"/>
                    </a:lnL>
                    <a:lnR w="6350" cap="flat" cmpd="sng" algn="ctr">
                      <a:solidFill>
                        <a:srgbClr val="2A2F2C"/>
                      </a:solidFill>
                      <a:prstDash val="solid"/>
                      <a:round/>
                      <a:headEnd type="none" w="med" len="med"/>
                      <a:tailEnd type="none" w="med" len="med"/>
                    </a:lnR>
                    <a:lnT w="6350" cap="flat" cmpd="sng" algn="ctr">
                      <a:solidFill>
                        <a:srgbClr val="2A2F2C"/>
                      </a:solidFill>
                      <a:prstDash val="solid"/>
                      <a:round/>
                      <a:headEnd type="none" w="med" len="med"/>
                      <a:tailEnd type="none" w="med" len="med"/>
                    </a:lnT>
                    <a:lnB w="6350" cap="flat" cmpd="sng" algn="ctr">
                      <a:solidFill>
                        <a:srgbClr val="2A2F2C"/>
                      </a:solidFill>
                      <a:prstDash val="solid"/>
                      <a:round/>
                      <a:headEnd type="none" w="med" len="med"/>
                      <a:tailEnd type="none" w="med" len="med"/>
                    </a:lnB>
                    <a:solidFill>
                      <a:srgbClr val="0E0E0E"/>
                    </a:solidFill>
                  </a:tcPr>
                </a:tc>
                <a:tc>
                  <a:txBody>
                    <a:bodyPr/>
                    <a:lstStyle/>
                    <a:p>
                      <a:pPr marL="0" indent="0" algn="ctr">
                        <a:buNone/>
                      </a:pPr>
                      <a:r>
                        <a:rPr lang="en-US" sz="1250" dirty="0">
                          <a:solidFill>
                            <a:srgbClr val="FFFFFF"/>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anchor="ctr">
                    <a:lnL w="6350" cap="flat" cmpd="sng" algn="ctr">
                      <a:solidFill>
                        <a:srgbClr val="2A2F2C"/>
                      </a:solidFill>
                      <a:prstDash val="solid"/>
                      <a:round/>
                      <a:headEnd type="none" w="med" len="med"/>
                      <a:tailEnd type="none" w="med" len="med"/>
                    </a:lnL>
                    <a:lnR w="6350" cap="flat" cmpd="sng" algn="ctr">
                      <a:solidFill>
                        <a:srgbClr val="2A2F2C"/>
                      </a:solidFill>
                      <a:prstDash val="solid"/>
                      <a:round/>
                      <a:headEnd type="none" w="med" len="med"/>
                      <a:tailEnd type="none" w="med" len="med"/>
                    </a:lnR>
                    <a:lnT w="6350" cap="flat" cmpd="sng" algn="ctr">
                      <a:solidFill>
                        <a:srgbClr val="2A2F2C"/>
                      </a:solidFill>
                      <a:prstDash val="solid"/>
                      <a:round/>
                      <a:headEnd type="none" w="med" len="med"/>
                      <a:tailEnd type="none" w="med" len="med"/>
                    </a:lnT>
                    <a:lnB w="6350" cap="flat" cmpd="sng" algn="ctr">
                      <a:solidFill>
                        <a:srgbClr val="2A2F2C"/>
                      </a:solidFill>
                      <a:prstDash val="solid"/>
                      <a:round/>
                      <a:headEnd type="none" w="med" len="med"/>
                      <a:tailEnd type="none" w="med" len="med"/>
                    </a:lnB>
                    <a:solidFill>
                      <a:srgbClr val="0E0E0E"/>
                    </a:solidFill>
                  </a:tcPr>
                </a:tc>
                <a:tc>
                  <a:txBody>
                    <a:bodyPr/>
                    <a:lstStyle/>
                    <a:p>
                      <a:pPr marL="0" indent="0" algn="ctr">
                        <a:buNone/>
                      </a:pPr>
                      <a:r>
                        <a:rPr lang="en-US" sz="1250" dirty="0">
                          <a:solidFill>
                            <a:srgbClr val="FFFFFF"/>
                          </a:solidFill>
                          <a:latin typeface="Calibri" pitchFamily="34" charset="0"/>
                          <a:ea typeface="Calibri" pitchFamily="34" charset="-122"/>
                          <a:cs typeface="Calibri" pitchFamily="34" charset="-120"/>
                        </a:rPr>
                        <a:t>37,07</a:t>
                      </a:r>
                      <a:endParaRPr lang="en-US" sz="1250" dirty="0">
                        <a:latin typeface="Calibri" charset="0"/>
                        <a:ea typeface="Calibri" charset="0"/>
                        <a:cs typeface="Calibri" charset="0"/>
                      </a:endParaRPr>
                    </a:p>
                  </a:txBody>
                  <a:tcPr anchor="ctr">
                    <a:lnL w="6350" cap="flat" cmpd="sng" algn="ctr">
                      <a:solidFill>
                        <a:srgbClr val="2A2F2C"/>
                      </a:solidFill>
                      <a:prstDash val="solid"/>
                      <a:round/>
                      <a:headEnd type="none" w="med" len="med"/>
                      <a:tailEnd type="none" w="med" len="med"/>
                    </a:lnL>
                    <a:lnR w="6350" cap="flat" cmpd="sng" algn="ctr">
                      <a:solidFill>
                        <a:srgbClr val="2A2F2C"/>
                      </a:solidFill>
                      <a:prstDash val="solid"/>
                      <a:round/>
                      <a:headEnd type="none" w="med" len="med"/>
                      <a:tailEnd type="none" w="med" len="med"/>
                    </a:lnR>
                    <a:lnT w="6350" cap="flat" cmpd="sng" algn="ctr">
                      <a:solidFill>
                        <a:srgbClr val="2A2F2C"/>
                      </a:solidFill>
                      <a:prstDash val="solid"/>
                      <a:round/>
                      <a:headEnd type="none" w="med" len="med"/>
                      <a:tailEnd type="none" w="med" len="med"/>
                    </a:lnT>
                    <a:lnB w="6350" cap="flat" cmpd="sng" algn="ctr">
                      <a:solidFill>
                        <a:srgbClr val="2A2F2C"/>
                      </a:solidFill>
                      <a:prstDash val="solid"/>
                      <a:round/>
                      <a:headEnd type="none" w="med" len="med"/>
                      <a:tailEnd type="none" w="med" len="med"/>
                    </a:lnB>
                    <a:solidFill>
                      <a:srgbClr val="0E0E0E"/>
                    </a:solidFill>
                  </a:tcPr>
                </a:tc>
                <a:tc>
                  <a:txBody>
                    <a:bodyPr/>
                    <a:lstStyle/>
                    <a:p>
                      <a:pPr marL="0" indent="0" algn="ctr">
                        <a:buNone/>
                      </a:pPr>
                      <a:r>
                        <a:rPr lang="en-US" sz="1250" dirty="0">
                          <a:solidFill>
                            <a:srgbClr val="FFFFFF"/>
                          </a:solidFill>
                          <a:latin typeface="Calibri" pitchFamily="34" charset="0"/>
                          <a:ea typeface="Calibri" pitchFamily="34" charset="-122"/>
                          <a:cs typeface="Calibri" pitchFamily="34" charset="-120"/>
                        </a:rPr>
                        <a:t>&lt; 0,00001</a:t>
                      </a:r>
                      <a:endParaRPr lang="en-US" sz="1250" dirty="0">
                        <a:latin typeface="Calibri" charset="0"/>
                        <a:ea typeface="Calibri" charset="0"/>
                        <a:cs typeface="Calibri" charset="0"/>
                      </a:endParaRPr>
                    </a:p>
                  </a:txBody>
                  <a:tcPr anchor="ctr">
                    <a:lnL w="6350" cap="flat" cmpd="sng" algn="ctr">
                      <a:solidFill>
                        <a:srgbClr val="2A2F2C"/>
                      </a:solidFill>
                      <a:prstDash val="solid"/>
                      <a:round/>
                      <a:headEnd type="none" w="med" len="med"/>
                      <a:tailEnd type="none" w="med" len="med"/>
                    </a:lnL>
                    <a:lnR w="6350" cap="flat" cmpd="sng" algn="ctr">
                      <a:solidFill>
                        <a:srgbClr val="2A2F2C"/>
                      </a:solidFill>
                      <a:prstDash val="solid"/>
                      <a:round/>
                      <a:headEnd type="none" w="med" len="med"/>
                      <a:tailEnd type="none" w="med" len="med"/>
                    </a:lnR>
                    <a:lnT w="6350" cap="flat" cmpd="sng" algn="ctr">
                      <a:solidFill>
                        <a:srgbClr val="2A2F2C"/>
                      </a:solidFill>
                      <a:prstDash val="solid"/>
                      <a:round/>
                      <a:headEnd type="none" w="med" len="med"/>
                      <a:tailEnd type="none" w="med" len="med"/>
                    </a:lnT>
                    <a:lnB w="6350" cap="flat" cmpd="sng" algn="ctr">
                      <a:solidFill>
                        <a:srgbClr val="2A2F2C"/>
                      </a:solidFill>
                      <a:prstDash val="solid"/>
                      <a:round/>
                      <a:headEnd type="none" w="med" len="med"/>
                      <a:tailEnd type="none" w="med" len="med"/>
                    </a:lnB>
                    <a:solidFill>
                      <a:srgbClr val="0E0E0E"/>
                    </a:solidFill>
                  </a:tcPr>
                </a:tc>
                <a:tc>
                  <a:txBody>
                    <a:bodyPr/>
                    <a:lstStyle/>
                    <a:p>
                      <a:pPr marL="0" indent="0" algn="ctr">
                        <a:buNone/>
                      </a:pPr>
                      <a:r>
                        <a:rPr lang="en-US" sz="1250" b="1" dirty="0">
                          <a:solidFill>
                            <a:srgbClr val="06C167"/>
                          </a:solidFill>
                          <a:latin typeface="Calibri" pitchFamily="34" charset="0"/>
                          <a:ea typeface="Calibri" pitchFamily="34" charset="-122"/>
                          <a:cs typeface="Calibri" pitchFamily="34" charset="-120"/>
                        </a:rPr>
                        <a:t>Significant</a:t>
                      </a:r>
                      <a:endParaRPr lang="en-US" sz="1250" dirty="0">
                        <a:latin typeface="Calibri" charset="0"/>
                        <a:ea typeface="Calibri" charset="0"/>
                        <a:cs typeface="Calibri" charset="0"/>
                      </a:endParaRPr>
                    </a:p>
                  </a:txBody>
                  <a:tcPr anchor="ctr">
                    <a:lnL w="6350" cap="flat" cmpd="sng" algn="ctr">
                      <a:solidFill>
                        <a:srgbClr val="2A2F2C"/>
                      </a:solidFill>
                      <a:prstDash val="solid"/>
                      <a:round/>
                      <a:headEnd type="none" w="med" len="med"/>
                      <a:tailEnd type="none" w="med" len="med"/>
                    </a:lnL>
                    <a:lnR w="6350" cap="flat" cmpd="sng" algn="ctr">
                      <a:solidFill>
                        <a:srgbClr val="2A2F2C"/>
                      </a:solidFill>
                      <a:prstDash val="solid"/>
                      <a:round/>
                      <a:headEnd type="none" w="med" len="med"/>
                      <a:tailEnd type="none" w="med" len="med"/>
                    </a:lnR>
                    <a:lnT w="6350" cap="flat" cmpd="sng" algn="ctr">
                      <a:solidFill>
                        <a:srgbClr val="2A2F2C"/>
                      </a:solidFill>
                      <a:prstDash val="solid"/>
                      <a:round/>
                      <a:headEnd type="none" w="med" len="med"/>
                      <a:tailEnd type="none" w="med" len="med"/>
                    </a:lnT>
                    <a:lnB w="6350" cap="flat" cmpd="sng" algn="ctr">
                      <a:solidFill>
                        <a:srgbClr val="2A2F2C"/>
                      </a:solidFill>
                      <a:prstDash val="solid"/>
                      <a:round/>
                      <a:headEnd type="none" w="med" len="med"/>
                      <a:tailEnd type="none" w="med" len="med"/>
                    </a:lnB>
                    <a:solidFill>
                      <a:srgbClr val="0E0E0E"/>
                    </a:solidFill>
                  </a:tcPr>
                </a:tc>
                <a:extLst>
                  <a:ext uri="{0D108BD9-81ED-4DB2-BD59-A6C34878D82A}">
                    <a16:rowId xmlns:a16="http://schemas.microsoft.com/office/drawing/2014/main" val="10002"/>
                  </a:ext>
                </a:extLst>
              </a:tr>
              <a:tr h="566928">
                <a:tc>
                  <a:txBody>
                    <a:bodyPr/>
                    <a:lstStyle/>
                    <a:p>
                      <a:pPr marL="0" indent="0" algn="l">
                        <a:buNone/>
                      </a:pPr>
                      <a:r>
                        <a:rPr lang="en-US" sz="1250" dirty="0">
                          <a:solidFill>
                            <a:srgbClr val="FFFFFF"/>
                          </a:solidFill>
                          <a:latin typeface="Calibri" pitchFamily="34" charset="0"/>
                          <a:ea typeface="Calibri" pitchFamily="34" charset="-122"/>
                          <a:cs typeface="Calibri" pitchFamily="34" charset="-120"/>
                        </a:rPr>
                        <a:t>Vehicle_Type</a:t>
                      </a:r>
                      <a:endParaRPr lang="en-US" sz="1250" dirty="0">
                        <a:latin typeface="Calibri" charset="0"/>
                        <a:ea typeface="Calibri" charset="0"/>
                        <a:cs typeface="Calibri" charset="0"/>
                      </a:endParaRPr>
                    </a:p>
                  </a:txBody>
                  <a:tcPr anchor="ctr">
                    <a:lnL w="6350" cap="flat" cmpd="sng" algn="ctr">
                      <a:solidFill>
                        <a:srgbClr val="2A2F2C"/>
                      </a:solidFill>
                      <a:prstDash val="solid"/>
                      <a:round/>
                      <a:headEnd type="none" w="med" len="med"/>
                      <a:tailEnd type="none" w="med" len="med"/>
                    </a:lnL>
                    <a:lnR w="6350" cap="flat" cmpd="sng" algn="ctr">
                      <a:solidFill>
                        <a:srgbClr val="2A2F2C"/>
                      </a:solidFill>
                      <a:prstDash val="solid"/>
                      <a:round/>
                      <a:headEnd type="none" w="med" len="med"/>
                      <a:tailEnd type="none" w="med" len="med"/>
                    </a:lnR>
                    <a:lnT w="6350" cap="flat" cmpd="sng" algn="ctr">
                      <a:solidFill>
                        <a:srgbClr val="2A2F2C"/>
                      </a:solidFill>
                      <a:prstDash val="solid"/>
                      <a:round/>
                      <a:headEnd type="none" w="med" len="med"/>
                      <a:tailEnd type="none" w="med" len="med"/>
                    </a:lnT>
                    <a:lnB w="6350" cap="flat" cmpd="sng" algn="ctr">
                      <a:solidFill>
                        <a:srgbClr val="2A2F2C"/>
                      </a:solidFill>
                      <a:prstDash val="solid"/>
                      <a:round/>
                      <a:headEnd type="none" w="med" len="med"/>
                      <a:tailEnd type="none" w="med" len="med"/>
                    </a:lnB>
                    <a:solidFill>
                      <a:srgbClr val="161616"/>
                    </a:solidFill>
                  </a:tcPr>
                </a:tc>
                <a:tc>
                  <a:txBody>
                    <a:bodyPr/>
                    <a:lstStyle/>
                    <a:p>
                      <a:pPr marL="0" indent="0" algn="ctr">
                        <a:buNone/>
                      </a:pPr>
                      <a:r>
                        <a:rPr lang="en-US" sz="1250" dirty="0">
                          <a:solidFill>
                            <a:srgbClr val="FFFFFF"/>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anchor="ctr">
                    <a:lnL w="6350" cap="flat" cmpd="sng" algn="ctr">
                      <a:solidFill>
                        <a:srgbClr val="2A2F2C"/>
                      </a:solidFill>
                      <a:prstDash val="solid"/>
                      <a:round/>
                      <a:headEnd type="none" w="med" len="med"/>
                      <a:tailEnd type="none" w="med" len="med"/>
                    </a:lnL>
                    <a:lnR w="6350" cap="flat" cmpd="sng" algn="ctr">
                      <a:solidFill>
                        <a:srgbClr val="2A2F2C"/>
                      </a:solidFill>
                      <a:prstDash val="solid"/>
                      <a:round/>
                      <a:headEnd type="none" w="med" len="med"/>
                      <a:tailEnd type="none" w="med" len="med"/>
                    </a:lnR>
                    <a:lnT w="6350" cap="flat" cmpd="sng" algn="ctr">
                      <a:solidFill>
                        <a:srgbClr val="2A2F2C"/>
                      </a:solidFill>
                      <a:prstDash val="solid"/>
                      <a:round/>
                      <a:headEnd type="none" w="med" len="med"/>
                      <a:tailEnd type="none" w="med" len="med"/>
                    </a:lnT>
                    <a:lnB w="6350" cap="flat" cmpd="sng" algn="ctr">
                      <a:solidFill>
                        <a:srgbClr val="2A2F2C"/>
                      </a:solidFill>
                      <a:prstDash val="solid"/>
                      <a:round/>
                      <a:headEnd type="none" w="med" len="med"/>
                      <a:tailEnd type="none" w="med" len="med"/>
                    </a:lnB>
                    <a:solidFill>
                      <a:srgbClr val="161616"/>
                    </a:solidFill>
                  </a:tcPr>
                </a:tc>
                <a:tc>
                  <a:txBody>
                    <a:bodyPr/>
                    <a:lstStyle/>
                    <a:p>
                      <a:pPr marL="0" indent="0" algn="ctr">
                        <a:buNone/>
                      </a:pPr>
                      <a:r>
                        <a:rPr lang="en-US" sz="1250" dirty="0">
                          <a:solidFill>
                            <a:srgbClr val="FFFFFF"/>
                          </a:solidFill>
                          <a:latin typeface="Calibri" pitchFamily="34" charset="0"/>
                          <a:ea typeface="Calibri" pitchFamily="34" charset="-122"/>
                          <a:cs typeface="Calibri" pitchFamily="34" charset="-120"/>
                        </a:rPr>
                        <a:t>0,99</a:t>
                      </a:r>
                      <a:endParaRPr lang="en-US" sz="1250" dirty="0">
                        <a:latin typeface="Calibri" charset="0"/>
                        <a:ea typeface="Calibri" charset="0"/>
                        <a:cs typeface="Calibri" charset="0"/>
                      </a:endParaRPr>
                    </a:p>
                  </a:txBody>
                  <a:tcPr anchor="ctr">
                    <a:lnL w="6350" cap="flat" cmpd="sng" algn="ctr">
                      <a:solidFill>
                        <a:srgbClr val="2A2F2C"/>
                      </a:solidFill>
                      <a:prstDash val="solid"/>
                      <a:round/>
                      <a:headEnd type="none" w="med" len="med"/>
                      <a:tailEnd type="none" w="med" len="med"/>
                    </a:lnL>
                    <a:lnR w="6350" cap="flat" cmpd="sng" algn="ctr">
                      <a:solidFill>
                        <a:srgbClr val="2A2F2C"/>
                      </a:solidFill>
                      <a:prstDash val="solid"/>
                      <a:round/>
                      <a:headEnd type="none" w="med" len="med"/>
                      <a:tailEnd type="none" w="med" len="med"/>
                    </a:lnR>
                    <a:lnT w="6350" cap="flat" cmpd="sng" algn="ctr">
                      <a:solidFill>
                        <a:srgbClr val="2A2F2C"/>
                      </a:solidFill>
                      <a:prstDash val="solid"/>
                      <a:round/>
                      <a:headEnd type="none" w="med" len="med"/>
                      <a:tailEnd type="none" w="med" len="med"/>
                    </a:lnT>
                    <a:lnB w="6350" cap="flat" cmpd="sng" algn="ctr">
                      <a:solidFill>
                        <a:srgbClr val="2A2F2C"/>
                      </a:solidFill>
                      <a:prstDash val="solid"/>
                      <a:round/>
                      <a:headEnd type="none" w="med" len="med"/>
                      <a:tailEnd type="none" w="med" len="med"/>
                    </a:lnB>
                    <a:solidFill>
                      <a:srgbClr val="161616"/>
                    </a:solidFill>
                  </a:tcPr>
                </a:tc>
                <a:tc>
                  <a:txBody>
                    <a:bodyPr/>
                    <a:lstStyle/>
                    <a:p>
                      <a:pPr marL="0" indent="0" algn="ctr">
                        <a:buNone/>
                      </a:pPr>
                      <a:r>
                        <a:rPr lang="en-US" sz="1250" dirty="0">
                          <a:solidFill>
                            <a:srgbClr val="FFFFFF"/>
                          </a:solidFill>
                          <a:latin typeface="Calibri" pitchFamily="34" charset="0"/>
                          <a:ea typeface="Calibri" pitchFamily="34" charset="-122"/>
                          <a:cs typeface="Calibri" pitchFamily="34" charset="-120"/>
                        </a:rPr>
                        <a:t>0,611</a:t>
                      </a:r>
                      <a:endParaRPr lang="en-US" sz="1250" dirty="0">
                        <a:latin typeface="Calibri" charset="0"/>
                        <a:ea typeface="Calibri" charset="0"/>
                        <a:cs typeface="Calibri" charset="0"/>
                      </a:endParaRPr>
                    </a:p>
                  </a:txBody>
                  <a:tcPr anchor="ctr">
                    <a:lnL w="6350" cap="flat" cmpd="sng" algn="ctr">
                      <a:solidFill>
                        <a:srgbClr val="2A2F2C"/>
                      </a:solidFill>
                      <a:prstDash val="solid"/>
                      <a:round/>
                      <a:headEnd type="none" w="med" len="med"/>
                      <a:tailEnd type="none" w="med" len="med"/>
                    </a:lnL>
                    <a:lnR w="6350" cap="flat" cmpd="sng" algn="ctr">
                      <a:solidFill>
                        <a:srgbClr val="2A2F2C"/>
                      </a:solidFill>
                      <a:prstDash val="solid"/>
                      <a:round/>
                      <a:headEnd type="none" w="med" len="med"/>
                      <a:tailEnd type="none" w="med" len="med"/>
                    </a:lnR>
                    <a:lnT w="6350" cap="flat" cmpd="sng" algn="ctr">
                      <a:solidFill>
                        <a:srgbClr val="2A2F2C"/>
                      </a:solidFill>
                      <a:prstDash val="solid"/>
                      <a:round/>
                      <a:headEnd type="none" w="med" len="med"/>
                      <a:tailEnd type="none" w="med" len="med"/>
                    </a:lnT>
                    <a:lnB w="6350" cap="flat" cmpd="sng" algn="ctr">
                      <a:solidFill>
                        <a:srgbClr val="2A2F2C"/>
                      </a:solidFill>
                      <a:prstDash val="solid"/>
                      <a:round/>
                      <a:headEnd type="none" w="med" len="med"/>
                      <a:tailEnd type="none" w="med" len="med"/>
                    </a:lnB>
                    <a:solidFill>
                      <a:srgbClr val="161616"/>
                    </a:solidFill>
                  </a:tcPr>
                </a:tc>
                <a:tc>
                  <a:txBody>
                    <a:bodyPr/>
                    <a:lstStyle/>
                    <a:p>
                      <a:pPr marL="0" indent="0" algn="ctr">
                        <a:buNone/>
                      </a:pPr>
                      <a:r>
                        <a:rPr lang="en-US" sz="1250" b="1" dirty="0">
                          <a:solidFill>
                            <a:srgbClr val="9AA3A0"/>
                          </a:solidFill>
                          <a:latin typeface="Calibri" pitchFamily="34" charset="0"/>
                          <a:ea typeface="Calibri" pitchFamily="34" charset="-122"/>
                          <a:cs typeface="Calibri" pitchFamily="34" charset="-120"/>
                        </a:rPr>
                        <a:t>Not significant</a:t>
                      </a:r>
                      <a:endParaRPr lang="en-US" sz="1250" dirty="0">
                        <a:latin typeface="Calibri" charset="0"/>
                        <a:ea typeface="Calibri" charset="0"/>
                        <a:cs typeface="Calibri" charset="0"/>
                      </a:endParaRPr>
                    </a:p>
                  </a:txBody>
                  <a:tcPr anchor="ctr">
                    <a:lnL w="6350" cap="flat" cmpd="sng" algn="ctr">
                      <a:solidFill>
                        <a:srgbClr val="2A2F2C"/>
                      </a:solidFill>
                      <a:prstDash val="solid"/>
                      <a:round/>
                      <a:headEnd type="none" w="med" len="med"/>
                      <a:tailEnd type="none" w="med" len="med"/>
                    </a:lnL>
                    <a:lnR w="6350" cap="flat" cmpd="sng" algn="ctr">
                      <a:solidFill>
                        <a:srgbClr val="2A2F2C"/>
                      </a:solidFill>
                      <a:prstDash val="solid"/>
                      <a:round/>
                      <a:headEnd type="none" w="med" len="med"/>
                      <a:tailEnd type="none" w="med" len="med"/>
                    </a:lnR>
                    <a:lnT w="6350" cap="flat" cmpd="sng" algn="ctr">
                      <a:solidFill>
                        <a:srgbClr val="2A2F2C"/>
                      </a:solidFill>
                      <a:prstDash val="solid"/>
                      <a:round/>
                      <a:headEnd type="none" w="med" len="med"/>
                      <a:tailEnd type="none" w="med" len="med"/>
                    </a:lnT>
                    <a:lnB w="6350" cap="flat" cmpd="sng" algn="ctr">
                      <a:solidFill>
                        <a:srgbClr val="2A2F2C"/>
                      </a:solidFill>
                      <a:prstDash val="solid"/>
                      <a:round/>
                      <a:headEnd type="none" w="med" len="med"/>
                      <a:tailEnd type="none" w="med" len="med"/>
                    </a:lnB>
                    <a:solidFill>
                      <a:srgbClr val="161616"/>
                    </a:solidFill>
                  </a:tcPr>
                </a:tc>
                <a:extLst>
                  <a:ext uri="{0D108BD9-81ED-4DB2-BD59-A6C34878D82A}">
                    <a16:rowId xmlns:a16="http://schemas.microsoft.com/office/drawing/2014/main" val="10003"/>
                  </a:ext>
                </a:extLst>
              </a:tr>
              <a:tr h="566928">
                <a:tc>
                  <a:txBody>
                    <a:bodyPr/>
                    <a:lstStyle/>
                    <a:p>
                      <a:pPr marL="0" indent="0" algn="l">
                        <a:buNone/>
                      </a:pPr>
                      <a:r>
                        <a:rPr lang="en-US" sz="1250" dirty="0">
                          <a:solidFill>
                            <a:srgbClr val="FFFFFF"/>
                          </a:solidFill>
                          <a:latin typeface="Calibri" pitchFamily="34" charset="0"/>
                          <a:ea typeface="Calibri" pitchFamily="34" charset="-122"/>
                          <a:cs typeface="Calibri" pitchFamily="34" charset="-120"/>
                        </a:rPr>
                        <a:t>Time_of_Day</a:t>
                      </a:r>
                      <a:endParaRPr lang="en-US" sz="1250" dirty="0">
                        <a:latin typeface="Calibri" charset="0"/>
                        <a:ea typeface="Calibri" charset="0"/>
                        <a:cs typeface="Calibri" charset="0"/>
                      </a:endParaRPr>
                    </a:p>
                  </a:txBody>
                  <a:tcPr anchor="ctr">
                    <a:lnL w="6350" cap="flat" cmpd="sng" algn="ctr">
                      <a:solidFill>
                        <a:srgbClr val="2A2F2C"/>
                      </a:solidFill>
                      <a:prstDash val="solid"/>
                      <a:round/>
                      <a:headEnd type="none" w="med" len="med"/>
                      <a:tailEnd type="none" w="med" len="med"/>
                    </a:lnL>
                    <a:lnR w="6350" cap="flat" cmpd="sng" algn="ctr">
                      <a:solidFill>
                        <a:srgbClr val="2A2F2C"/>
                      </a:solidFill>
                      <a:prstDash val="solid"/>
                      <a:round/>
                      <a:headEnd type="none" w="med" len="med"/>
                      <a:tailEnd type="none" w="med" len="med"/>
                    </a:lnR>
                    <a:lnT w="6350" cap="flat" cmpd="sng" algn="ctr">
                      <a:solidFill>
                        <a:srgbClr val="2A2F2C"/>
                      </a:solidFill>
                      <a:prstDash val="solid"/>
                      <a:round/>
                      <a:headEnd type="none" w="med" len="med"/>
                      <a:tailEnd type="none" w="med" len="med"/>
                    </a:lnT>
                    <a:lnB w="6350" cap="flat" cmpd="sng" algn="ctr">
                      <a:solidFill>
                        <a:srgbClr val="2A2F2C"/>
                      </a:solidFill>
                      <a:prstDash val="solid"/>
                      <a:round/>
                      <a:headEnd type="none" w="med" len="med"/>
                      <a:tailEnd type="none" w="med" len="med"/>
                    </a:lnB>
                    <a:solidFill>
                      <a:srgbClr val="0E0E0E"/>
                    </a:solidFill>
                  </a:tcPr>
                </a:tc>
                <a:tc>
                  <a:txBody>
                    <a:bodyPr/>
                    <a:lstStyle/>
                    <a:p>
                      <a:pPr marL="0" indent="0" algn="ctr">
                        <a:buNone/>
                      </a:pPr>
                      <a:r>
                        <a:rPr lang="en-US" sz="1250" dirty="0">
                          <a:solidFill>
                            <a:srgbClr val="FFFFFF"/>
                          </a:solidFill>
                          <a:latin typeface="Calibri" pitchFamily="34" charset="0"/>
                          <a:ea typeface="Calibri" pitchFamily="34" charset="-122"/>
                          <a:cs typeface="Calibri" pitchFamily="34" charset="-120"/>
                        </a:rPr>
                        <a:t>4</a:t>
                      </a:r>
                      <a:endParaRPr lang="en-US" sz="1250" dirty="0">
                        <a:latin typeface="Calibri" charset="0"/>
                        <a:ea typeface="Calibri" charset="0"/>
                        <a:cs typeface="Calibri" charset="0"/>
                      </a:endParaRPr>
                    </a:p>
                  </a:txBody>
                  <a:tcPr anchor="ctr">
                    <a:lnL w="6350" cap="flat" cmpd="sng" algn="ctr">
                      <a:solidFill>
                        <a:srgbClr val="2A2F2C"/>
                      </a:solidFill>
                      <a:prstDash val="solid"/>
                      <a:round/>
                      <a:headEnd type="none" w="med" len="med"/>
                      <a:tailEnd type="none" w="med" len="med"/>
                    </a:lnL>
                    <a:lnR w="6350" cap="flat" cmpd="sng" algn="ctr">
                      <a:solidFill>
                        <a:srgbClr val="2A2F2C"/>
                      </a:solidFill>
                      <a:prstDash val="solid"/>
                      <a:round/>
                      <a:headEnd type="none" w="med" len="med"/>
                      <a:tailEnd type="none" w="med" len="med"/>
                    </a:lnR>
                    <a:lnT w="6350" cap="flat" cmpd="sng" algn="ctr">
                      <a:solidFill>
                        <a:srgbClr val="2A2F2C"/>
                      </a:solidFill>
                      <a:prstDash val="solid"/>
                      <a:round/>
                      <a:headEnd type="none" w="med" len="med"/>
                      <a:tailEnd type="none" w="med" len="med"/>
                    </a:lnT>
                    <a:lnB w="6350" cap="flat" cmpd="sng" algn="ctr">
                      <a:solidFill>
                        <a:srgbClr val="2A2F2C"/>
                      </a:solidFill>
                      <a:prstDash val="solid"/>
                      <a:round/>
                      <a:headEnd type="none" w="med" len="med"/>
                      <a:tailEnd type="none" w="med" len="med"/>
                    </a:lnB>
                    <a:solidFill>
                      <a:srgbClr val="0E0E0E"/>
                    </a:solidFill>
                  </a:tcPr>
                </a:tc>
                <a:tc>
                  <a:txBody>
                    <a:bodyPr/>
                    <a:lstStyle/>
                    <a:p>
                      <a:pPr marL="0" indent="0" algn="ctr">
                        <a:buNone/>
                      </a:pPr>
                      <a:r>
                        <a:rPr lang="en-US" sz="1250" dirty="0">
                          <a:solidFill>
                            <a:srgbClr val="FFFFFF"/>
                          </a:solidFill>
                          <a:latin typeface="Calibri" pitchFamily="34" charset="0"/>
                          <a:ea typeface="Calibri" pitchFamily="34" charset="-122"/>
                          <a:cs typeface="Calibri" pitchFamily="34" charset="-120"/>
                        </a:rPr>
                        <a:t>0,94</a:t>
                      </a:r>
                      <a:endParaRPr lang="en-US" sz="1250" dirty="0">
                        <a:latin typeface="Calibri" charset="0"/>
                        <a:ea typeface="Calibri" charset="0"/>
                        <a:cs typeface="Calibri" charset="0"/>
                      </a:endParaRPr>
                    </a:p>
                  </a:txBody>
                  <a:tcPr anchor="ctr">
                    <a:lnL w="6350" cap="flat" cmpd="sng" algn="ctr">
                      <a:solidFill>
                        <a:srgbClr val="2A2F2C"/>
                      </a:solidFill>
                      <a:prstDash val="solid"/>
                      <a:round/>
                      <a:headEnd type="none" w="med" len="med"/>
                      <a:tailEnd type="none" w="med" len="med"/>
                    </a:lnL>
                    <a:lnR w="6350" cap="flat" cmpd="sng" algn="ctr">
                      <a:solidFill>
                        <a:srgbClr val="2A2F2C"/>
                      </a:solidFill>
                      <a:prstDash val="solid"/>
                      <a:round/>
                      <a:headEnd type="none" w="med" len="med"/>
                      <a:tailEnd type="none" w="med" len="med"/>
                    </a:lnR>
                    <a:lnT w="6350" cap="flat" cmpd="sng" algn="ctr">
                      <a:solidFill>
                        <a:srgbClr val="2A2F2C"/>
                      </a:solidFill>
                      <a:prstDash val="solid"/>
                      <a:round/>
                      <a:headEnd type="none" w="med" len="med"/>
                      <a:tailEnd type="none" w="med" len="med"/>
                    </a:lnT>
                    <a:lnB w="6350" cap="flat" cmpd="sng" algn="ctr">
                      <a:solidFill>
                        <a:srgbClr val="2A2F2C"/>
                      </a:solidFill>
                      <a:prstDash val="solid"/>
                      <a:round/>
                      <a:headEnd type="none" w="med" len="med"/>
                      <a:tailEnd type="none" w="med" len="med"/>
                    </a:lnB>
                    <a:solidFill>
                      <a:srgbClr val="0E0E0E"/>
                    </a:solidFill>
                  </a:tcPr>
                </a:tc>
                <a:tc>
                  <a:txBody>
                    <a:bodyPr/>
                    <a:lstStyle/>
                    <a:p>
                      <a:pPr marL="0" indent="0" algn="ctr">
                        <a:buNone/>
                      </a:pPr>
                      <a:r>
                        <a:rPr lang="en-US" sz="1250" dirty="0">
                          <a:solidFill>
                            <a:srgbClr val="FFFFFF"/>
                          </a:solidFill>
                          <a:latin typeface="Calibri" pitchFamily="34" charset="0"/>
                          <a:ea typeface="Calibri" pitchFamily="34" charset="-122"/>
                          <a:cs typeface="Calibri" pitchFamily="34" charset="-120"/>
                        </a:rPr>
                        <a:t>0,816</a:t>
                      </a:r>
                      <a:endParaRPr lang="en-US" sz="1250" dirty="0">
                        <a:latin typeface="Calibri" charset="0"/>
                        <a:ea typeface="Calibri" charset="0"/>
                        <a:cs typeface="Calibri" charset="0"/>
                      </a:endParaRPr>
                    </a:p>
                  </a:txBody>
                  <a:tcPr anchor="ctr">
                    <a:lnL w="6350" cap="flat" cmpd="sng" algn="ctr">
                      <a:solidFill>
                        <a:srgbClr val="2A2F2C"/>
                      </a:solidFill>
                      <a:prstDash val="solid"/>
                      <a:round/>
                      <a:headEnd type="none" w="med" len="med"/>
                      <a:tailEnd type="none" w="med" len="med"/>
                    </a:lnL>
                    <a:lnR w="6350" cap="flat" cmpd="sng" algn="ctr">
                      <a:solidFill>
                        <a:srgbClr val="2A2F2C"/>
                      </a:solidFill>
                      <a:prstDash val="solid"/>
                      <a:round/>
                      <a:headEnd type="none" w="med" len="med"/>
                      <a:tailEnd type="none" w="med" len="med"/>
                    </a:lnR>
                    <a:lnT w="6350" cap="flat" cmpd="sng" algn="ctr">
                      <a:solidFill>
                        <a:srgbClr val="2A2F2C"/>
                      </a:solidFill>
                      <a:prstDash val="solid"/>
                      <a:round/>
                      <a:headEnd type="none" w="med" len="med"/>
                      <a:tailEnd type="none" w="med" len="med"/>
                    </a:lnT>
                    <a:lnB w="6350" cap="flat" cmpd="sng" algn="ctr">
                      <a:solidFill>
                        <a:srgbClr val="2A2F2C"/>
                      </a:solidFill>
                      <a:prstDash val="solid"/>
                      <a:round/>
                      <a:headEnd type="none" w="med" len="med"/>
                      <a:tailEnd type="none" w="med" len="med"/>
                    </a:lnB>
                    <a:solidFill>
                      <a:srgbClr val="0E0E0E"/>
                    </a:solidFill>
                  </a:tcPr>
                </a:tc>
                <a:tc>
                  <a:txBody>
                    <a:bodyPr/>
                    <a:lstStyle/>
                    <a:p>
                      <a:pPr marL="0" indent="0" algn="ctr">
                        <a:buNone/>
                      </a:pPr>
                      <a:r>
                        <a:rPr lang="en-US" sz="1250" b="1" dirty="0">
                          <a:solidFill>
                            <a:srgbClr val="9AA3A0"/>
                          </a:solidFill>
                          <a:latin typeface="Calibri" pitchFamily="34" charset="0"/>
                          <a:ea typeface="Calibri" pitchFamily="34" charset="-122"/>
                          <a:cs typeface="Calibri" pitchFamily="34" charset="-120"/>
                        </a:rPr>
                        <a:t>Not significant</a:t>
                      </a:r>
                      <a:endParaRPr lang="en-US" sz="1250" dirty="0">
                        <a:latin typeface="Calibri" charset="0"/>
                        <a:ea typeface="Calibri" charset="0"/>
                        <a:cs typeface="Calibri" charset="0"/>
                      </a:endParaRPr>
                    </a:p>
                  </a:txBody>
                  <a:tcPr anchor="ctr">
                    <a:lnL w="6350" cap="flat" cmpd="sng" algn="ctr">
                      <a:solidFill>
                        <a:srgbClr val="2A2F2C"/>
                      </a:solidFill>
                      <a:prstDash val="solid"/>
                      <a:round/>
                      <a:headEnd type="none" w="med" len="med"/>
                      <a:tailEnd type="none" w="med" len="med"/>
                    </a:lnL>
                    <a:lnR w="6350" cap="flat" cmpd="sng" algn="ctr">
                      <a:solidFill>
                        <a:srgbClr val="2A2F2C"/>
                      </a:solidFill>
                      <a:prstDash val="solid"/>
                      <a:round/>
                      <a:headEnd type="none" w="med" len="med"/>
                      <a:tailEnd type="none" w="med" len="med"/>
                    </a:lnR>
                    <a:lnT w="6350" cap="flat" cmpd="sng" algn="ctr">
                      <a:solidFill>
                        <a:srgbClr val="2A2F2C"/>
                      </a:solidFill>
                      <a:prstDash val="solid"/>
                      <a:round/>
                      <a:headEnd type="none" w="med" len="med"/>
                      <a:tailEnd type="none" w="med" len="med"/>
                    </a:lnT>
                    <a:lnB w="6350" cap="flat" cmpd="sng" algn="ctr">
                      <a:solidFill>
                        <a:srgbClr val="2A2F2C"/>
                      </a:solidFill>
                      <a:prstDash val="solid"/>
                      <a:round/>
                      <a:headEnd type="none" w="med" len="med"/>
                      <a:tailEnd type="none" w="med" len="med"/>
                    </a:lnB>
                    <a:solidFill>
                      <a:srgbClr val="0E0E0E"/>
                    </a:solidFill>
                  </a:tcPr>
                </a:tc>
                <a:extLst>
                  <a:ext uri="{0D108BD9-81ED-4DB2-BD59-A6C34878D82A}">
                    <a16:rowId xmlns:a16="http://schemas.microsoft.com/office/drawing/2014/main" val="10004"/>
                  </a:ext>
                </a:extLst>
              </a:tr>
            </a:tbl>
          </a:graphicData>
        </a:graphic>
      </p:graphicFrame>
      <p:sp>
        <p:nvSpPr>
          <p:cNvPr id="6" name="Shape 3"/>
          <p:cNvSpPr/>
          <p:nvPr/>
        </p:nvSpPr>
        <p:spPr>
          <a:xfrm>
            <a:off x="548640" y="5257800"/>
            <a:ext cx="11109960" cy="960120"/>
          </a:xfrm>
          <a:prstGeom prst="roundRect">
            <a:avLst>
              <a:gd name="adj" fmla="val 6667"/>
            </a:avLst>
          </a:prstGeom>
          <a:solidFill>
            <a:srgbClr val="0D2A1C"/>
          </a:solidFill>
          <a:ln w="12700">
            <a:solidFill>
              <a:srgbClr val="06C167"/>
            </a:solidFill>
            <a:prstDash val="solid"/>
          </a:ln>
        </p:spPr>
      </p:sp>
      <p:sp>
        <p:nvSpPr>
          <p:cNvPr id="7" name="Text 4"/>
          <p:cNvSpPr txBox="1"/>
          <p:nvPr/>
        </p:nvSpPr>
        <p:spPr>
          <a:xfrm>
            <a:off x="822960" y="5394960"/>
            <a:ext cx="10561320" cy="685800"/>
          </a:xfrm>
          <a:prstGeom prst="rect">
            <a:avLst/>
          </a:prstGeom>
          <a:noFill/>
          <a:ln/>
        </p:spPr>
        <p:txBody>
          <a:bodyPr wrap="square" lIns="0" tIns="0" rIns="0" bIns="0" rtlCol="0" anchor="ctr"/>
          <a:lstStyle/>
          <a:p>
            <a:pPr marL="0" indent="0" algn="just">
              <a:lnSpc>
                <a:spcPct val="120000"/>
              </a:lnSpc>
              <a:buNone/>
            </a:pPr>
            <a:r>
              <a:rPr lang="en-US" sz="1250" b="1" dirty="0">
                <a:solidFill>
                  <a:srgbClr val="06C167"/>
                </a:solidFill>
                <a:latin typeface="Calibri" pitchFamily="34" charset="0"/>
                <a:ea typeface="Calibri" pitchFamily="34" charset="-122"/>
                <a:cs typeface="Calibri" pitchFamily="34" charset="-120"/>
              </a:rPr>
              <a:t>Conclusion:  </a:t>
            </a:r>
            <a:r>
              <a:rPr lang="en-US" sz="1250" dirty="0">
                <a:solidFill>
                  <a:srgbClr val="FFFFFF"/>
                </a:solidFill>
                <a:latin typeface="Calibri" pitchFamily="34" charset="0"/>
                <a:ea typeface="Calibri" pitchFamily="34" charset="-122"/>
                <a:cs typeface="Calibri" pitchFamily="34" charset="-120"/>
              </a:rPr>
              <a:t>Only Weather and </a:t>
            </a:r>
            <a:r>
              <a:rPr lang="en-US" sz="1250" dirty="0" err="1">
                <a:solidFill>
                  <a:srgbClr val="FFFFFF"/>
                </a:solidFill>
                <a:latin typeface="Calibri" pitchFamily="34" charset="0"/>
                <a:ea typeface="Calibri" pitchFamily="34" charset="-122"/>
                <a:cs typeface="Calibri" pitchFamily="34" charset="-120"/>
              </a:rPr>
              <a:t>Traffic_Level</a:t>
            </a:r>
            <a:r>
              <a:rPr lang="en-US" sz="1250" dirty="0">
                <a:solidFill>
                  <a:srgbClr val="FFFFFF"/>
                </a:solidFill>
                <a:latin typeface="Calibri" pitchFamily="34" charset="0"/>
                <a:ea typeface="Calibri" pitchFamily="34" charset="-122"/>
                <a:cs typeface="Calibri" pitchFamily="34" charset="-120"/>
              </a:rPr>
              <a:t> have been shown to have a significant effect on delivery time. There is insufficient evidence to conclude that </a:t>
            </a:r>
            <a:r>
              <a:rPr lang="en-US" sz="1250" dirty="0" err="1">
                <a:solidFill>
                  <a:srgbClr val="FFFFFF"/>
                </a:solidFill>
                <a:latin typeface="Calibri" pitchFamily="34" charset="0"/>
                <a:ea typeface="Calibri" pitchFamily="34" charset="-122"/>
                <a:cs typeface="Calibri" pitchFamily="34" charset="-120"/>
              </a:rPr>
              <a:t>Vehicle_Type</a:t>
            </a:r>
            <a:r>
              <a:rPr lang="en-US" sz="1250" dirty="0">
                <a:solidFill>
                  <a:srgbClr val="FFFFFF"/>
                </a:solidFill>
                <a:latin typeface="Calibri" pitchFamily="34" charset="0"/>
                <a:ea typeface="Calibri" pitchFamily="34" charset="-122"/>
                <a:cs typeface="Calibri" pitchFamily="34" charset="-120"/>
              </a:rPr>
              <a:t> and </a:t>
            </a:r>
            <a:r>
              <a:rPr lang="en-US" sz="1250" dirty="0" err="1">
                <a:solidFill>
                  <a:srgbClr val="FFFFFF"/>
                </a:solidFill>
                <a:latin typeface="Calibri" pitchFamily="34" charset="0"/>
                <a:ea typeface="Calibri" pitchFamily="34" charset="-122"/>
                <a:cs typeface="Calibri" pitchFamily="34" charset="-120"/>
              </a:rPr>
              <a:t>Time_of_Day</a:t>
            </a:r>
            <a:r>
              <a:rPr lang="en-US" sz="1250" dirty="0">
                <a:solidFill>
                  <a:srgbClr val="FFFFFF"/>
                </a:solidFill>
                <a:latin typeface="Calibri" pitchFamily="34" charset="0"/>
                <a:ea typeface="Calibri" pitchFamily="34" charset="-122"/>
                <a:cs typeface="Calibri" pitchFamily="34" charset="-120"/>
              </a:rPr>
              <a:t> have an effect.</a:t>
            </a:r>
            <a:endParaRPr lang="en-US" sz="1250" dirty="0"/>
          </a:p>
        </p:txBody>
      </p:sp>
      <p:sp>
        <p:nvSpPr>
          <p:cNvPr id="9" name="Text 6"/>
          <p:cNvSpPr txBox="1"/>
          <p:nvPr/>
        </p:nvSpPr>
        <p:spPr>
          <a:xfrm>
            <a:off x="11185855" y="6473952"/>
            <a:ext cx="457200" cy="274320"/>
          </a:xfrm>
          <a:prstGeom prst="rect">
            <a:avLst/>
          </a:prstGeom>
          <a:noFill/>
          <a:ln/>
        </p:spPr>
        <p:txBody>
          <a:bodyPr wrap="square" lIns="0" tIns="0" rIns="0" bIns="0" rtlCol="0" anchor="ctr"/>
          <a:lstStyle/>
          <a:p>
            <a:pPr marL="0" indent="0" algn="r">
              <a:buNone/>
            </a:pPr>
            <a:r>
              <a:rPr lang="en-US" sz="900" dirty="0">
                <a:solidFill>
                  <a:srgbClr val="5C645F"/>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000000"/>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92608"/>
          </a:xfrm>
          <a:prstGeom prst="rect">
            <a:avLst/>
          </a:prstGeom>
          <a:noFill/>
          <a:ln/>
        </p:spPr>
        <p:txBody>
          <a:bodyPr wrap="square" lIns="0" tIns="0" rIns="0" bIns="0" rtlCol="0" anchor="ctr"/>
          <a:lstStyle/>
          <a:p>
            <a:pPr marL="0" indent="0">
              <a:buNone/>
            </a:pPr>
            <a:r>
              <a:rPr lang="en-US" sz="1200" b="1" kern="0" spc="200" dirty="0">
                <a:solidFill>
                  <a:srgbClr val="06C167"/>
                </a:solidFill>
                <a:latin typeface="Calibri" pitchFamily="34" charset="0"/>
                <a:ea typeface="Calibri" pitchFamily="34" charset="-122"/>
                <a:cs typeface="Calibri" pitchFamily="34" charset="-120"/>
              </a:rPr>
              <a:t>RESULTS</a:t>
            </a:r>
            <a:endParaRPr lang="en-US" sz="1200" dirty="0"/>
          </a:p>
        </p:txBody>
      </p:sp>
      <p:sp>
        <p:nvSpPr>
          <p:cNvPr id="3" name="Text 1"/>
          <p:cNvSpPr txBox="1"/>
          <p:nvPr/>
        </p:nvSpPr>
        <p:spPr>
          <a:xfrm>
            <a:off x="548640" y="658368"/>
            <a:ext cx="10789920" cy="822960"/>
          </a:xfrm>
          <a:prstGeom prst="rect">
            <a:avLst/>
          </a:prstGeom>
          <a:noFill/>
          <a:ln/>
        </p:spPr>
        <p:txBody>
          <a:bodyPr wrap="square" lIns="0" tIns="0" rIns="0" bIns="0" rtlCol="0" anchor="ctr"/>
          <a:lstStyle/>
          <a:p>
            <a:pPr marL="0" indent="0">
              <a:buNone/>
            </a:pPr>
            <a:r>
              <a:rPr lang="en-US" sz="2900" b="1" dirty="0">
                <a:solidFill>
                  <a:srgbClr val="FFFFFF"/>
                </a:solidFill>
                <a:latin typeface="Cambria" pitchFamily="34" charset="0"/>
                <a:ea typeface="Cambria" pitchFamily="34" charset="-122"/>
                <a:cs typeface="Cambria" pitchFamily="34" charset="-120"/>
              </a:rPr>
              <a:t>Effect Size: Just How Powerful Its Effect on Delivery Time?</a:t>
            </a:r>
            <a:endParaRPr lang="en-US" sz="2900" dirty="0"/>
          </a:p>
        </p:txBody>
      </p:sp>
      <p:sp>
        <p:nvSpPr>
          <p:cNvPr id="4" name="Text 2"/>
          <p:cNvSpPr txBox="1"/>
          <p:nvPr/>
        </p:nvSpPr>
        <p:spPr>
          <a:xfrm>
            <a:off x="548640" y="1367028"/>
            <a:ext cx="6949440" cy="685800"/>
          </a:xfrm>
          <a:prstGeom prst="rect">
            <a:avLst/>
          </a:prstGeom>
          <a:noFill/>
          <a:ln/>
        </p:spPr>
        <p:txBody>
          <a:bodyPr wrap="square" lIns="0" tIns="0" rIns="0" bIns="0" rtlCol="0" anchor="ctr"/>
          <a:lstStyle/>
          <a:p>
            <a:pPr marL="0" indent="0" algn="just">
              <a:lnSpc>
                <a:spcPct val="125000"/>
              </a:lnSpc>
              <a:buNone/>
            </a:pPr>
            <a:r>
              <a:rPr lang="en-US" sz="1250" dirty="0">
                <a:solidFill>
                  <a:schemeClr val="bg1"/>
                </a:solidFill>
                <a:latin typeface="Calibri" pitchFamily="34" charset="0"/>
                <a:ea typeface="Calibri" pitchFamily="34" charset="-122"/>
                <a:cs typeface="Calibri" pitchFamily="34" charset="-120"/>
              </a:rPr>
              <a:t>The p-value only indicates whether an effect exists. The effect size (epsilon-squared) indicates how substantial that effect is on the variable being </a:t>
            </a:r>
            <a:r>
              <a:rPr lang="en-US" sz="1250" dirty="0" err="1">
                <a:solidFill>
                  <a:schemeClr val="bg1"/>
                </a:solidFill>
                <a:latin typeface="Calibri" pitchFamily="34" charset="0"/>
                <a:ea typeface="Calibri" pitchFamily="34" charset="-122"/>
                <a:cs typeface="Calibri" pitchFamily="34" charset="-120"/>
              </a:rPr>
              <a:t>analysed</a:t>
            </a:r>
            <a:r>
              <a:rPr lang="en-US" sz="1250" dirty="0">
                <a:solidFill>
                  <a:schemeClr val="bg1"/>
                </a:solidFill>
                <a:latin typeface="Calibri" pitchFamily="34" charset="0"/>
                <a:ea typeface="Calibri" pitchFamily="34" charset="-122"/>
                <a:cs typeface="Calibri" pitchFamily="34" charset="-120"/>
              </a:rPr>
              <a:t>, calculated from the preceding Kruskal–Wallis results.</a:t>
            </a:r>
            <a:endParaRPr lang="en-US" sz="1250" dirty="0">
              <a:solidFill>
                <a:schemeClr val="bg1"/>
              </a:solidFill>
            </a:endParaRPr>
          </a:p>
        </p:txBody>
      </p:sp>
      <p:sp>
        <p:nvSpPr>
          <p:cNvPr id="5" name="Shape 3"/>
          <p:cNvSpPr/>
          <p:nvPr/>
        </p:nvSpPr>
        <p:spPr>
          <a:xfrm>
            <a:off x="548640" y="2148840"/>
            <a:ext cx="6949440" cy="777240"/>
          </a:xfrm>
          <a:prstGeom prst="roundRect">
            <a:avLst>
              <a:gd name="adj" fmla="val 7059"/>
            </a:avLst>
          </a:prstGeom>
          <a:solidFill>
            <a:srgbClr val="161616"/>
          </a:solidFill>
          <a:ln/>
        </p:spPr>
      </p:sp>
      <p:sp>
        <p:nvSpPr>
          <p:cNvPr id="6" name="Text 4"/>
          <p:cNvSpPr txBox="1"/>
          <p:nvPr/>
        </p:nvSpPr>
        <p:spPr>
          <a:xfrm>
            <a:off x="548640" y="2148840"/>
            <a:ext cx="6949440" cy="777240"/>
          </a:xfrm>
          <a:prstGeom prst="rect">
            <a:avLst/>
          </a:prstGeom>
          <a:noFill/>
          <a:ln/>
        </p:spPr>
        <p:txBody>
          <a:bodyPr wrap="square" lIns="0" tIns="0" rIns="0" bIns="0" rtlCol="0" anchor="ctr"/>
          <a:lstStyle/>
          <a:p>
            <a:pPr marL="0" indent="0" algn="ctr">
              <a:buNone/>
            </a:pPr>
            <a:r>
              <a:rPr lang="en-US" sz="2000" b="1" dirty="0">
                <a:solidFill>
                  <a:srgbClr val="06C167"/>
                </a:solidFill>
                <a:latin typeface="Cambria" pitchFamily="34" charset="0"/>
                <a:ea typeface="Cambria" pitchFamily="34" charset="-122"/>
                <a:cs typeface="Cambria" pitchFamily="34" charset="-120"/>
              </a:rPr>
              <a:t>ε²  =  (H − k + 1) / (n − k)</a:t>
            </a:r>
            <a:endParaRPr lang="en-US" sz="2000" dirty="0"/>
          </a:p>
        </p:txBody>
      </p:sp>
      <p:graphicFrame>
        <p:nvGraphicFramePr>
          <p:cNvPr id="12" name="Table 0"/>
          <p:cNvGraphicFramePr>
            <a:graphicFrameLocks noGrp="1"/>
          </p:cNvGraphicFramePr>
          <p:nvPr>
            <p:extLst>
              <p:ext uri="{D42A27DB-BD31-4B8C-83A1-F6EECF244321}">
                <p14:modId xmlns:p14="http://schemas.microsoft.com/office/powerpoint/2010/main" val="788175021"/>
              </p:ext>
            </p:extLst>
          </p:nvPr>
        </p:nvGraphicFramePr>
        <p:xfrm>
          <a:off x="548640" y="3154680"/>
          <a:ext cx="6949440" cy="2514600"/>
        </p:xfrm>
        <a:graphic>
          <a:graphicData uri="http://schemas.openxmlformats.org/drawingml/2006/table">
            <a:tbl>
              <a:tblPr/>
              <a:tblGrid>
                <a:gridCol w="2194560">
                  <a:extLst>
                    <a:ext uri="{9D8B030D-6E8A-4147-A177-3AD203B41FA5}">
                      <a16:colId xmlns:a16="http://schemas.microsoft.com/office/drawing/2014/main" val="20000"/>
                    </a:ext>
                  </a:extLst>
                </a:gridCol>
                <a:gridCol w="150876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tblGrid>
              <a:tr h="502920">
                <a:tc>
                  <a:txBody>
                    <a:bodyPr/>
                    <a:lstStyle/>
                    <a:p>
                      <a:pPr marL="0" indent="0" algn="ctr">
                        <a:buNone/>
                      </a:pPr>
                      <a:r>
                        <a:rPr lang="en-US" sz="1150" b="1" dirty="0">
                          <a:solidFill>
                            <a:srgbClr val="000000"/>
                          </a:solidFill>
                          <a:latin typeface="Calibri" pitchFamily="34" charset="0"/>
                          <a:ea typeface="Calibri" pitchFamily="34" charset="-122"/>
                          <a:cs typeface="Calibri" pitchFamily="34" charset="-120"/>
                        </a:rPr>
                        <a:t>Variables</a:t>
                      </a:r>
                      <a:endParaRPr lang="en-US" sz="1150" dirty="0">
                        <a:latin typeface="Calibri" charset="0"/>
                        <a:ea typeface="Calibri" charset="0"/>
                        <a:cs typeface="Calibri" charset="0"/>
                      </a:endParaRPr>
                    </a:p>
                  </a:txBody>
                  <a:tcPr anchor="ctr">
                    <a:lnL w="6350" cap="flat" cmpd="sng" algn="ctr">
                      <a:solidFill>
                        <a:srgbClr val="2A2F2C"/>
                      </a:solidFill>
                      <a:prstDash val="solid"/>
                      <a:round/>
                      <a:headEnd type="none" w="med" len="med"/>
                      <a:tailEnd type="none" w="med" len="med"/>
                    </a:lnL>
                    <a:lnR w="6350" cap="flat" cmpd="sng" algn="ctr">
                      <a:solidFill>
                        <a:srgbClr val="2A2F2C"/>
                      </a:solidFill>
                      <a:prstDash val="solid"/>
                      <a:round/>
                      <a:headEnd type="none" w="med" len="med"/>
                      <a:tailEnd type="none" w="med" len="med"/>
                    </a:lnR>
                    <a:lnT w="6350" cap="flat" cmpd="sng" algn="ctr">
                      <a:solidFill>
                        <a:srgbClr val="2A2F2C"/>
                      </a:solidFill>
                      <a:prstDash val="solid"/>
                      <a:round/>
                      <a:headEnd type="none" w="med" len="med"/>
                      <a:tailEnd type="none" w="med" len="med"/>
                    </a:lnT>
                    <a:lnB w="6350" cap="flat" cmpd="sng" algn="ctr">
                      <a:solidFill>
                        <a:srgbClr val="2A2F2C"/>
                      </a:solidFill>
                      <a:prstDash val="solid"/>
                      <a:round/>
                      <a:headEnd type="none" w="med" len="med"/>
                      <a:tailEnd type="none" w="med" len="med"/>
                    </a:lnB>
                    <a:solidFill>
                      <a:srgbClr val="06C167"/>
                    </a:solidFill>
                  </a:tcPr>
                </a:tc>
                <a:tc>
                  <a:txBody>
                    <a:bodyPr/>
                    <a:lstStyle/>
                    <a:p>
                      <a:pPr marL="0" indent="0" algn="ctr">
                        <a:buNone/>
                      </a:pPr>
                      <a:r>
                        <a:rPr lang="en-US" sz="1150" b="1" dirty="0">
                          <a:solidFill>
                            <a:srgbClr val="000000"/>
                          </a:solidFill>
                          <a:latin typeface="Calibri" pitchFamily="34" charset="0"/>
                          <a:ea typeface="Calibri" pitchFamily="34" charset="-122"/>
                          <a:cs typeface="Calibri" pitchFamily="34" charset="-120"/>
                        </a:rPr>
                        <a:t>ε²</a:t>
                      </a:r>
                      <a:endParaRPr lang="en-US" sz="1150" dirty="0">
                        <a:latin typeface="Calibri" charset="0"/>
                        <a:ea typeface="Calibri" charset="0"/>
                        <a:cs typeface="Calibri" charset="0"/>
                      </a:endParaRPr>
                    </a:p>
                  </a:txBody>
                  <a:tcPr anchor="ctr">
                    <a:lnL w="6350" cap="flat" cmpd="sng" algn="ctr">
                      <a:solidFill>
                        <a:srgbClr val="2A2F2C"/>
                      </a:solidFill>
                      <a:prstDash val="solid"/>
                      <a:round/>
                      <a:headEnd type="none" w="med" len="med"/>
                      <a:tailEnd type="none" w="med" len="med"/>
                    </a:lnL>
                    <a:lnR w="6350" cap="flat" cmpd="sng" algn="ctr">
                      <a:solidFill>
                        <a:srgbClr val="2A2F2C"/>
                      </a:solidFill>
                      <a:prstDash val="solid"/>
                      <a:round/>
                      <a:headEnd type="none" w="med" len="med"/>
                      <a:tailEnd type="none" w="med" len="med"/>
                    </a:lnR>
                    <a:lnT w="6350" cap="flat" cmpd="sng" algn="ctr">
                      <a:solidFill>
                        <a:srgbClr val="2A2F2C"/>
                      </a:solidFill>
                      <a:prstDash val="solid"/>
                      <a:round/>
                      <a:headEnd type="none" w="med" len="med"/>
                      <a:tailEnd type="none" w="med" len="med"/>
                    </a:lnT>
                    <a:lnB w="6350" cap="flat" cmpd="sng" algn="ctr">
                      <a:solidFill>
                        <a:srgbClr val="2A2F2C"/>
                      </a:solidFill>
                      <a:prstDash val="solid"/>
                      <a:round/>
                      <a:headEnd type="none" w="med" len="med"/>
                      <a:tailEnd type="none" w="med" len="med"/>
                    </a:lnB>
                    <a:solidFill>
                      <a:srgbClr val="06C167"/>
                    </a:solidFill>
                  </a:tcPr>
                </a:tc>
                <a:tc>
                  <a:txBody>
                    <a:bodyPr/>
                    <a:lstStyle/>
                    <a:p>
                      <a:pPr marL="0" indent="0" algn="ctr">
                        <a:buNone/>
                      </a:pPr>
                      <a:r>
                        <a:rPr lang="en-US" sz="1150" b="1" dirty="0">
                          <a:solidFill>
                            <a:srgbClr val="000000"/>
                          </a:solidFill>
                          <a:latin typeface="Calibri" pitchFamily="34" charset="0"/>
                          <a:ea typeface="Calibri" pitchFamily="34" charset="-122"/>
                          <a:cs typeface="Calibri" pitchFamily="34" charset="-120"/>
                        </a:rPr>
                        <a:t>% variance</a:t>
                      </a:r>
                      <a:endParaRPr lang="en-US" sz="1150" dirty="0">
                        <a:latin typeface="Calibri" charset="0"/>
                        <a:ea typeface="Calibri" charset="0"/>
                        <a:cs typeface="Calibri" charset="0"/>
                      </a:endParaRPr>
                    </a:p>
                  </a:txBody>
                  <a:tcPr anchor="ctr">
                    <a:lnL w="6350" cap="flat" cmpd="sng" algn="ctr">
                      <a:solidFill>
                        <a:srgbClr val="2A2F2C"/>
                      </a:solidFill>
                      <a:prstDash val="solid"/>
                      <a:round/>
                      <a:headEnd type="none" w="med" len="med"/>
                      <a:tailEnd type="none" w="med" len="med"/>
                    </a:lnL>
                    <a:lnR w="6350" cap="flat" cmpd="sng" algn="ctr">
                      <a:solidFill>
                        <a:srgbClr val="2A2F2C"/>
                      </a:solidFill>
                      <a:prstDash val="solid"/>
                      <a:round/>
                      <a:headEnd type="none" w="med" len="med"/>
                      <a:tailEnd type="none" w="med" len="med"/>
                    </a:lnR>
                    <a:lnT w="6350" cap="flat" cmpd="sng" algn="ctr">
                      <a:solidFill>
                        <a:srgbClr val="2A2F2C"/>
                      </a:solidFill>
                      <a:prstDash val="solid"/>
                      <a:round/>
                      <a:headEnd type="none" w="med" len="med"/>
                      <a:tailEnd type="none" w="med" len="med"/>
                    </a:lnT>
                    <a:lnB w="6350" cap="flat" cmpd="sng" algn="ctr">
                      <a:solidFill>
                        <a:srgbClr val="2A2F2C"/>
                      </a:solidFill>
                      <a:prstDash val="solid"/>
                      <a:round/>
                      <a:headEnd type="none" w="med" len="med"/>
                      <a:tailEnd type="none" w="med" len="med"/>
                    </a:lnB>
                    <a:solidFill>
                      <a:srgbClr val="06C167"/>
                    </a:solidFill>
                  </a:tcPr>
                </a:tc>
                <a:tc>
                  <a:txBody>
                    <a:bodyPr/>
                    <a:lstStyle/>
                    <a:p>
                      <a:pPr marL="0" indent="0" algn="ctr">
                        <a:buNone/>
                      </a:pPr>
                      <a:r>
                        <a:rPr lang="en-US" sz="1150" b="1" dirty="0">
                          <a:solidFill>
                            <a:srgbClr val="000000"/>
                          </a:solidFill>
                          <a:latin typeface="Calibri" pitchFamily="34" charset="0"/>
                          <a:ea typeface="Calibri" pitchFamily="34" charset="-122"/>
                          <a:cs typeface="Calibri" pitchFamily="34" charset="-120"/>
                        </a:rPr>
                        <a:t>Interpretation</a:t>
                      </a:r>
                      <a:endParaRPr lang="en-US" sz="1150" dirty="0">
                        <a:latin typeface="Calibri" charset="0"/>
                        <a:ea typeface="Calibri" charset="0"/>
                        <a:cs typeface="Calibri" charset="0"/>
                      </a:endParaRPr>
                    </a:p>
                  </a:txBody>
                  <a:tcPr anchor="ctr">
                    <a:lnL w="6350" cap="flat" cmpd="sng" algn="ctr">
                      <a:solidFill>
                        <a:srgbClr val="2A2F2C"/>
                      </a:solidFill>
                      <a:prstDash val="solid"/>
                      <a:round/>
                      <a:headEnd type="none" w="med" len="med"/>
                      <a:tailEnd type="none" w="med" len="med"/>
                    </a:lnL>
                    <a:lnR w="6350" cap="flat" cmpd="sng" algn="ctr">
                      <a:solidFill>
                        <a:srgbClr val="2A2F2C"/>
                      </a:solidFill>
                      <a:prstDash val="solid"/>
                      <a:round/>
                      <a:headEnd type="none" w="med" len="med"/>
                      <a:tailEnd type="none" w="med" len="med"/>
                    </a:lnR>
                    <a:lnT w="6350" cap="flat" cmpd="sng" algn="ctr">
                      <a:solidFill>
                        <a:srgbClr val="2A2F2C"/>
                      </a:solidFill>
                      <a:prstDash val="solid"/>
                      <a:round/>
                      <a:headEnd type="none" w="med" len="med"/>
                      <a:tailEnd type="none" w="med" len="med"/>
                    </a:lnT>
                    <a:lnB w="6350" cap="flat" cmpd="sng" algn="ctr">
                      <a:solidFill>
                        <a:srgbClr val="2A2F2C"/>
                      </a:solidFill>
                      <a:prstDash val="solid"/>
                      <a:round/>
                      <a:headEnd type="none" w="med" len="med"/>
                      <a:tailEnd type="none" w="med" len="med"/>
                    </a:lnB>
                    <a:solidFill>
                      <a:srgbClr val="06C167"/>
                    </a:solidFill>
                  </a:tcPr>
                </a:tc>
                <a:extLst>
                  <a:ext uri="{0D108BD9-81ED-4DB2-BD59-A6C34878D82A}">
                    <a16:rowId xmlns:a16="http://schemas.microsoft.com/office/drawing/2014/main" val="10000"/>
                  </a:ext>
                </a:extLst>
              </a:tr>
              <a:tr h="502920">
                <a:tc>
                  <a:txBody>
                    <a:bodyPr/>
                    <a:lstStyle/>
                    <a:p>
                      <a:pPr marL="0" indent="0" algn="l">
                        <a:buNone/>
                      </a:pPr>
                      <a:r>
                        <a:rPr lang="en-US" sz="1150" dirty="0">
                          <a:solidFill>
                            <a:srgbClr val="FFFFFF"/>
                          </a:solidFill>
                          <a:latin typeface="Calibri" pitchFamily="34" charset="0"/>
                          <a:ea typeface="Calibri" pitchFamily="34" charset="-122"/>
                          <a:cs typeface="Calibri" pitchFamily="34" charset="-120"/>
                        </a:rPr>
                        <a:t>Traffic_Level</a:t>
                      </a:r>
                      <a:endParaRPr lang="en-US" sz="1150" dirty="0">
                        <a:latin typeface="Calibri" charset="0"/>
                        <a:ea typeface="Calibri" charset="0"/>
                        <a:cs typeface="Calibri" charset="0"/>
                      </a:endParaRPr>
                    </a:p>
                  </a:txBody>
                  <a:tcPr anchor="ctr">
                    <a:lnL w="6350" cap="flat" cmpd="sng" algn="ctr">
                      <a:solidFill>
                        <a:srgbClr val="2A2F2C"/>
                      </a:solidFill>
                      <a:prstDash val="solid"/>
                      <a:round/>
                      <a:headEnd type="none" w="med" len="med"/>
                      <a:tailEnd type="none" w="med" len="med"/>
                    </a:lnL>
                    <a:lnR w="6350" cap="flat" cmpd="sng" algn="ctr">
                      <a:solidFill>
                        <a:srgbClr val="2A2F2C"/>
                      </a:solidFill>
                      <a:prstDash val="solid"/>
                      <a:round/>
                      <a:headEnd type="none" w="med" len="med"/>
                      <a:tailEnd type="none" w="med" len="med"/>
                    </a:lnR>
                    <a:lnT w="6350" cap="flat" cmpd="sng" algn="ctr">
                      <a:solidFill>
                        <a:srgbClr val="2A2F2C"/>
                      </a:solidFill>
                      <a:prstDash val="solid"/>
                      <a:round/>
                      <a:headEnd type="none" w="med" len="med"/>
                      <a:tailEnd type="none" w="med" len="med"/>
                    </a:lnT>
                    <a:lnB w="6350" cap="flat" cmpd="sng" algn="ctr">
                      <a:solidFill>
                        <a:srgbClr val="2A2F2C"/>
                      </a:solidFill>
                      <a:prstDash val="solid"/>
                      <a:round/>
                      <a:headEnd type="none" w="med" len="med"/>
                      <a:tailEnd type="none" w="med" len="med"/>
                    </a:lnB>
                    <a:solidFill>
                      <a:srgbClr val="161616"/>
                    </a:solidFill>
                  </a:tcPr>
                </a:tc>
                <a:tc>
                  <a:txBody>
                    <a:bodyPr/>
                    <a:lstStyle/>
                    <a:p>
                      <a:pPr marL="0" indent="0" algn="ctr">
                        <a:buNone/>
                      </a:pPr>
                      <a:r>
                        <a:rPr lang="en-US" sz="1150" dirty="0">
                          <a:solidFill>
                            <a:srgbClr val="FFFFFF"/>
                          </a:solidFill>
                          <a:latin typeface="Calibri" pitchFamily="34" charset="0"/>
                          <a:ea typeface="Calibri" pitchFamily="34" charset="-122"/>
                          <a:cs typeface="Calibri" pitchFamily="34" charset="-120"/>
                        </a:rPr>
                        <a:t>0,0352</a:t>
                      </a:r>
                      <a:endParaRPr lang="en-US" sz="1150" dirty="0">
                        <a:latin typeface="Calibri" charset="0"/>
                        <a:ea typeface="Calibri" charset="0"/>
                        <a:cs typeface="Calibri" charset="0"/>
                      </a:endParaRPr>
                    </a:p>
                  </a:txBody>
                  <a:tcPr anchor="ctr">
                    <a:lnL w="6350" cap="flat" cmpd="sng" algn="ctr">
                      <a:solidFill>
                        <a:srgbClr val="2A2F2C"/>
                      </a:solidFill>
                      <a:prstDash val="solid"/>
                      <a:round/>
                      <a:headEnd type="none" w="med" len="med"/>
                      <a:tailEnd type="none" w="med" len="med"/>
                    </a:lnL>
                    <a:lnR w="6350" cap="flat" cmpd="sng" algn="ctr">
                      <a:solidFill>
                        <a:srgbClr val="2A2F2C"/>
                      </a:solidFill>
                      <a:prstDash val="solid"/>
                      <a:round/>
                      <a:headEnd type="none" w="med" len="med"/>
                      <a:tailEnd type="none" w="med" len="med"/>
                    </a:lnR>
                    <a:lnT w="6350" cap="flat" cmpd="sng" algn="ctr">
                      <a:solidFill>
                        <a:srgbClr val="2A2F2C"/>
                      </a:solidFill>
                      <a:prstDash val="solid"/>
                      <a:round/>
                      <a:headEnd type="none" w="med" len="med"/>
                      <a:tailEnd type="none" w="med" len="med"/>
                    </a:lnT>
                    <a:lnB w="6350" cap="flat" cmpd="sng" algn="ctr">
                      <a:solidFill>
                        <a:srgbClr val="2A2F2C"/>
                      </a:solidFill>
                      <a:prstDash val="solid"/>
                      <a:round/>
                      <a:headEnd type="none" w="med" len="med"/>
                      <a:tailEnd type="none" w="med" len="med"/>
                    </a:lnB>
                    <a:solidFill>
                      <a:srgbClr val="161616"/>
                    </a:solidFill>
                  </a:tcPr>
                </a:tc>
                <a:tc>
                  <a:txBody>
                    <a:bodyPr/>
                    <a:lstStyle/>
                    <a:p>
                      <a:pPr marL="0" indent="0" algn="ctr">
                        <a:buNone/>
                      </a:pPr>
                      <a:r>
                        <a:rPr lang="en-US" sz="1150" dirty="0">
                          <a:solidFill>
                            <a:srgbClr val="FFFFFF"/>
                          </a:solidFill>
                          <a:latin typeface="Calibri" pitchFamily="34" charset="0"/>
                          <a:ea typeface="Calibri" pitchFamily="34" charset="-122"/>
                          <a:cs typeface="Calibri" pitchFamily="34" charset="-120"/>
                        </a:rPr>
                        <a:t>3,5%</a:t>
                      </a:r>
                      <a:endParaRPr lang="en-US" sz="1150" dirty="0">
                        <a:latin typeface="Calibri" charset="0"/>
                        <a:ea typeface="Calibri" charset="0"/>
                        <a:cs typeface="Calibri" charset="0"/>
                      </a:endParaRPr>
                    </a:p>
                  </a:txBody>
                  <a:tcPr anchor="ctr">
                    <a:lnL w="6350" cap="flat" cmpd="sng" algn="ctr">
                      <a:solidFill>
                        <a:srgbClr val="2A2F2C"/>
                      </a:solidFill>
                      <a:prstDash val="solid"/>
                      <a:round/>
                      <a:headEnd type="none" w="med" len="med"/>
                      <a:tailEnd type="none" w="med" len="med"/>
                    </a:lnL>
                    <a:lnR w="6350" cap="flat" cmpd="sng" algn="ctr">
                      <a:solidFill>
                        <a:srgbClr val="2A2F2C"/>
                      </a:solidFill>
                      <a:prstDash val="solid"/>
                      <a:round/>
                      <a:headEnd type="none" w="med" len="med"/>
                      <a:tailEnd type="none" w="med" len="med"/>
                    </a:lnR>
                    <a:lnT w="6350" cap="flat" cmpd="sng" algn="ctr">
                      <a:solidFill>
                        <a:srgbClr val="2A2F2C"/>
                      </a:solidFill>
                      <a:prstDash val="solid"/>
                      <a:round/>
                      <a:headEnd type="none" w="med" len="med"/>
                      <a:tailEnd type="none" w="med" len="med"/>
                    </a:lnT>
                    <a:lnB w="6350" cap="flat" cmpd="sng" algn="ctr">
                      <a:solidFill>
                        <a:srgbClr val="2A2F2C"/>
                      </a:solidFill>
                      <a:prstDash val="solid"/>
                      <a:round/>
                      <a:headEnd type="none" w="med" len="med"/>
                      <a:tailEnd type="none" w="med" len="med"/>
                    </a:lnB>
                    <a:solidFill>
                      <a:srgbClr val="161616"/>
                    </a:solidFill>
                  </a:tcPr>
                </a:tc>
                <a:tc>
                  <a:txBody>
                    <a:bodyPr/>
                    <a:lstStyle/>
                    <a:p>
                      <a:pPr marL="0" indent="0" algn="ctr">
                        <a:buNone/>
                      </a:pPr>
                      <a:r>
                        <a:rPr lang="en-US" sz="1150" b="1" dirty="0">
                          <a:solidFill>
                            <a:srgbClr val="06C167"/>
                          </a:solidFill>
                          <a:latin typeface="Calibri" pitchFamily="34" charset="0"/>
                          <a:ea typeface="Calibri" pitchFamily="34" charset="-122"/>
                          <a:cs typeface="Calibri" pitchFamily="34" charset="-120"/>
                        </a:rPr>
                        <a:t>Weak</a:t>
                      </a:r>
                      <a:endParaRPr lang="en-US" sz="1150" dirty="0">
                        <a:latin typeface="Calibri" charset="0"/>
                        <a:ea typeface="Calibri" charset="0"/>
                        <a:cs typeface="Calibri" charset="0"/>
                      </a:endParaRPr>
                    </a:p>
                  </a:txBody>
                  <a:tcPr anchor="ctr">
                    <a:lnL w="6350" cap="flat" cmpd="sng" algn="ctr">
                      <a:solidFill>
                        <a:srgbClr val="2A2F2C"/>
                      </a:solidFill>
                      <a:prstDash val="solid"/>
                      <a:round/>
                      <a:headEnd type="none" w="med" len="med"/>
                      <a:tailEnd type="none" w="med" len="med"/>
                    </a:lnL>
                    <a:lnR w="6350" cap="flat" cmpd="sng" algn="ctr">
                      <a:solidFill>
                        <a:srgbClr val="2A2F2C"/>
                      </a:solidFill>
                      <a:prstDash val="solid"/>
                      <a:round/>
                      <a:headEnd type="none" w="med" len="med"/>
                      <a:tailEnd type="none" w="med" len="med"/>
                    </a:lnR>
                    <a:lnT w="6350" cap="flat" cmpd="sng" algn="ctr">
                      <a:solidFill>
                        <a:srgbClr val="2A2F2C"/>
                      </a:solidFill>
                      <a:prstDash val="solid"/>
                      <a:round/>
                      <a:headEnd type="none" w="med" len="med"/>
                      <a:tailEnd type="none" w="med" len="med"/>
                    </a:lnT>
                    <a:lnB w="6350" cap="flat" cmpd="sng" algn="ctr">
                      <a:solidFill>
                        <a:srgbClr val="2A2F2C"/>
                      </a:solidFill>
                      <a:prstDash val="solid"/>
                      <a:round/>
                      <a:headEnd type="none" w="med" len="med"/>
                      <a:tailEnd type="none" w="med" len="med"/>
                    </a:lnB>
                    <a:solidFill>
                      <a:srgbClr val="161616"/>
                    </a:solidFill>
                  </a:tcPr>
                </a:tc>
                <a:extLst>
                  <a:ext uri="{0D108BD9-81ED-4DB2-BD59-A6C34878D82A}">
                    <a16:rowId xmlns:a16="http://schemas.microsoft.com/office/drawing/2014/main" val="10001"/>
                  </a:ext>
                </a:extLst>
              </a:tr>
              <a:tr h="502920">
                <a:tc>
                  <a:txBody>
                    <a:bodyPr/>
                    <a:lstStyle/>
                    <a:p>
                      <a:pPr marL="0" indent="0" algn="l">
                        <a:buNone/>
                      </a:pPr>
                      <a:r>
                        <a:rPr lang="en-US" sz="1150" dirty="0">
                          <a:solidFill>
                            <a:srgbClr val="FFFFFF"/>
                          </a:solidFill>
                          <a:latin typeface="Calibri" pitchFamily="34" charset="0"/>
                          <a:ea typeface="Calibri" pitchFamily="34" charset="-122"/>
                          <a:cs typeface="Calibri" pitchFamily="34" charset="-120"/>
                        </a:rPr>
                        <a:t>Weather</a:t>
                      </a:r>
                      <a:endParaRPr lang="en-US" sz="1150" dirty="0">
                        <a:latin typeface="Calibri" charset="0"/>
                        <a:ea typeface="Calibri" charset="0"/>
                        <a:cs typeface="Calibri" charset="0"/>
                      </a:endParaRPr>
                    </a:p>
                  </a:txBody>
                  <a:tcPr anchor="ctr">
                    <a:lnL w="6350" cap="flat" cmpd="sng" algn="ctr">
                      <a:solidFill>
                        <a:srgbClr val="2A2F2C"/>
                      </a:solidFill>
                      <a:prstDash val="solid"/>
                      <a:round/>
                      <a:headEnd type="none" w="med" len="med"/>
                      <a:tailEnd type="none" w="med" len="med"/>
                    </a:lnL>
                    <a:lnR w="6350" cap="flat" cmpd="sng" algn="ctr">
                      <a:solidFill>
                        <a:srgbClr val="2A2F2C"/>
                      </a:solidFill>
                      <a:prstDash val="solid"/>
                      <a:round/>
                      <a:headEnd type="none" w="med" len="med"/>
                      <a:tailEnd type="none" w="med" len="med"/>
                    </a:lnR>
                    <a:lnT w="6350" cap="flat" cmpd="sng" algn="ctr">
                      <a:solidFill>
                        <a:srgbClr val="2A2F2C"/>
                      </a:solidFill>
                      <a:prstDash val="solid"/>
                      <a:round/>
                      <a:headEnd type="none" w="med" len="med"/>
                      <a:tailEnd type="none" w="med" len="med"/>
                    </a:lnT>
                    <a:lnB w="6350" cap="flat" cmpd="sng" algn="ctr">
                      <a:solidFill>
                        <a:srgbClr val="2A2F2C"/>
                      </a:solidFill>
                      <a:prstDash val="solid"/>
                      <a:round/>
                      <a:headEnd type="none" w="med" len="med"/>
                      <a:tailEnd type="none" w="med" len="med"/>
                    </a:lnB>
                    <a:solidFill>
                      <a:srgbClr val="0E0E0E"/>
                    </a:solidFill>
                  </a:tcPr>
                </a:tc>
                <a:tc>
                  <a:txBody>
                    <a:bodyPr/>
                    <a:lstStyle/>
                    <a:p>
                      <a:pPr marL="0" indent="0" algn="ctr">
                        <a:buNone/>
                      </a:pPr>
                      <a:r>
                        <a:rPr lang="en-US" sz="1150" dirty="0">
                          <a:solidFill>
                            <a:srgbClr val="FFFFFF"/>
                          </a:solidFill>
                          <a:latin typeface="Calibri" pitchFamily="34" charset="0"/>
                          <a:ea typeface="Calibri" pitchFamily="34" charset="-122"/>
                          <a:cs typeface="Calibri" pitchFamily="34" charset="-120"/>
                        </a:rPr>
                        <a:t>0,0332</a:t>
                      </a:r>
                      <a:endParaRPr lang="en-US" sz="1150" dirty="0">
                        <a:latin typeface="Calibri" charset="0"/>
                        <a:ea typeface="Calibri" charset="0"/>
                        <a:cs typeface="Calibri" charset="0"/>
                      </a:endParaRPr>
                    </a:p>
                  </a:txBody>
                  <a:tcPr anchor="ctr">
                    <a:lnL w="6350" cap="flat" cmpd="sng" algn="ctr">
                      <a:solidFill>
                        <a:srgbClr val="2A2F2C"/>
                      </a:solidFill>
                      <a:prstDash val="solid"/>
                      <a:round/>
                      <a:headEnd type="none" w="med" len="med"/>
                      <a:tailEnd type="none" w="med" len="med"/>
                    </a:lnL>
                    <a:lnR w="6350" cap="flat" cmpd="sng" algn="ctr">
                      <a:solidFill>
                        <a:srgbClr val="2A2F2C"/>
                      </a:solidFill>
                      <a:prstDash val="solid"/>
                      <a:round/>
                      <a:headEnd type="none" w="med" len="med"/>
                      <a:tailEnd type="none" w="med" len="med"/>
                    </a:lnR>
                    <a:lnT w="6350" cap="flat" cmpd="sng" algn="ctr">
                      <a:solidFill>
                        <a:srgbClr val="2A2F2C"/>
                      </a:solidFill>
                      <a:prstDash val="solid"/>
                      <a:round/>
                      <a:headEnd type="none" w="med" len="med"/>
                      <a:tailEnd type="none" w="med" len="med"/>
                    </a:lnT>
                    <a:lnB w="6350" cap="flat" cmpd="sng" algn="ctr">
                      <a:solidFill>
                        <a:srgbClr val="2A2F2C"/>
                      </a:solidFill>
                      <a:prstDash val="solid"/>
                      <a:round/>
                      <a:headEnd type="none" w="med" len="med"/>
                      <a:tailEnd type="none" w="med" len="med"/>
                    </a:lnB>
                    <a:solidFill>
                      <a:srgbClr val="0E0E0E"/>
                    </a:solidFill>
                  </a:tcPr>
                </a:tc>
                <a:tc>
                  <a:txBody>
                    <a:bodyPr/>
                    <a:lstStyle/>
                    <a:p>
                      <a:pPr marL="0" indent="0" algn="ctr">
                        <a:buNone/>
                      </a:pPr>
                      <a:r>
                        <a:rPr lang="en-US" sz="1150" dirty="0">
                          <a:solidFill>
                            <a:srgbClr val="FFFFFF"/>
                          </a:solidFill>
                          <a:latin typeface="Calibri" pitchFamily="34" charset="0"/>
                          <a:ea typeface="Calibri" pitchFamily="34" charset="-122"/>
                          <a:cs typeface="Calibri" pitchFamily="34" charset="-120"/>
                        </a:rPr>
                        <a:t>3,3%</a:t>
                      </a:r>
                      <a:endParaRPr lang="en-US" sz="1150" dirty="0">
                        <a:latin typeface="Calibri" charset="0"/>
                        <a:ea typeface="Calibri" charset="0"/>
                        <a:cs typeface="Calibri" charset="0"/>
                      </a:endParaRPr>
                    </a:p>
                  </a:txBody>
                  <a:tcPr anchor="ctr">
                    <a:lnL w="6350" cap="flat" cmpd="sng" algn="ctr">
                      <a:solidFill>
                        <a:srgbClr val="2A2F2C"/>
                      </a:solidFill>
                      <a:prstDash val="solid"/>
                      <a:round/>
                      <a:headEnd type="none" w="med" len="med"/>
                      <a:tailEnd type="none" w="med" len="med"/>
                    </a:lnL>
                    <a:lnR w="6350" cap="flat" cmpd="sng" algn="ctr">
                      <a:solidFill>
                        <a:srgbClr val="2A2F2C"/>
                      </a:solidFill>
                      <a:prstDash val="solid"/>
                      <a:round/>
                      <a:headEnd type="none" w="med" len="med"/>
                      <a:tailEnd type="none" w="med" len="med"/>
                    </a:lnR>
                    <a:lnT w="6350" cap="flat" cmpd="sng" algn="ctr">
                      <a:solidFill>
                        <a:srgbClr val="2A2F2C"/>
                      </a:solidFill>
                      <a:prstDash val="solid"/>
                      <a:round/>
                      <a:headEnd type="none" w="med" len="med"/>
                      <a:tailEnd type="none" w="med" len="med"/>
                    </a:lnT>
                    <a:lnB w="6350" cap="flat" cmpd="sng" algn="ctr">
                      <a:solidFill>
                        <a:srgbClr val="2A2F2C"/>
                      </a:solidFill>
                      <a:prstDash val="solid"/>
                      <a:round/>
                      <a:headEnd type="none" w="med" len="med"/>
                      <a:tailEnd type="none" w="med" len="med"/>
                    </a:lnB>
                    <a:solidFill>
                      <a:srgbClr val="0E0E0E"/>
                    </a:solidFill>
                  </a:tcPr>
                </a:tc>
                <a:tc>
                  <a:txBody>
                    <a:bodyPr/>
                    <a:lstStyle/>
                    <a:p>
                      <a:pPr marL="0" indent="0" algn="ctr">
                        <a:buNone/>
                      </a:pPr>
                      <a:r>
                        <a:rPr lang="en-US" sz="1150" b="1" dirty="0">
                          <a:solidFill>
                            <a:srgbClr val="06C167"/>
                          </a:solidFill>
                          <a:latin typeface="Calibri" pitchFamily="34" charset="0"/>
                          <a:ea typeface="Calibri" pitchFamily="34" charset="-122"/>
                          <a:cs typeface="Calibri" pitchFamily="34" charset="-120"/>
                        </a:rPr>
                        <a:t>Weak</a:t>
                      </a:r>
                      <a:endParaRPr lang="en-US" sz="1150" dirty="0">
                        <a:latin typeface="Calibri" charset="0"/>
                        <a:ea typeface="Calibri" charset="0"/>
                        <a:cs typeface="Calibri" charset="0"/>
                      </a:endParaRPr>
                    </a:p>
                  </a:txBody>
                  <a:tcPr anchor="ctr">
                    <a:lnL w="6350" cap="flat" cmpd="sng" algn="ctr">
                      <a:solidFill>
                        <a:srgbClr val="2A2F2C"/>
                      </a:solidFill>
                      <a:prstDash val="solid"/>
                      <a:round/>
                      <a:headEnd type="none" w="med" len="med"/>
                      <a:tailEnd type="none" w="med" len="med"/>
                    </a:lnL>
                    <a:lnR w="6350" cap="flat" cmpd="sng" algn="ctr">
                      <a:solidFill>
                        <a:srgbClr val="2A2F2C"/>
                      </a:solidFill>
                      <a:prstDash val="solid"/>
                      <a:round/>
                      <a:headEnd type="none" w="med" len="med"/>
                      <a:tailEnd type="none" w="med" len="med"/>
                    </a:lnR>
                    <a:lnT w="6350" cap="flat" cmpd="sng" algn="ctr">
                      <a:solidFill>
                        <a:srgbClr val="2A2F2C"/>
                      </a:solidFill>
                      <a:prstDash val="solid"/>
                      <a:round/>
                      <a:headEnd type="none" w="med" len="med"/>
                      <a:tailEnd type="none" w="med" len="med"/>
                    </a:lnT>
                    <a:lnB w="6350" cap="flat" cmpd="sng" algn="ctr">
                      <a:solidFill>
                        <a:srgbClr val="2A2F2C"/>
                      </a:solidFill>
                      <a:prstDash val="solid"/>
                      <a:round/>
                      <a:headEnd type="none" w="med" len="med"/>
                      <a:tailEnd type="none" w="med" len="med"/>
                    </a:lnB>
                    <a:solidFill>
                      <a:srgbClr val="0E0E0E"/>
                    </a:solidFill>
                  </a:tcPr>
                </a:tc>
                <a:extLst>
                  <a:ext uri="{0D108BD9-81ED-4DB2-BD59-A6C34878D82A}">
                    <a16:rowId xmlns:a16="http://schemas.microsoft.com/office/drawing/2014/main" val="10002"/>
                  </a:ext>
                </a:extLst>
              </a:tr>
              <a:tr h="502920">
                <a:tc>
                  <a:txBody>
                    <a:bodyPr/>
                    <a:lstStyle/>
                    <a:p>
                      <a:pPr marL="0" indent="0" algn="l">
                        <a:buNone/>
                      </a:pPr>
                      <a:r>
                        <a:rPr lang="en-US" sz="1150" dirty="0">
                          <a:solidFill>
                            <a:srgbClr val="FFFFFF"/>
                          </a:solidFill>
                          <a:latin typeface="Calibri" pitchFamily="34" charset="0"/>
                          <a:ea typeface="Calibri" pitchFamily="34" charset="-122"/>
                          <a:cs typeface="Calibri" pitchFamily="34" charset="-120"/>
                        </a:rPr>
                        <a:t>Vehicle_Type</a:t>
                      </a:r>
                      <a:endParaRPr lang="en-US" sz="1150" dirty="0">
                        <a:latin typeface="Calibri" charset="0"/>
                        <a:ea typeface="Calibri" charset="0"/>
                        <a:cs typeface="Calibri" charset="0"/>
                      </a:endParaRPr>
                    </a:p>
                  </a:txBody>
                  <a:tcPr anchor="ctr">
                    <a:lnL w="6350" cap="flat" cmpd="sng" algn="ctr">
                      <a:solidFill>
                        <a:srgbClr val="2A2F2C"/>
                      </a:solidFill>
                      <a:prstDash val="solid"/>
                      <a:round/>
                      <a:headEnd type="none" w="med" len="med"/>
                      <a:tailEnd type="none" w="med" len="med"/>
                    </a:lnL>
                    <a:lnR w="6350" cap="flat" cmpd="sng" algn="ctr">
                      <a:solidFill>
                        <a:srgbClr val="2A2F2C"/>
                      </a:solidFill>
                      <a:prstDash val="solid"/>
                      <a:round/>
                      <a:headEnd type="none" w="med" len="med"/>
                      <a:tailEnd type="none" w="med" len="med"/>
                    </a:lnR>
                    <a:lnT w="6350" cap="flat" cmpd="sng" algn="ctr">
                      <a:solidFill>
                        <a:srgbClr val="2A2F2C"/>
                      </a:solidFill>
                      <a:prstDash val="solid"/>
                      <a:round/>
                      <a:headEnd type="none" w="med" len="med"/>
                      <a:tailEnd type="none" w="med" len="med"/>
                    </a:lnT>
                    <a:lnB w="6350" cap="flat" cmpd="sng" algn="ctr">
                      <a:solidFill>
                        <a:srgbClr val="2A2F2C"/>
                      </a:solidFill>
                      <a:prstDash val="solid"/>
                      <a:round/>
                      <a:headEnd type="none" w="med" len="med"/>
                      <a:tailEnd type="none" w="med" len="med"/>
                    </a:lnB>
                    <a:solidFill>
                      <a:srgbClr val="161616"/>
                    </a:solidFill>
                  </a:tcPr>
                </a:tc>
                <a:tc>
                  <a:txBody>
                    <a:bodyPr/>
                    <a:lstStyle/>
                    <a:p>
                      <a:pPr marL="0" indent="0" algn="ctr">
                        <a:buNone/>
                      </a:pPr>
                      <a:r>
                        <a:rPr lang="en-US" sz="1150" dirty="0">
                          <a:solidFill>
                            <a:srgbClr val="FFFFFF"/>
                          </a:solidFill>
                          <a:latin typeface="Calibri" pitchFamily="34" charset="0"/>
                          <a:ea typeface="Calibri" pitchFamily="34" charset="-122"/>
                          <a:cs typeface="Calibri" pitchFamily="34" charset="-120"/>
                        </a:rPr>
                        <a:t>≈ 0</a:t>
                      </a:r>
                      <a:endParaRPr lang="en-US" sz="1150" dirty="0">
                        <a:latin typeface="Calibri" charset="0"/>
                        <a:ea typeface="Calibri" charset="0"/>
                        <a:cs typeface="Calibri" charset="0"/>
                      </a:endParaRPr>
                    </a:p>
                  </a:txBody>
                  <a:tcPr anchor="ctr">
                    <a:lnL w="6350" cap="flat" cmpd="sng" algn="ctr">
                      <a:solidFill>
                        <a:srgbClr val="2A2F2C"/>
                      </a:solidFill>
                      <a:prstDash val="solid"/>
                      <a:round/>
                      <a:headEnd type="none" w="med" len="med"/>
                      <a:tailEnd type="none" w="med" len="med"/>
                    </a:lnL>
                    <a:lnR w="6350" cap="flat" cmpd="sng" algn="ctr">
                      <a:solidFill>
                        <a:srgbClr val="2A2F2C"/>
                      </a:solidFill>
                      <a:prstDash val="solid"/>
                      <a:round/>
                      <a:headEnd type="none" w="med" len="med"/>
                      <a:tailEnd type="none" w="med" len="med"/>
                    </a:lnR>
                    <a:lnT w="6350" cap="flat" cmpd="sng" algn="ctr">
                      <a:solidFill>
                        <a:srgbClr val="2A2F2C"/>
                      </a:solidFill>
                      <a:prstDash val="solid"/>
                      <a:round/>
                      <a:headEnd type="none" w="med" len="med"/>
                      <a:tailEnd type="none" w="med" len="med"/>
                    </a:lnT>
                    <a:lnB w="6350" cap="flat" cmpd="sng" algn="ctr">
                      <a:solidFill>
                        <a:srgbClr val="2A2F2C"/>
                      </a:solidFill>
                      <a:prstDash val="solid"/>
                      <a:round/>
                      <a:headEnd type="none" w="med" len="med"/>
                      <a:tailEnd type="none" w="med" len="med"/>
                    </a:lnB>
                    <a:solidFill>
                      <a:srgbClr val="161616"/>
                    </a:solidFill>
                  </a:tcPr>
                </a:tc>
                <a:tc>
                  <a:txBody>
                    <a:bodyPr/>
                    <a:lstStyle/>
                    <a:p>
                      <a:pPr marL="0" indent="0" algn="ctr">
                        <a:buNone/>
                      </a:pPr>
                      <a:r>
                        <a:rPr lang="en-US" sz="1150" dirty="0">
                          <a:solidFill>
                            <a:srgbClr val="FFFFFF"/>
                          </a:solidFill>
                          <a:latin typeface="Calibri" pitchFamily="34" charset="0"/>
                          <a:ea typeface="Calibri" pitchFamily="34" charset="-122"/>
                          <a:cs typeface="Calibri" pitchFamily="34" charset="-120"/>
                        </a:rPr>
                        <a:t>≈ 0%</a:t>
                      </a:r>
                      <a:endParaRPr lang="en-US" sz="1150" dirty="0">
                        <a:latin typeface="Calibri" charset="0"/>
                        <a:ea typeface="Calibri" charset="0"/>
                        <a:cs typeface="Calibri" charset="0"/>
                      </a:endParaRPr>
                    </a:p>
                  </a:txBody>
                  <a:tcPr anchor="ctr">
                    <a:lnL w="6350" cap="flat" cmpd="sng" algn="ctr">
                      <a:solidFill>
                        <a:srgbClr val="2A2F2C"/>
                      </a:solidFill>
                      <a:prstDash val="solid"/>
                      <a:round/>
                      <a:headEnd type="none" w="med" len="med"/>
                      <a:tailEnd type="none" w="med" len="med"/>
                    </a:lnL>
                    <a:lnR w="6350" cap="flat" cmpd="sng" algn="ctr">
                      <a:solidFill>
                        <a:srgbClr val="2A2F2C"/>
                      </a:solidFill>
                      <a:prstDash val="solid"/>
                      <a:round/>
                      <a:headEnd type="none" w="med" len="med"/>
                      <a:tailEnd type="none" w="med" len="med"/>
                    </a:lnR>
                    <a:lnT w="6350" cap="flat" cmpd="sng" algn="ctr">
                      <a:solidFill>
                        <a:srgbClr val="2A2F2C"/>
                      </a:solidFill>
                      <a:prstDash val="solid"/>
                      <a:round/>
                      <a:headEnd type="none" w="med" len="med"/>
                      <a:tailEnd type="none" w="med" len="med"/>
                    </a:lnT>
                    <a:lnB w="6350" cap="flat" cmpd="sng" algn="ctr">
                      <a:solidFill>
                        <a:srgbClr val="2A2F2C"/>
                      </a:solidFill>
                      <a:prstDash val="solid"/>
                      <a:round/>
                      <a:headEnd type="none" w="med" len="med"/>
                      <a:tailEnd type="none" w="med" len="med"/>
                    </a:lnB>
                    <a:solidFill>
                      <a:srgbClr val="161616"/>
                    </a:solidFill>
                  </a:tcPr>
                </a:tc>
                <a:tc>
                  <a:txBody>
                    <a:bodyPr/>
                    <a:lstStyle/>
                    <a:p>
                      <a:pPr marL="0" indent="0" algn="ctr">
                        <a:buNone/>
                      </a:pPr>
                      <a:r>
                        <a:rPr lang="en-US" sz="1150" b="1" dirty="0">
                          <a:solidFill>
                            <a:srgbClr val="9AA3A0"/>
                          </a:solidFill>
                          <a:latin typeface="Calibri" pitchFamily="34" charset="0"/>
                          <a:ea typeface="Calibri" pitchFamily="34" charset="-122"/>
                          <a:cs typeface="Calibri" pitchFamily="34" charset="-120"/>
                        </a:rPr>
                        <a:t>Very Weak</a:t>
                      </a:r>
                      <a:endParaRPr lang="en-US" sz="1150" dirty="0">
                        <a:latin typeface="Calibri" charset="0"/>
                        <a:ea typeface="Calibri" charset="0"/>
                        <a:cs typeface="Calibri" charset="0"/>
                      </a:endParaRPr>
                    </a:p>
                  </a:txBody>
                  <a:tcPr anchor="ctr">
                    <a:lnL w="6350" cap="flat" cmpd="sng" algn="ctr">
                      <a:solidFill>
                        <a:srgbClr val="2A2F2C"/>
                      </a:solidFill>
                      <a:prstDash val="solid"/>
                      <a:round/>
                      <a:headEnd type="none" w="med" len="med"/>
                      <a:tailEnd type="none" w="med" len="med"/>
                    </a:lnL>
                    <a:lnR w="6350" cap="flat" cmpd="sng" algn="ctr">
                      <a:solidFill>
                        <a:srgbClr val="2A2F2C"/>
                      </a:solidFill>
                      <a:prstDash val="solid"/>
                      <a:round/>
                      <a:headEnd type="none" w="med" len="med"/>
                      <a:tailEnd type="none" w="med" len="med"/>
                    </a:lnR>
                    <a:lnT w="6350" cap="flat" cmpd="sng" algn="ctr">
                      <a:solidFill>
                        <a:srgbClr val="2A2F2C"/>
                      </a:solidFill>
                      <a:prstDash val="solid"/>
                      <a:round/>
                      <a:headEnd type="none" w="med" len="med"/>
                      <a:tailEnd type="none" w="med" len="med"/>
                    </a:lnT>
                    <a:lnB w="6350" cap="flat" cmpd="sng" algn="ctr">
                      <a:solidFill>
                        <a:srgbClr val="2A2F2C"/>
                      </a:solidFill>
                      <a:prstDash val="solid"/>
                      <a:round/>
                      <a:headEnd type="none" w="med" len="med"/>
                      <a:tailEnd type="none" w="med" len="med"/>
                    </a:lnB>
                    <a:solidFill>
                      <a:srgbClr val="161616"/>
                    </a:solidFill>
                  </a:tcPr>
                </a:tc>
                <a:extLst>
                  <a:ext uri="{0D108BD9-81ED-4DB2-BD59-A6C34878D82A}">
                    <a16:rowId xmlns:a16="http://schemas.microsoft.com/office/drawing/2014/main" val="10003"/>
                  </a:ext>
                </a:extLst>
              </a:tr>
              <a:tr h="502920">
                <a:tc>
                  <a:txBody>
                    <a:bodyPr/>
                    <a:lstStyle/>
                    <a:p>
                      <a:pPr marL="0" indent="0" algn="l">
                        <a:buNone/>
                      </a:pPr>
                      <a:r>
                        <a:rPr lang="en-US" sz="1150" dirty="0">
                          <a:solidFill>
                            <a:srgbClr val="FFFFFF"/>
                          </a:solidFill>
                          <a:latin typeface="Calibri" pitchFamily="34" charset="0"/>
                          <a:ea typeface="Calibri" pitchFamily="34" charset="-122"/>
                          <a:cs typeface="Calibri" pitchFamily="34" charset="-120"/>
                        </a:rPr>
                        <a:t>Time_of_Day</a:t>
                      </a:r>
                      <a:endParaRPr lang="en-US" sz="1150" dirty="0">
                        <a:latin typeface="Calibri" charset="0"/>
                        <a:ea typeface="Calibri" charset="0"/>
                        <a:cs typeface="Calibri" charset="0"/>
                      </a:endParaRPr>
                    </a:p>
                  </a:txBody>
                  <a:tcPr anchor="ctr">
                    <a:lnL w="6350" cap="flat" cmpd="sng" algn="ctr">
                      <a:solidFill>
                        <a:srgbClr val="2A2F2C"/>
                      </a:solidFill>
                      <a:prstDash val="solid"/>
                      <a:round/>
                      <a:headEnd type="none" w="med" len="med"/>
                      <a:tailEnd type="none" w="med" len="med"/>
                    </a:lnL>
                    <a:lnR w="6350" cap="flat" cmpd="sng" algn="ctr">
                      <a:solidFill>
                        <a:srgbClr val="2A2F2C"/>
                      </a:solidFill>
                      <a:prstDash val="solid"/>
                      <a:round/>
                      <a:headEnd type="none" w="med" len="med"/>
                      <a:tailEnd type="none" w="med" len="med"/>
                    </a:lnR>
                    <a:lnT w="6350" cap="flat" cmpd="sng" algn="ctr">
                      <a:solidFill>
                        <a:srgbClr val="2A2F2C"/>
                      </a:solidFill>
                      <a:prstDash val="solid"/>
                      <a:round/>
                      <a:headEnd type="none" w="med" len="med"/>
                      <a:tailEnd type="none" w="med" len="med"/>
                    </a:lnT>
                    <a:lnB w="6350" cap="flat" cmpd="sng" algn="ctr">
                      <a:solidFill>
                        <a:srgbClr val="2A2F2C"/>
                      </a:solidFill>
                      <a:prstDash val="solid"/>
                      <a:round/>
                      <a:headEnd type="none" w="med" len="med"/>
                      <a:tailEnd type="none" w="med" len="med"/>
                    </a:lnB>
                    <a:solidFill>
                      <a:srgbClr val="0E0E0E"/>
                    </a:solidFill>
                  </a:tcPr>
                </a:tc>
                <a:tc>
                  <a:txBody>
                    <a:bodyPr/>
                    <a:lstStyle/>
                    <a:p>
                      <a:pPr marL="0" indent="0" algn="ctr">
                        <a:buNone/>
                      </a:pPr>
                      <a:r>
                        <a:rPr lang="en-US" sz="1150" dirty="0">
                          <a:solidFill>
                            <a:srgbClr val="FFFFFF"/>
                          </a:solidFill>
                          <a:latin typeface="Calibri" pitchFamily="34" charset="0"/>
                          <a:ea typeface="Calibri" pitchFamily="34" charset="-122"/>
                          <a:cs typeface="Calibri" pitchFamily="34" charset="-120"/>
                        </a:rPr>
                        <a:t>≈ 0</a:t>
                      </a:r>
                      <a:endParaRPr lang="en-US" sz="1150" dirty="0">
                        <a:latin typeface="Calibri" charset="0"/>
                        <a:ea typeface="Calibri" charset="0"/>
                        <a:cs typeface="Calibri" charset="0"/>
                      </a:endParaRPr>
                    </a:p>
                  </a:txBody>
                  <a:tcPr anchor="ctr">
                    <a:lnL w="6350" cap="flat" cmpd="sng" algn="ctr">
                      <a:solidFill>
                        <a:srgbClr val="2A2F2C"/>
                      </a:solidFill>
                      <a:prstDash val="solid"/>
                      <a:round/>
                      <a:headEnd type="none" w="med" len="med"/>
                      <a:tailEnd type="none" w="med" len="med"/>
                    </a:lnL>
                    <a:lnR w="6350" cap="flat" cmpd="sng" algn="ctr">
                      <a:solidFill>
                        <a:srgbClr val="2A2F2C"/>
                      </a:solidFill>
                      <a:prstDash val="solid"/>
                      <a:round/>
                      <a:headEnd type="none" w="med" len="med"/>
                      <a:tailEnd type="none" w="med" len="med"/>
                    </a:lnR>
                    <a:lnT w="6350" cap="flat" cmpd="sng" algn="ctr">
                      <a:solidFill>
                        <a:srgbClr val="2A2F2C"/>
                      </a:solidFill>
                      <a:prstDash val="solid"/>
                      <a:round/>
                      <a:headEnd type="none" w="med" len="med"/>
                      <a:tailEnd type="none" w="med" len="med"/>
                    </a:lnT>
                    <a:lnB w="6350" cap="flat" cmpd="sng" algn="ctr">
                      <a:solidFill>
                        <a:srgbClr val="2A2F2C"/>
                      </a:solidFill>
                      <a:prstDash val="solid"/>
                      <a:round/>
                      <a:headEnd type="none" w="med" len="med"/>
                      <a:tailEnd type="none" w="med" len="med"/>
                    </a:lnB>
                    <a:solidFill>
                      <a:srgbClr val="0E0E0E"/>
                    </a:solidFill>
                  </a:tcPr>
                </a:tc>
                <a:tc>
                  <a:txBody>
                    <a:bodyPr/>
                    <a:lstStyle/>
                    <a:p>
                      <a:pPr marL="0" indent="0" algn="ctr">
                        <a:buNone/>
                      </a:pPr>
                      <a:r>
                        <a:rPr lang="en-US" sz="1150" dirty="0">
                          <a:solidFill>
                            <a:srgbClr val="FFFFFF"/>
                          </a:solidFill>
                          <a:latin typeface="Calibri" pitchFamily="34" charset="0"/>
                          <a:ea typeface="Calibri" pitchFamily="34" charset="-122"/>
                          <a:cs typeface="Calibri" pitchFamily="34" charset="-120"/>
                        </a:rPr>
                        <a:t>≈ 0%</a:t>
                      </a:r>
                      <a:endParaRPr lang="en-US" sz="1150" dirty="0">
                        <a:latin typeface="Calibri" charset="0"/>
                        <a:ea typeface="Calibri" charset="0"/>
                        <a:cs typeface="Calibri" charset="0"/>
                      </a:endParaRPr>
                    </a:p>
                  </a:txBody>
                  <a:tcPr anchor="ctr">
                    <a:lnL w="6350" cap="flat" cmpd="sng" algn="ctr">
                      <a:solidFill>
                        <a:srgbClr val="2A2F2C"/>
                      </a:solidFill>
                      <a:prstDash val="solid"/>
                      <a:round/>
                      <a:headEnd type="none" w="med" len="med"/>
                      <a:tailEnd type="none" w="med" len="med"/>
                    </a:lnL>
                    <a:lnR w="6350" cap="flat" cmpd="sng" algn="ctr">
                      <a:solidFill>
                        <a:srgbClr val="2A2F2C"/>
                      </a:solidFill>
                      <a:prstDash val="solid"/>
                      <a:round/>
                      <a:headEnd type="none" w="med" len="med"/>
                      <a:tailEnd type="none" w="med" len="med"/>
                    </a:lnR>
                    <a:lnT w="6350" cap="flat" cmpd="sng" algn="ctr">
                      <a:solidFill>
                        <a:srgbClr val="2A2F2C"/>
                      </a:solidFill>
                      <a:prstDash val="solid"/>
                      <a:round/>
                      <a:headEnd type="none" w="med" len="med"/>
                      <a:tailEnd type="none" w="med" len="med"/>
                    </a:lnT>
                    <a:lnB w="6350" cap="flat" cmpd="sng" algn="ctr">
                      <a:solidFill>
                        <a:srgbClr val="2A2F2C"/>
                      </a:solidFill>
                      <a:prstDash val="solid"/>
                      <a:round/>
                      <a:headEnd type="none" w="med" len="med"/>
                      <a:tailEnd type="none" w="med" len="med"/>
                    </a:lnB>
                    <a:solidFill>
                      <a:srgbClr val="0E0E0E"/>
                    </a:solidFill>
                  </a:tcPr>
                </a:tc>
                <a:tc>
                  <a:txBody>
                    <a:bodyPr/>
                    <a:lstStyle/>
                    <a:p>
                      <a:pPr marL="0" indent="0" algn="ctr">
                        <a:buNone/>
                      </a:pPr>
                      <a:r>
                        <a:rPr lang="en-US" sz="1150" b="1" dirty="0">
                          <a:solidFill>
                            <a:srgbClr val="9AA3A0"/>
                          </a:solidFill>
                          <a:latin typeface="Calibri" pitchFamily="34" charset="0"/>
                          <a:ea typeface="Calibri" pitchFamily="34" charset="-122"/>
                          <a:cs typeface="Calibri" pitchFamily="34" charset="-120"/>
                        </a:rPr>
                        <a:t>Very Weak</a:t>
                      </a:r>
                      <a:endParaRPr lang="en-US" sz="1150" dirty="0">
                        <a:latin typeface="Calibri" charset="0"/>
                        <a:ea typeface="Calibri" charset="0"/>
                        <a:cs typeface="Calibri" charset="0"/>
                      </a:endParaRPr>
                    </a:p>
                  </a:txBody>
                  <a:tcPr anchor="ctr">
                    <a:lnL w="6350" cap="flat" cmpd="sng" algn="ctr">
                      <a:solidFill>
                        <a:srgbClr val="2A2F2C"/>
                      </a:solidFill>
                      <a:prstDash val="solid"/>
                      <a:round/>
                      <a:headEnd type="none" w="med" len="med"/>
                      <a:tailEnd type="none" w="med" len="med"/>
                    </a:lnL>
                    <a:lnR w="6350" cap="flat" cmpd="sng" algn="ctr">
                      <a:solidFill>
                        <a:srgbClr val="2A2F2C"/>
                      </a:solidFill>
                      <a:prstDash val="solid"/>
                      <a:round/>
                      <a:headEnd type="none" w="med" len="med"/>
                      <a:tailEnd type="none" w="med" len="med"/>
                    </a:lnR>
                    <a:lnT w="6350" cap="flat" cmpd="sng" algn="ctr">
                      <a:solidFill>
                        <a:srgbClr val="2A2F2C"/>
                      </a:solidFill>
                      <a:prstDash val="solid"/>
                      <a:round/>
                      <a:headEnd type="none" w="med" len="med"/>
                      <a:tailEnd type="none" w="med" len="med"/>
                    </a:lnT>
                    <a:lnB w="6350" cap="flat" cmpd="sng" algn="ctr">
                      <a:solidFill>
                        <a:srgbClr val="2A2F2C"/>
                      </a:solidFill>
                      <a:prstDash val="solid"/>
                      <a:round/>
                      <a:headEnd type="none" w="med" len="med"/>
                      <a:tailEnd type="none" w="med" len="med"/>
                    </a:lnB>
                    <a:solidFill>
                      <a:srgbClr val="0E0E0E"/>
                    </a:solidFill>
                  </a:tcPr>
                </a:tc>
                <a:extLst>
                  <a:ext uri="{0D108BD9-81ED-4DB2-BD59-A6C34878D82A}">
                    <a16:rowId xmlns:a16="http://schemas.microsoft.com/office/drawing/2014/main" val="10004"/>
                  </a:ext>
                </a:extLst>
              </a:tr>
            </a:tbl>
          </a:graphicData>
        </a:graphic>
      </p:graphicFrame>
      <p:sp>
        <p:nvSpPr>
          <p:cNvPr id="8" name="Shape 5"/>
          <p:cNvSpPr/>
          <p:nvPr/>
        </p:nvSpPr>
        <p:spPr>
          <a:xfrm>
            <a:off x="7818120" y="1371600"/>
            <a:ext cx="3840480" cy="4709160"/>
          </a:xfrm>
          <a:prstGeom prst="roundRect">
            <a:avLst>
              <a:gd name="adj" fmla="val 1905"/>
            </a:avLst>
          </a:prstGeom>
          <a:solidFill>
            <a:srgbClr val="161616"/>
          </a:solidFill>
          <a:ln/>
        </p:spPr>
      </p:sp>
      <p:sp>
        <p:nvSpPr>
          <p:cNvPr id="9" name="Text 6"/>
          <p:cNvSpPr txBox="1"/>
          <p:nvPr/>
        </p:nvSpPr>
        <p:spPr>
          <a:xfrm>
            <a:off x="8092440" y="1554480"/>
            <a:ext cx="3291840"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Scales of Interpretation</a:t>
            </a:r>
            <a:endParaRPr lang="en-US" sz="1300" dirty="0"/>
          </a:p>
        </p:txBody>
      </p:sp>
      <p:sp>
        <p:nvSpPr>
          <p:cNvPr id="10" name="Shape 7"/>
          <p:cNvSpPr/>
          <p:nvPr/>
        </p:nvSpPr>
        <p:spPr>
          <a:xfrm>
            <a:off x="8092440" y="2057400"/>
            <a:ext cx="164592" cy="365760"/>
          </a:xfrm>
          <a:prstGeom prst="roundRect">
            <a:avLst>
              <a:gd name="adj" fmla="val 16667"/>
            </a:avLst>
          </a:prstGeom>
          <a:solidFill>
            <a:srgbClr val="5C645F"/>
          </a:solidFill>
          <a:ln/>
        </p:spPr>
      </p:sp>
      <p:sp>
        <p:nvSpPr>
          <p:cNvPr id="11" name="Text 8"/>
          <p:cNvSpPr txBox="1"/>
          <p:nvPr/>
        </p:nvSpPr>
        <p:spPr>
          <a:xfrm>
            <a:off x="8366760" y="2057400"/>
            <a:ext cx="1371600" cy="36576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&lt; 0,01</a:t>
            </a:r>
            <a:endParaRPr lang="en-US" sz="1150" dirty="0"/>
          </a:p>
        </p:txBody>
      </p:sp>
      <p:sp>
        <p:nvSpPr>
          <p:cNvPr id="7" name="Text 9"/>
          <p:cNvSpPr txBox="1"/>
          <p:nvPr/>
        </p:nvSpPr>
        <p:spPr>
          <a:xfrm>
            <a:off x="9692640" y="2057400"/>
            <a:ext cx="1737360" cy="365760"/>
          </a:xfrm>
          <a:prstGeom prst="rect">
            <a:avLst/>
          </a:prstGeom>
          <a:noFill/>
          <a:ln/>
        </p:spPr>
        <p:txBody>
          <a:bodyPr wrap="square" lIns="0" tIns="0" rIns="0" bIns="0" rtlCol="0" anchor="ctr"/>
          <a:lstStyle/>
          <a:p>
            <a:pPr marL="0" indent="0">
              <a:buNone/>
            </a:pPr>
            <a:r>
              <a:rPr lang="en-US" sz="1100" dirty="0">
                <a:solidFill>
                  <a:srgbClr val="9AA3A0"/>
                </a:solidFill>
                <a:latin typeface="Calibri" pitchFamily="34" charset="0"/>
                <a:ea typeface="Calibri" pitchFamily="34" charset="-122"/>
                <a:cs typeface="Calibri" pitchFamily="34" charset="-120"/>
              </a:rPr>
              <a:t>Very Weak</a:t>
            </a:r>
            <a:endParaRPr lang="en-US" sz="1100" dirty="0"/>
          </a:p>
        </p:txBody>
      </p:sp>
      <p:sp>
        <p:nvSpPr>
          <p:cNvPr id="13" name="Shape 10"/>
          <p:cNvSpPr/>
          <p:nvPr/>
        </p:nvSpPr>
        <p:spPr>
          <a:xfrm>
            <a:off x="8092440" y="2624328"/>
            <a:ext cx="164592" cy="365760"/>
          </a:xfrm>
          <a:prstGeom prst="roundRect">
            <a:avLst>
              <a:gd name="adj" fmla="val 16667"/>
            </a:avLst>
          </a:prstGeom>
          <a:solidFill>
            <a:srgbClr val="048A4B"/>
          </a:solidFill>
          <a:ln/>
        </p:spPr>
      </p:sp>
      <p:sp>
        <p:nvSpPr>
          <p:cNvPr id="14" name="Text 11"/>
          <p:cNvSpPr txBox="1"/>
          <p:nvPr/>
        </p:nvSpPr>
        <p:spPr>
          <a:xfrm>
            <a:off x="8366760" y="2624328"/>
            <a:ext cx="1371600" cy="36576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0,01 – 0,08</a:t>
            </a:r>
            <a:endParaRPr lang="en-US" sz="1150" dirty="0"/>
          </a:p>
        </p:txBody>
      </p:sp>
      <p:sp>
        <p:nvSpPr>
          <p:cNvPr id="15" name="Text 12"/>
          <p:cNvSpPr txBox="1"/>
          <p:nvPr/>
        </p:nvSpPr>
        <p:spPr>
          <a:xfrm>
            <a:off x="9692640" y="2624328"/>
            <a:ext cx="1737360" cy="365760"/>
          </a:xfrm>
          <a:prstGeom prst="rect">
            <a:avLst/>
          </a:prstGeom>
          <a:noFill/>
          <a:ln/>
        </p:spPr>
        <p:txBody>
          <a:bodyPr wrap="square" lIns="0" tIns="0" rIns="0" bIns="0" rtlCol="0" anchor="ctr"/>
          <a:lstStyle/>
          <a:p>
            <a:pPr marL="0" indent="0">
              <a:buNone/>
            </a:pPr>
            <a:r>
              <a:rPr lang="en-US" sz="1100" dirty="0">
                <a:solidFill>
                  <a:srgbClr val="9AA3A0"/>
                </a:solidFill>
                <a:latin typeface="Calibri" pitchFamily="34" charset="0"/>
                <a:ea typeface="Calibri" pitchFamily="34" charset="-122"/>
                <a:cs typeface="Calibri" pitchFamily="34" charset="-120"/>
              </a:rPr>
              <a:t>Weak</a:t>
            </a:r>
            <a:endParaRPr lang="en-US" sz="1100" dirty="0"/>
          </a:p>
        </p:txBody>
      </p:sp>
      <p:sp>
        <p:nvSpPr>
          <p:cNvPr id="16" name="Shape 13"/>
          <p:cNvSpPr/>
          <p:nvPr/>
        </p:nvSpPr>
        <p:spPr>
          <a:xfrm>
            <a:off x="8092440" y="3191256"/>
            <a:ext cx="164592" cy="365760"/>
          </a:xfrm>
          <a:prstGeom prst="roundRect">
            <a:avLst>
              <a:gd name="adj" fmla="val 16667"/>
            </a:avLst>
          </a:prstGeom>
          <a:solidFill>
            <a:srgbClr val="06C167"/>
          </a:solidFill>
          <a:ln/>
        </p:spPr>
      </p:sp>
      <p:sp>
        <p:nvSpPr>
          <p:cNvPr id="17" name="Text 14"/>
          <p:cNvSpPr txBox="1"/>
          <p:nvPr/>
        </p:nvSpPr>
        <p:spPr>
          <a:xfrm>
            <a:off x="8366760" y="3191256"/>
            <a:ext cx="1371600" cy="36576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0,08 – 0,26</a:t>
            </a:r>
            <a:endParaRPr lang="en-US" sz="1150" dirty="0"/>
          </a:p>
        </p:txBody>
      </p:sp>
      <p:sp>
        <p:nvSpPr>
          <p:cNvPr id="18" name="Text 15"/>
          <p:cNvSpPr txBox="1"/>
          <p:nvPr/>
        </p:nvSpPr>
        <p:spPr>
          <a:xfrm>
            <a:off x="9692640" y="3191256"/>
            <a:ext cx="1737360" cy="365760"/>
          </a:xfrm>
          <a:prstGeom prst="rect">
            <a:avLst/>
          </a:prstGeom>
          <a:noFill/>
          <a:ln/>
        </p:spPr>
        <p:txBody>
          <a:bodyPr wrap="square" lIns="0" tIns="0" rIns="0" bIns="0" rtlCol="0" anchor="ctr"/>
          <a:lstStyle/>
          <a:p>
            <a:pPr marL="0" indent="0">
              <a:buNone/>
            </a:pPr>
            <a:r>
              <a:rPr lang="en-US" sz="1100" dirty="0">
                <a:solidFill>
                  <a:srgbClr val="9AA3A0"/>
                </a:solidFill>
                <a:latin typeface="Calibri" pitchFamily="34" charset="0"/>
                <a:ea typeface="Calibri" pitchFamily="34" charset="-122"/>
                <a:cs typeface="Calibri" pitchFamily="34" charset="-120"/>
              </a:rPr>
              <a:t>Medium</a:t>
            </a:r>
            <a:endParaRPr lang="en-US" sz="1100" dirty="0"/>
          </a:p>
        </p:txBody>
      </p:sp>
      <p:sp>
        <p:nvSpPr>
          <p:cNvPr id="19" name="Shape 16"/>
          <p:cNvSpPr/>
          <p:nvPr/>
        </p:nvSpPr>
        <p:spPr>
          <a:xfrm>
            <a:off x="8092440" y="3758184"/>
            <a:ext cx="164592" cy="365760"/>
          </a:xfrm>
          <a:prstGeom prst="roundRect">
            <a:avLst>
              <a:gd name="adj" fmla="val 16667"/>
            </a:avLst>
          </a:prstGeom>
          <a:solidFill>
            <a:srgbClr val="06C167"/>
          </a:solidFill>
          <a:ln/>
        </p:spPr>
      </p:sp>
      <p:sp>
        <p:nvSpPr>
          <p:cNvPr id="20" name="Text 17"/>
          <p:cNvSpPr txBox="1"/>
          <p:nvPr/>
        </p:nvSpPr>
        <p:spPr>
          <a:xfrm>
            <a:off x="8366760" y="3758184"/>
            <a:ext cx="1371600" cy="36576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&gt; 0,26</a:t>
            </a:r>
            <a:endParaRPr lang="en-US" sz="1150" dirty="0"/>
          </a:p>
        </p:txBody>
      </p:sp>
      <p:sp>
        <p:nvSpPr>
          <p:cNvPr id="21" name="Text 18"/>
          <p:cNvSpPr txBox="1"/>
          <p:nvPr/>
        </p:nvSpPr>
        <p:spPr>
          <a:xfrm>
            <a:off x="9692640" y="3758184"/>
            <a:ext cx="1737360" cy="365760"/>
          </a:xfrm>
          <a:prstGeom prst="rect">
            <a:avLst/>
          </a:prstGeom>
          <a:noFill/>
          <a:ln/>
        </p:spPr>
        <p:txBody>
          <a:bodyPr wrap="square" lIns="0" tIns="0" rIns="0" bIns="0" rtlCol="0" anchor="ctr"/>
          <a:lstStyle/>
          <a:p>
            <a:pPr marL="0" indent="0">
              <a:buNone/>
            </a:pPr>
            <a:r>
              <a:rPr lang="en-US" sz="1100" dirty="0">
                <a:solidFill>
                  <a:srgbClr val="9AA3A0"/>
                </a:solidFill>
                <a:latin typeface="Calibri" pitchFamily="34" charset="0"/>
                <a:ea typeface="Calibri" pitchFamily="34" charset="-122"/>
                <a:cs typeface="Calibri" pitchFamily="34" charset="-120"/>
              </a:rPr>
              <a:t>Powerful</a:t>
            </a:r>
            <a:endParaRPr lang="en-US" sz="1100" dirty="0"/>
          </a:p>
        </p:txBody>
      </p:sp>
      <p:sp>
        <p:nvSpPr>
          <p:cNvPr id="22" name="Shape 19"/>
          <p:cNvSpPr/>
          <p:nvPr/>
        </p:nvSpPr>
        <p:spPr>
          <a:xfrm>
            <a:off x="8092440" y="4434840"/>
            <a:ext cx="3291840" cy="0"/>
          </a:xfrm>
          <a:prstGeom prst="line">
            <a:avLst/>
          </a:prstGeom>
          <a:noFill/>
          <a:ln w="9525">
            <a:solidFill>
              <a:srgbClr val="2A2F2C"/>
            </a:solidFill>
            <a:prstDash val="solid"/>
          </a:ln>
        </p:spPr>
      </p:sp>
      <p:sp>
        <p:nvSpPr>
          <p:cNvPr id="23" name="Text 20"/>
          <p:cNvSpPr txBox="1"/>
          <p:nvPr/>
        </p:nvSpPr>
        <p:spPr>
          <a:xfrm>
            <a:off x="8092440" y="4572000"/>
            <a:ext cx="3291840" cy="1371600"/>
          </a:xfrm>
          <a:prstGeom prst="rect">
            <a:avLst/>
          </a:prstGeom>
          <a:noFill/>
          <a:ln/>
        </p:spPr>
        <p:txBody>
          <a:bodyPr wrap="square" lIns="0" tIns="0" rIns="0" bIns="0" rtlCol="0" anchor="ctr"/>
          <a:lstStyle/>
          <a:p>
            <a:pPr marL="0" indent="0" algn="just">
              <a:lnSpc>
                <a:spcPct val="130000"/>
              </a:lnSpc>
              <a:buNone/>
            </a:pPr>
            <a:r>
              <a:rPr lang="en-US" sz="1150" i="1" dirty="0" err="1">
                <a:solidFill>
                  <a:srgbClr val="8FF0C0"/>
                </a:solidFill>
                <a:latin typeface="Calibri" pitchFamily="34" charset="0"/>
                <a:ea typeface="Calibri" pitchFamily="34" charset="-122"/>
                <a:cs typeface="Calibri" pitchFamily="34" charset="-120"/>
              </a:rPr>
              <a:t>Traffic_Level</a:t>
            </a:r>
            <a:r>
              <a:rPr lang="en-US" sz="1150" i="1" dirty="0">
                <a:solidFill>
                  <a:srgbClr val="8FF0C0"/>
                </a:solidFill>
                <a:latin typeface="Calibri" pitchFamily="34" charset="0"/>
                <a:ea typeface="Calibri" pitchFamily="34" charset="-122"/>
                <a:cs typeface="Calibri" pitchFamily="34" charset="-120"/>
              </a:rPr>
              <a:t> and Weather are statistically significant, but their magnitude falls into the small category. A real signal, not a dominant factor.</a:t>
            </a:r>
            <a:endParaRPr lang="en-US" sz="1150" dirty="0"/>
          </a:p>
        </p:txBody>
      </p:sp>
      <p:sp>
        <p:nvSpPr>
          <p:cNvPr id="25" name="Text 22"/>
          <p:cNvSpPr txBox="1"/>
          <p:nvPr/>
        </p:nvSpPr>
        <p:spPr>
          <a:xfrm>
            <a:off x="11185855" y="6473952"/>
            <a:ext cx="457200" cy="274320"/>
          </a:xfrm>
          <a:prstGeom prst="rect">
            <a:avLst/>
          </a:prstGeom>
          <a:noFill/>
          <a:ln/>
        </p:spPr>
        <p:txBody>
          <a:bodyPr wrap="square" lIns="0" tIns="0" rIns="0" bIns="0" rtlCol="0" anchor="ctr"/>
          <a:lstStyle/>
          <a:p>
            <a:pPr marL="0" indent="0" algn="r">
              <a:buNone/>
            </a:pPr>
            <a:r>
              <a:rPr lang="en-US" sz="900" dirty="0">
                <a:solidFill>
                  <a:srgbClr val="5C645F"/>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000000"/>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92608"/>
          </a:xfrm>
          <a:prstGeom prst="rect">
            <a:avLst/>
          </a:prstGeom>
          <a:noFill/>
          <a:ln/>
        </p:spPr>
        <p:txBody>
          <a:bodyPr wrap="square" lIns="0" tIns="0" rIns="0" bIns="0" rtlCol="0" anchor="ctr"/>
          <a:lstStyle/>
          <a:p>
            <a:pPr marL="0" indent="0">
              <a:buNone/>
            </a:pPr>
            <a:r>
              <a:rPr lang="en-US" sz="1200" b="1" kern="0" spc="200">
                <a:solidFill>
                  <a:srgbClr val="06C167"/>
                </a:solidFill>
                <a:latin typeface="Calibri" pitchFamily="34" charset="0"/>
                <a:ea typeface="Calibri" pitchFamily="34" charset="-122"/>
                <a:cs typeface="Calibri" pitchFamily="34" charset="-120"/>
              </a:rPr>
              <a:t>RESULTS</a:t>
            </a:r>
            <a:endParaRPr lang="en-US" sz="1200" dirty="0"/>
          </a:p>
        </p:txBody>
      </p:sp>
      <p:sp>
        <p:nvSpPr>
          <p:cNvPr id="3" name="Text 1"/>
          <p:cNvSpPr txBox="1"/>
          <p:nvPr/>
        </p:nvSpPr>
        <p:spPr>
          <a:xfrm>
            <a:off x="548640" y="658368"/>
            <a:ext cx="10789920" cy="822960"/>
          </a:xfrm>
          <a:prstGeom prst="rect">
            <a:avLst/>
          </a:prstGeom>
          <a:noFill/>
          <a:ln/>
        </p:spPr>
        <p:txBody>
          <a:bodyPr wrap="square" lIns="0" tIns="0" rIns="0" bIns="0" rtlCol="0" anchor="ctr"/>
          <a:lstStyle/>
          <a:p>
            <a:pPr marL="0" indent="0">
              <a:buNone/>
            </a:pPr>
            <a:r>
              <a:rPr lang="en-US" sz="2900" b="1" dirty="0">
                <a:solidFill>
                  <a:srgbClr val="FFFFFF"/>
                </a:solidFill>
                <a:latin typeface="Cambria" pitchFamily="34" charset="0"/>
                <a:ea typeface="Cambria" pitchFamily="34" charset="-122"/>
                <a:cs typeface="Cambria" pitchFamily="34" charset="-120"/>
              </a:rPr>
              <a:t>Travel Distance Remains the Dominant Factor</a:t>
            </a:r>
            <a:endParaRPr lang="en-US" sz="2900" dirty="0"/>
          </a:p>
        </p:txBody>
      </p:sp>
      <p:sp>
        <p:nvSpPr>
          <p:cNvPr id="5" name="Shape 2"/>
          <p:cNvSpPr/>
          <p:nvPr/>
        </p:nvSpPr>
        <p:spPr>
          <a:xfrm>
            <a:off x="8503920" y="1737360"/>
            <a:ext cx="3154680" cy="3749040"/>
          </a:xfrm>
          <a:prstGeom prst="roundRect">
            <a:avLst>
              <a:gd name="adj" fmla="val 2319"/>
            </a:avLst>
          </a:prstGeom>
          <a:solidFill>
            <a:srgbClr val="0D2A1C"/>
          </a:solidFill>
          <a:ln w="12700">
            <a:solidFill>
              <a:srgbClr val="06C167"/>
            </a:solidFill>
            <a:prstDash val="solid"/>
          </a:ln>
        </p:spPr>
      </p:sp>
      <mc:AlternateContent xmlns:mc="http://schemas.openxmlformats.org/markup-compatibility/2006" xmlns:a14="http://schemas.microsoft.com/office/drawing/2010/main">
        <mc:Choice Requires="a14">
          <p:sp>
            <p:nvSpPr>
              <p:cNvPr id="6" name="Text 3"/>
              <p:cNvSpPr txBox="1"/>
              <p:nvPr/>
            </p:nvSpPr>
            <p:spPr>
              <a:xfrm>
                <a:off x="7920267" y="1965960"/>
                <a:ext cx="2743200" cy="640080"/>
              </a:xfrm>
              <a:prstGeom prst="rect">
                <a:avLst/>
              </a:prstGeom>
              <a:noFill/>
              <a:ln/>
            </p:spPr>
            <p:txBody>
              <a:bodyPr wrap="square" lIns="0" tIns="0" rIns="0" bIns="0" rtlCol="0" anchor="ctr"/>
              <a:lstStyle/>
              <a:p>
                <a:pPr/>
                <a14:m>
                  <m:oMathPara xmlns:m="http://schemas.openxmlformats.org/officeDocument/2006/math">
                    <m:oMath>
                      <m:sSup>
                        <m:sSupPr>
                          <m:ctrlPr>
                            <a:rPr lang="en-ID" sz="2000" b="1" i="1">
                              <a:solidFill>
                                <a:schemeClr val="bg1"/>
                              </a:solidFill>
                              <a:latin typeface="Cambria Math" panose="02040503050406030204" pitchFamily="18" charset="0"/>
                            </a:rPr>
                          </m:ctrlPr>
                        </m:sSupPr>
                        <m:e>
                          <m:r>
                            <a:rPr lang="en-ID" sz="2000" b="1" i="1">
                              <a:solidFill>
                                <a:schemeClr val="bg1"/>
                              </a:solidFill>
                              <a:latin typeface="Cambria Math" panose="02040503050406030204" pitchFamily="18" charset="0"/>
                            </a:rPr>
                            <m:t>𝒓</m:t>
                          </m:r>
                        </m:e>
                        <m:sup>
                          <m:r>
                            <a:rPr lang="en-ID" sz="2000" b="1" i="1">
                              <a:solidFill>
                                <a:schemeClr val="bg1"/>
                              </a:solidFill>
                              <a:latin typeface="Cambria Math" panose="02040503050406030204" pitchFamily="18" charset="0"/>
                            </a:rPr>
                            <m:t>𝟐</m:t>
                          </m:r>
                        </m:sup>
                      </m:sSup>
                      <m:r>
                        <a:rPr lang="en-US" sz="2000" b="1" i="0" smtClean="0">
                          <a:solidFill>
                            <a:schemeClr val="bg1"/>
                          </a:solidFill>
                          <a:latin typeface="Cambria Math" panose="02040503050406030204" pitchFamily="18" charset="0"/>
                        </a:rPr>
                        <m:t>=</m:t>
                      </m:r>
                      <m:r>
                        <a:rPr lang="en-US" sz="2000" b="1" i="0" smtClean="0">
                          <a:solidFill>
                            <a:schemeClr val="bg1"/>
                          </a:solidFill>
                          <a:latin typeface="Cambria Math" panose="02040503050406030204" pitchFamily="18" charset="0"/>
                        </a:rPr>
                        <m:t>𝟎</m:t>
                      </m:r>
                      <m:r>
                        <a:rPr lang="en-US" sz="2000" b="1" i="0" smtClean="0">
                          <a:solidFill>
                            <a:schemeClr val="bg1"/>
                          </a:solidFill>
                          <a:latin typeface="Cambria Math" panose="02040503050406030204" pitchFamily="18" charset="0"/>
                        </a:rPr>
                        <m:t>,</m:t>
                      </m:r>
                      <m:r>
                        <a:rPr lang="en-US" sz="2000" b="1" i="0" smtClean="0">
                          <a:solidFill>
                            <a:schemeClr val="bg1"/>
                          </a:solidFill>
                          <a:latin typeface="Cambria Math" panose="02040503050406030204" pitchFamily="18" charset="0"/>
                        </a:rPr>
                        <m:t>𝟔𝟏</m:t>
                      </m:r>
                    </m:oMath>
                  </m:oMathPara>
                </a14:m>
                <a:endParaRPr lang="en-US" sz="2000" b="1" dirty="0"/>
              </a:p>
            </p:txBody>
          </p:sp>
        </mc:Choice>
        <mc:Fallback xmlns="">
          <p:sp>
            <p:nvSpPr>
              <p:cNvPr id="6" name="Text 3"/>
              <p:cNvSpPr txBox="1">
                <a:spLocks noRot="1" noChangeAspect="1" noMove="1" noResize="1" noEditPoints="1" noAdjustHandles="1" noChangeArrowheads="1" noChangeShapeType="1" noTextEdit="1"/>
              </p:cNvSpPr>
              <p:nvPr/>
            </p:nvSpPr>
            <p:spPr>
              <a:xfrm>
                <a:off x="7920267" y="1965960"/>
                <a:ext cx="2743200" cy="640080"/>
              </a:xfrm>
              <a:prstGeom prst="rect">
                <a:avLst/>
              </a:prstGeom>
              <a:blipFill>
                <a:blip r:embed="rId3"/>
                <a:stretch>
                  <a:fillRect/>
                </a:stretch>
              </a:blipFill>
              <a:ln/>
            </p:spPr>
            <p:txBody>
              <a:bodyPr/>
              <a:lstStyle/>
              <a:p>
                <a:r>
                  <a:rPr lang="en-ID">
                    <a:noFill/>
                  </a:rPr>
                  <a:t> </a:t>
                </a:r>
              </a:p>
            </p:txBody>
          </p:sp>
        </mc:Fallback>
      </mc:AlternateContent>
      <p:sp>
        <p:nvSpPr>
          <p:cNvPr id="7" name="Text 4"/>
          <p:cNvSpPr txBox="1"/>
          <p:nvPr/>
        </p:nvSpPr>
        <p:spPr>
          <a:xfrm>
            <a:off x="8732520" y="2606040"/>
            <a:ext cx="2697480" cy="822960"/>
          </a:xfrm>
          <a:prstGeom prst="rect">
            <a:avLst/>
          </a:prstGeom>
          <a:noFill/>
          <a:ln/>
        </p:spPr>
        <p:txBody>
          <a:bodyPr wrap="square" lIns="0" tIns="0" rIns="0" bIns="0" rtlCol="0" anchor="ctr"/>
          <a:lstStyle/>
          <a:p>
            <a:pPr marL="0" indent="0" algn="just">
              <a:lnSpc>
                <a:spcPct val="125000"/>
              </a:lnSpc>
              <a:buNone/>
            </a:pPr>
            <a:r>
              <a:rPr lang="en-US" sz="1200" b="1" dirty="0">
                <a:solidFill>
                  <a:srgbClr val="FFFFFF"/>
                </a:solidFill>
                <a:latin typeface="Calibri" pitchFamily="34" charset="0"/>
                <a:ea typeface="Calibri" pitchFamily="34" charset="-122"/>
                <a:cs typeface="Calibri" pitchFamily="34" charset="-120"/>
              </a:rPr>
              <a:t>The variation in delivery times is explained solely by travel distance.</a:t>
            </a:r>
            <a:endParaRPr lang="en-US" sz="1200" dirty="0"/>
          </a:p>
        </p:txBody>
      </p:sp>
      <p:sp>
        <p:nvSpPr>
          <p:cNvPr id="8" name="Shape 5"/>
          <p:cNvSpPr/>
          <p:nvPr/>
        </p:nvSpPr>
        <p:spPr>
          <a:xfrm>
            <a:off x="8732520" y="3611880"/>
            <a:ext cx="2651760" cy="0"/>
          </a:xfrm>
          <a:prstGeom prst="line">
            <a:avLst/>
          </a:prstGeom>
          <a:noFill/>
          <a:ln w="9525">
            <a:solidFill>
              <a:srgbClr val="5C645F"/>
            </a:solidFill>
            <a:prstDash val="solid"/>
          </a:ln>
        </p:spPr>
      </p:sp>
      <p:sp>
        <p:nvSpPr>
          <p:cNvPr id="9" name="Text 6"/>
          <p:cNvSpPr txBox="1"/>
          <p:nvPr/>
        </p:nvSpPr>
        <p:spPr>
          <a:xfrm>
            <a:off x="8732520" y="3794760"/>
            <a:ext cx="2697480" cy="1600200"/>
          </a:xfrm>
          <a:prstGeom prst="rect">
            <a:avLst/>
          </a:prstGeom>
          <a:noFill/>
          <a:ln/>
        </p:spPr>
        <p:txBody>
          <a:bodyPr wrap="square" lIns="0" tIns="0" rIns="0" bIns="0" rtlCol="0" anchor="ctr"/>
          <a:lstStyle/>
          <a:p>
            <a:pPr algn="just">
              <a:lnSpc>
                <a:spcPct val="100000"/>
              </a:lnSpc>
            </a:pPr>
            <a:r>
              <a:rPr lang="en-US" sz="1150" dirty="0">
                <a:solidFill>
                  <a:schemeClr val="bg1"/>
                </a:solidFill>
                <a:latin typeface="Calibri" pitchFamily="34" charset="0"/>
                <a:ea typeface="Calibri" pitchFamily="34" charset="-122"/>
                <a:cs typeface="Calibri" pitchFamily="34" charset="-120"/>
              </a:rPr>
              <a:t>Weather (0,033) and traffic (0,035) were shown to be statistically significant (p &lt; </a:t>
            </a:r>
            <a:r>
              <a:rPr lang="en-ID" sz="1200" dirty="0">
                <a:solidFill>
                  <a:schemeClr val="bg1"/>
                </a:solidFill>
              </a:rPr>
              <a:t>0,00001)</a:t>
            </a:r>
            <a:r>
              <a:rPr lang="en-US" sz="1150" dirty="0">
                <a:solidFill>
                  <a:schemeClr val="bg1"/>
                </a:solidFill>
                <a:latin typeface="Calibri" pitchFamily="34" charset="0"/>
                <a:ea typeface="Calibri" pitchFamily="34" charset="-122"/>
                <a:cs typeface="Calibri" pitchFamily="34" charset="-120"/>
              </a:rPr>
              <a:t>, but their effect size was considerably smaller than that of travel distance.</a:t>
            </a:r>
            <a:endParaRPr lang="en-US" sz="1150" dirty="0"/>
          </a:p>
        </p:txBody>
      </p:sp>
      <p:sp>
        <p:nvSpPr>
          <p:cNvPr id="11" name="Text 8"/>
          <p:cNvSpPr txBox="1"/>
          <p:nvPr/>
        </p:nvSpPr>
        <p:spPr>
          <a:xfrm>
            <a:off x="11185855" y="6473952"/>
            <a:ext cx="457200" cy="274320"/>
          </a:xfrm>
          <a:prstGeom prst="rect">
            <a:avLst/>
          </a:prstGeom>
          <a:noFill/>
          <a:ln/>
        </p:spPr>
        <p:txBody>
          <a:bodyPr wrap="square" lIns="0" tIns="0" rIns="0" bIns="0" rtlCol="0" anchor="ctr"/>
          <a:lstStyle/>
          <a:p>
            <a:pPr marL="0" indent="0" algn="r">
              <a:buNone/>
            </a:pPr>
            <a:r>
              <a:rPr lang="en-US" sz="900" dirty="0">
                <a:solidFill>
                  <a:srgbClr val="5C645F"/>
                </a:solidFill>
                <a:latin typeface="Calibri" pitchFamily="34" charset="0"/>
                <a:ea typeface="Calibri" pitchFamily="34" charset="-122"/>
                <a:cs typeface="Calibri" pitchFamily="34" charset="-120"/>
              </a:rPr>
              <a:t>12</a:t>
            </a:r>
            <a:endParaRPr lang="en-US" sz="900" dirty="0"/>
          </a:p>
        </p:txBody>
      </p:sp>
      <p:pic>
        <p:nvPicPr>
          <p:cNvPr id="12" name="Picture 11">
            <a:extLst>
              <a:ext uri="{FF2B5EF4-FFF2-40B4-BE49-F238E27FC236}">
                <a16:creationId xmlns:a16="http://schemas.microsoft.com/office/drawing/2014/main" id="{8A5FA5D2-453A-294F-76F8-359E2399E6EB}"/>
              </a:ext>
            </a:extLst>
          </p:cNvPr>
          <p:cNvPicPr>
            <a:picLocks noChangeAspect="1"/>
          </p:cNvPicPr>
          <p:nvPr/>
        </p:nvPicPr>
        <p:blipFill>
          <a:blip r:embed="rId4"/>
          <a:stretch>
            <a:fillRect/>
          </a:stretch>
        </p:blipFill>
        <p:spPr>
          <a:xfrm>
            <a:off x="602025" y="1591569"/>
            <a:ext cx="7386290" cy="440638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000000"/>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92608"/>
          </a:xfrm>
          <a:prstGeom prst="rect">
            <a:avLst/>
          </a:prstGeom>
          <a:noFill/>
          <a:ln/>
        </p:spPr>
        <p:txBody>
          <a:bodyPr wrap="square" lIns="0" tIns="0" rIns="0" bIns="0" rtlCol="0" anchor="ctr"/>
          <a:lstStyle/>
          <a:p>
            <a:pPr marL="0" indent="0">
              <a:buNone/>
            </a:pPr>
            <a:r>
              <a:rPr lang="en-US" sz="1200" b="1" kern="0" spc="200" dirty="0">
                <a:solidFill>
                  <a:srgbClr val="06C167"/>
                </a:solidFill>
                <a:latin typeface="Calibri" pitchFamily="34" charset="0"/>
                <a:ea typeface="Calibri" pitchFamily="34" charset="-122"/>
                <a:cs typeface="Calibri" pitchFamily="34" charset="-120"/>
              </a:rPr>
              <a:t>CONCLUSION</a:t>
            </a:r>
            <a:endParaRPr lang="en-US" sz="1200" dirty="0"/>
          </a:p>
        </p:txBody>
      </p:sp>
      <p:sp>
        <p:nvSpPr>
          <p:cNvPr id="3" name="Text 1"/>
          <p:cNvSpPr txBox="1"/>
          <p:nvPr/>
        </p:nvSpPr>
        <p:spPr>
          <a:xfrm>
            <a:off x="548640" y="658368"/>
            <a:ext cx="10789920" cy="822960"/>
          </a:xfrm>
          <a:prstGeom prst="rect">
            <a:avLst/>
          </a:prstGeom>
          <a:noFill/>
          <a:ln/>
        </p:spPr>
        <p:txBody>
          <a:bodyPr wrap="square" lIns="0" tIns="0" rIns="0" bIns="0" rtlCol="0" anchor="ctr"/>
          <a:lstStyle/>
          <a:p>
            <a:pPr marL="0" indent="0">
              <a:buNone/>
            </a:pPr>
            <a:r>
              <a:rPr lang="en-US" sz="2900" b="1" dirty="0">
                <a:solidFill>
                  <a:srgbClr val="FFFFFF"/>
                </a:solidFill>
                <a:latin typeface="Cambria" pitchFamily="34" charset="0"/>
                <a:ea typeface="Cambria" pitchFamily="34" charset="-122"/>
                <a:cs typeface="Cambria" pitchFamily="34" charset="-120"/>
              </a:rPr>
              <a:t>Insights &amp; Business Recommendations</a:t>
            </a:r>
            <a:endParaRPr lang="en-US" sz="2900" dirty="0"/>
          </a:p>
        </p:txBody>
      </p:sp>
      <p:sp>
        <p:nvSpPr>
          <p:cNvPr id="4" name="Shape 2"/>
          <p:cNvSpPr/>
          <p:nvPr/>
        </p:nvSpPr>
        <p:spPr>
          <a:xfrm>
            <a:off x="548640" y="1600200"/>
            <a:ext cx="5166360" cy="1965960"/>
          </a:xfrm>
          <a:prstGeom prst="roundRect">
            <a:avLst>
              <a:gd name="adj" fmla="val 4186"/>
            </a:avLst>
          </a:prstGeom>
          <a:solidFill>
            <a:srgbClr val="161616"/>
          </a:solidFill>
          <a:ln>
            <a:solidFill>
              <a:srgbClr val="00B050"/>
            </a:solidFill>
          </a:ln>
        </p:spPr>
      </p:sp>
      <p:sp>
        <p:nvSpPr>
          <p:cNvPr id="5" name="Shape 3"/>
          <p:cNvSpPr/>
          <p:nvPr/>
        </p:nvSpPr>
        <p:spPr>
          <a:xfrm>
            <a:off x="822960" y="1874520"/>
            <a:ext cx="502920" cy="502920"/>
          </a:xfrm>
          <a:prstGeom prst="ellipse">
            <a:avLst/>
          </a:prstGeom>
          <a:solidFill>
            <a:srgbClr val="06C167"/>
          </a:solidFill>
          <a:ln/>
        </p:spPr>
      </p:sp>
      <p:sp>
        <p:nvSpPr>
          <p:cNvPr id="6" name="Text 4"/>
          <p:cNvSpPr txBox="1"/>
          <p:nvPr/>
        </p:nvSpPr>
        <p:spPr>
          <a:xfrm>
            <a:off x="822960" y="1874520"/>
            <a:ext cx="502920" cy="502920"/>
          </a:xfrm>
          <a:prstGeom prst="rect">
            <a:avLst/>
          </a:prstGeom>
          <a:noFill/>
          <a:ln/>
        </p:spPr>
        <p:txBody>
          <a:bodyPr wrap="square" lIns="0" tIns="0" rIns="0" bIns="0" rtlCol="0" anchor="ctr"/>
          <a:lstStyle/>
          <a:p>
            <a:pPr marL="0" indent="0" algn="ctr">
              <a:buNone/>
            </a:pPr>
            <a:r>
              <a:rPr lang="en-US" sz="1800" b="1" dirty="0">
                <a:solidFill>
                  <a:srgbClr val="000000"/>
                </a:solidFill>
                <a:latin typeface="Cambria" pitchFamily="34" charset="0"/>
                <a:ea typeface="Cambria" pitchFamily="34" charset="-122"/>
                <a:cs typeface="Cambria" pitchFamily="34" charset="-120"/>
              </a:rPr>
              <a:t>1</a:t>
            </a:r>
            <a:endParaRPr lang="en-US" sz="1800" dirty="0"/>
          </a:p>
        </p:txBody>
      </p:sp>
      <p:sp>
        <p:nvSpPr>
          <p:cNvPr id="7" name="Text 5"/>
          <p:cNvSpPr txBox="1"/>
          <p:nvPr/>
        </p:nvSpPr>
        <p:spPr>
          <a:xfrm>
            <a:off x="1508760" y="1837944"/>
            <a:ext cx="3931920" cy="41148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Adaptive ETA by </a:t>
            </a:r>
            <a:r>
              <a:rPr lang="en-US" sz="1450" b="1" dirty="0" err="1">
                <a:solidFill>
                  <a:srgbClr val="FFFFFF"/>
                </a:solidFill>
                <a:latin typeface="Calibri" pitchFamily="34" charset="0"/>
                <a:ea typeface="Calibri" pitchFamily="34" charset="-122"/>
                <a:cs typeface="Calibri" pitchFamily="34" charset="-120"/>
              </a:rPr>
              <a:t>Onfield</a:t>
            </a:r>
            <a:r>
              <a:rPr lang="en-US" sz="1450" b="1" dirty="0">
                <a:solidFill>
                  <a:srgbClr val="FFFFFF"/>
                </a:solidFill>
                <a:latin typeface="Calibri" pitchFamily="34" charset="0"/>
                <a:ea typeface="Calibri" pitchFamily="34" charset="-122"/>
                <a:cs typeface="Calibri" pitchFamily="34" charset="-120"/>
              </a:rPr>
              <a:t> Condition</a:t>
            </a:r>
            <a:endParaRPr lang="en-US" sz="1450" dirty="0"/>
          </a:p>
        </p:txBody>
      </p:sp>
      <p:sp>
        <p:nvSpPr>
          <p:cNvPr id="8" name="Text 6"/>
          <p:cNvSpPr txBox="1"/>
          <p:nvPr/>
        </p:nvSpPr>
        <p:spPr>
          <a:xfrm>
            <a:off x="1508760" y="2249424"/>
            <a:ext cx="3931920" cy="1188720"/>
          </a:xfrm>
          <a:prstGeom prst="rect">
            <a:avLst/>
          </a:prstGeom>
          <a:noFill/>
          <a:ln/>
        </p:spPr>
        <p:txBody>
          <a:bodyPr wrap="square" lIns="0" tIns="0" rIns="0" bIns="0" rtlCol="0" anchor="ctr"/>
          <a:lstStyle/>
          <a:p>
            <a:pPr marL="0" indent="0" algn="just">
              <a:lnSpc>
                <a:spcPct val="122000"/>
              </a:lnSpc>
              <a:buNone/>
            </a:pPr>
            <a:r>
              <a:rPr lang="en-US" sz="1100" dirty="0">
                <a:solidFill>
                  <a:schemeClr val="bg1"/>
                </a:solidFill>
                <a:latin typeface="Calibri" pitchFamily="34" charset="0"/>
                <a:ea typeface="Calibri" pitchFamily="34" charset="-122"/>
                <a:cs typeface="Calibri" pitchFamily="34" charset="-120"/>
              </a:rPr>
              <a:t>Use the historical average table for each traffic and weather combination as the basis for estimates, rather than using one figure for all conditions. The 54% gap between the best and worst conditions is too large to ignore.</a:t>
            </a:r>
            <a:endParaRPr lang="en-US" sz="1100" dirty="0">
              <a:solidFill>
                <a:schemeClr val="bg1"/>
              </a:solidFill>
            </a:endParaRPr>
          </a:p>
        </p:txBody>
      </p:sp>
      <p:sp>
        <p:nvSpPr>
          <p:cNvPr id="9" name="Shape 7"/>
          <p:cNvSpPr/>
          <p:nvPr/>
        </p:nvSpPr>
        <p:spPr>
          <a:xfrm>
            <a:off x="6172200" y="1600200"/>
            <a:ext cx="5166360" cy="1965960"/>
          </a:xfrm>
          <a:prstGeom prst="roundRect">
            <a:avLst>
              <a:gd name="adj" fmla="val 4186"/>
            </a:avLst>
          </a:prstGeom>
          <a:solidFill>
            <a:srgbClr val="161616"/>
          </a:solidFill>
          <a:ln>
            <a:solidFill>
              <a:srgbClr val="00B050"/>
            </a:solidFill>
          </a:ln>
        </p:spPr>
      </p:sp>
      <p:sp>
        <p:nvSpPr>
          <p:cNvPr id="10" name="Shape 8"/>
          <p:cNvSpPr/>
          <p:nvPr/>
        </p:nvSpPr>
        <p:spPr>
          <a:xfrm>
            <a:off x="6446520" y="1874520"/>
            <a:ext cx="502920" cy="502920"/>
          </a:xfrm>
          <a:prstGeom prst="ellipse">
            <a:avLst/>
          </a:prstGeom>
          <a:solidFill>
            <a:srgbClr val="06C167"/>
          </a:solidFill>
          <a:ln/>
        </p:spPr>
      </p:sp>
      <p:sp>
        <p:nvSpPr>
          <p:cNvPr id="11" name="Text 9"/>
          <p:cNvSpPr txBox="1"/>
          <p:nvPr/>
        </p:nvSpPr>
        <p:spPr>
          <a:xfrm>
            <a:off x="6446520" y="1874520"/>
            <a:ext cx="502920" cy="502920"/>
          </a:xfrm>
          <a:prstGeom prst="rect">
            <a:avLst/>
          </a:prstGeom>
          <a:noFill/>
          <a:ln/>
        </p:spPr>
        <p:txBody>
          <a:bodyPr wrap="square" lIns="0" tIns="0" rIns="0" bIns="0" rtlCol="0" anchor="ctr"/>
          <a:lstStyle/>
          <a:p>
            <a:pPr marL="0" indent="0" algn="ctr">
              <a:buNone/>
            </a:pPr>
            <a:r>
              <a:rPr lang="en-US" sz="1800" b="1" dirty="0">
                <a:solidFill>
                  <a:srgbClr val="000000"/>
                </a:solidFill>
                <a:latin typeface="Cambria" pitchFamily="34" charset="0"/>
                <a:ea typeface="Cambria" pitchFamily="34" charset="-122"/>
                <a:cs typeface="Cambria" pitchFamily="34" charset="-120"/>
              </a:rPr>
              <a:t>2</a:t>
            </a:r>
            <a:endParaRPr lang="en-US" sz="1800" dirty="0"/>
          </a:p>
        </p:txBody>
      </p:sp>
      <p:sp>
        <p:nvSpPr>
          <p:cNvPr id="12" name="Text 10"/>
          <p:cNvSpPr txBox="1"/>
          <p:nvPr/>
        </p:nvSpPr>
        <p:spPr>
          <a:xfrm>
            <a:off x="7143609" y="1870230"/>
            <a:ext cx="3931920" cy="41148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Focus on Travel Distance, With Weather and Traffic Conditions as its Main Buffer</a:t>
            </a:r>
            <a:endParaRPr lang="en-US" sz="1450" dirty="0"/>
          </a:p>
        </p:txBody>
      </p:sp>
      <p:sp>
        <p:nvSpPr>
          <p:cNvPr id="13" name="Text 11"/>
          <p:cNvSpPr txBox="1"/>
          <p:nvPr/>
        </p:nvSpPr>
        <p:spPr>
          <a:xfrm>
            <a:off x="7132320" y="2249424"/>
            <a:ext cx="3931920" cy="1188720"/>
          </a:xfrm>
          <a:prstGeom prst="rect">
            <a:avLst/>
          </a:prstGeom>
          <a:noFill/>
          <a:ln/>
        </p:spPr>
        <p:txBody>
          <a:bodyPr wrap="square" lIns="0" tIns="0" rIns="0" bIns="0" rtlCol="0" anchor="ctr"/>
          <a:lstStyle/>
          <a:p>
            <a:pPr marL="0" indent="0" algn="just">
              <a:lnSpc>
                <a:spcPct val="122000"/>
              </a:lnSpc>
              <a:buNone/>
            </a:pPr>
            <a:r>
              <a:rPr lang="en-US" sz="1100" dirty="0" err="1">
                <a:solidFill>
                  <a:schemeClr val="bg1"/>
                </a:solidFill>
                <a:latin typeface="Calibri" pitchFamily="34" charset="0"/>
                <a:ea typeface="Calibri" pitchFamily="34" charset="-122"/>
                <a:cs typeface="Calibri" pitchFamily="34" charset="-120"/>
              </a:rPr>
              <a:t>Prioritise</a:t>
            </a:r>
            <a:r>
              <a:rPr lang="en-US" sz="1100" dirty="0">
                <a:solidFill>
                  <a:schemeClr val="bg1"/>
                </a:solidFill>
                <a:latin typeface="Calibri" pitchFamily="34" charset="0"/>
                <a:ea typeface="Calibri" pitchFamily="34" charset="-122"/>
                <a:cs typeface="Calibri" pitchFamily="34" charset="-120"/>
              </a:rPr>
              <a:t> distance as the primary basis for estimation (61% of variance explained), with weather &amp; traffic conditions as its main buffer (~3% of variance explained); stop </a:t>
            </a:r>
            <a:r>
              <a:rPr lang="en-US" sz="1100" dirty="0" err="1">
                <a:solidFill>
                  <a:schemeClr val="bg1"/>
                </a:solidFill>
                <a:latin typeface="Calibri" pitchFamily="34" charset="0"/>
                <a:ea typeface="Calibri" pitchFamily="34" charset="-122"/>
                <a:cs typeface="Calibri" pitchFamily="34" charset="-120"/>
              </a:rPr>
              <a:t>optimising</a:t>
            </a:r>
            <a:r>
              <a:rPr lang="en-US" sz="1100" dirty="0">
                <a:solidFill>
                  <a:schemeClr val="bg1"/>
                </a:solidFill>
                <a:latin typeface="Calibri" pitchFamily="34" charset="0"/>
                <a:ea typeface="Calibri" pitchFamily="34" charset="-122"/>
                <a:cs typeface="Calibri" pitchFamily="34" charset="-120"/>
              </a:rPr>
              <a:t> based on vehicle type or order time, as neither has been proven to have an effect.</a:t>
            </a:r>
            <a:endParaRPr lang="en-US" sz="1100" dirty="0">
              <a:solidFill>
                <a:schemeClr val="bg1"/>
              </a:solidFill>
            </a:endParaRPr>
          </a:p>
        </p:txBody>
      </p:sp>
      <p:sp>
        <p:nvSpPr>
          <p:cNvPr id="14" name="Shape 12"/>
          <p:cNvSpPr/>
          <p:nvPr/>
        </p:nvSpPr>
        <p:spPr>
          <a:xfrm>
            <a:off x="548640" y="3886200"/>
            <a:ext cx="5166360" cy="1965960"/>
          </a:xfrm>
          <a:prstGeom prst="roundRect">
            <a:avLst>
              <a:gd name="adj" fmla="val 4186"/>
            </a:avLst>
          </a:prstGeom>
          <a:solidFill>
            <a:srgbClr val="161616"/>
          </a:solidFill>
          <a:ln>
            <a:solidFill>
              <a:srgbClr val="00B050"/>
            </a:solidFill>
          </a:ln>
        </p:spPr>
      </p:sp>
      <p:sp>
        <p:nvSpPr>
          <p:cNvPr id="15" name="Shape 13"/>
          <p:cNvSpPr/>
          <p:nvPr/>
        </p:nvSpPr>
        <p:spPr>
          <a:xfrm>
            <a:off x="822960" y="4160520"/>
            <a:ext cx="502920" cy="502920"/>
          </a:xfrm>
          <a:prstGeom prst="ellipse">
            <a:avLst/>
          </a:prstGeom>
          <a:solidFill>
            <a:srgbClr val="06C167"/>
          </a:solidFill>
          <a:ln/>
        </p:spPr>
      </p:sp>
      <p:sp>
        <p:nvSpPr>
          <p:cNvPr id="16" name="Text 14"/>
          <p:cNvSpPr txBox="1"/>
          <p:nvPr/>
        </p:nvSpPr>
        <p:spPr>
          <a:xfrm>
            <a:off x="822960" y="4160520"/>
            <a:ext cx="502920" cy="502920"/>
          </a:xfrm>
          <a:prstGeom prst="rect">
            <a:avLst/>
          </a:prstGeom>
          <a:noFill/>
          <a:ln/>
        </p:spPr>
        <p:txBody>
          <a:bodyPr wrap="square" lIns="0" tIns="0" rIns="0" bIns="0" rtlCol="0" anchor="ctr"/>
          <a:lstStyle/>
          <a:p>
            <a:pPr marL="0" indent="0" algn="ctr">
              <a:buNone/>
            </a:pPr>
            <a:r>
              <a:rPr lang="en-US" sz="1800" b="1" dirty="0">
                <a:solidFill>
                  <a:srgbClr val="000000"/>
                </a:solidFill>
                <a:latin typeface="Cambria" pitchFamily="34" charset="0"/>
                <a:ea typeface="Cambria" pitchFamily="34" charset="-122"/>
                <a:cs typeface="Cambria" pitchFamily="34" charset="-120"/>
              </a:rPr>
              <a:t>3</a:t>
            </a:r>
            <a:endParaRPr lang="en-US" sz="1800" dirty="0"/>
          </a:p>
        </p:txBody>
      </p:sp>
      <p:sp>
        <p:nvSpPr>
          <p:cNvPr id="17" name="Text 15"/>
          <p:cNvSpPr txBox="1"/>
          <p:nvPr/>
        </p:nvSpPr>
        <p:spPr>
          <a:xfrm>
            <a:off x="1508760" y="4123944"/>
            <a:ext cx="3931920" cy="41148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Differentiate Time Buffers</a:t>
            </a:r>
            <a:endParaRPr lang="en-US" sz="1450" dirty="0"/>
          </a:p>
        </p:txBody>
      </p:sp>
      <p:sp>
        <p:nvSpPr>
          <p:cNvPr id="18" name="Text 16"/>
          <p:cNvSpPr txBox="1"/>
          <p:nvPr/>
        </p:nvSpPr>
        <p:spPr>
          <a:xfrm>
            <a:off x="1508760" y="4411980"/>
            <a:ext cx="3931920" cy="1188720"/>
          </a:xfrm>
          <a:prstGeom prst="rect">
            <a:avLst/>
          </a:prstGeom>
          <a:noFill/>
          <a:ln/>
        </p:spPr>
        <p:txBody>
          <a:bodyPr wrap="square" lIns="0" tIns="0" rIns="0" bIns="0" rtlCol="0" anchor="ctr"/>
          <a:lstStyle/>
          <a:p>
            <a:pPr marL="0" indent="0" algn="just">
              <a:lnSpc>
                <a:spcPct val="122000"/>
              </a:lnSpc>
              <a:buNone/>
            </a:pPr>
            <a:r>
              <a:rPr lang="en-US" sz="1100" dirty="0">
                <a:solidFill>
                  <a:schemeClr val="bg1"/>
                </a:solidFill>
                <a:latin typeface="Calibri" pitchFamily="34" charset="0"/>
                <a:ea typeface="Calibri" pitchFamily="34" charset="-122"/>
                <a:cs typeface="Calibri" pitchFamily="34" charset="-120"/>
              </a:rPr>
              <a:t>Consistent buffer for Snowy weather across all traffic conditions; a specific buffer for Rainy weather during high traffic, following the pattern of interaction effects identified.</a:t>
            </a:r>
            <a:endParaRPr lang="en-US" sz="1100" dirty="0">
              <a:solidFill>
                <a:schemeClr val="bg1"/>
              </a:solidFill>
            </a:endParaRPr>
          </a:p>
        </p:txBody>
      </p:sp>
      <p:sp>
        <p:nvSpPr>
          <p:cNvPr id="19" name="Shape 17"/>
          <p:cNvSpPr/>
          <p:nvPr/>
        </p:nvSpPr>
        <p:spPr>
          <a:xfrm>
            <a:off x="6172200" y="3886200"/>
            <a:ext cx="5166360" cy="1965960"/>
          </a:xfrm>
          <a:prstGeom prst="roundRect">
            <a:avLst>
              <a:gd name="adj" fmla="val 4186"/>
            </a:avLst>
          </a:prstGeom>
          <a:solidFill>
            <a:srgbClr val="161616"/>
          </a:solidFill>
          <a:ln>
            <a:solidFill>
              <a:srgbClr val="00B050"/>
            </a:solidFill>
          </a:ln>
        </p:spPr>
      </p:sp>
      <p:sp>
        <p:nvSpPr>
          <p:cNvPr id="20" name="Shape 18"/>
          <p:cNvSpPr/>
          <p:nvPr/>
        </p:nvSpPr>
        <p:spPr>
          <a:xfrm>
            <a:off x="6446520" y="4160520"/>
            <a:ext cx="502920" cy="502920"/>
          </a:xfrm>
          <a:prstGeom prst="ellipse">
            <a:avLst/>
          </a:prstGeom>
          <a:solidFill>
            <a:srgbClr val="06C167"/>
          </a:solidFill>
          <a:ln/>
        </p:spPr>
      </p:sp>
      <p:sp>
        <p:nvSpPr>
          <p:cNvPr id="21" name="Text 19"/>
          <p:cNvSpPr txBox="1"/>
          <p:nvPr/>
        </p:nvSpPr>
        <p:spPr>
          <a:xfrm>
            <a:off x="6446520" y="4160520"/>
            <a:ext cx="502920" cy="502920"/>
          </a:xfrm>
          <a:prstGeom prst="rect">
            <a:avLst/>
          </a:prstGeom>
          <a:noFill/>
          <a:ln/>
        </p:spPr>
        <p:txBody>
          <a:bodyPr wrap="square" lIns="0" tIns="0" rIns="0" bIns="0" rtlCol="0" anchor="ctr"/>
          <a:lstStyle/>
          <a:p>
            <a:pPr marL="0" indent="0" algn="ctr">
              <a:buNone/>
            </a:pPr>
            <a:r>
              <a:rPr lang="en-US" sz="1800" b="1" dirty="0">
                <a:solidFill>
                  <a:srgbClr val="000000"/>
                </a:solidFill>
                <a:latin typeface="Cambria" pitchFamily="34" charset="0"/>
                <a:ea typeface="Cambria" pitchFamily="34" charset="-122"/>
                <a:cs typeface="Cambria" pitchFamily="34" charset="-120"/>
              </a:rPr>
              <a:t>4</a:t>
            </a:r>
            <a:endParaRPr lang="en-US" sz="1800" dirty="0"/>
          </a:p>
        </p:txBody>
      </p:sp>
      <p:sp>
        <p:nvSpPr>
          <p:cNvPr id="22" name="Text 20"/>
          <p:cNvSpPr txBox="1"/>
          <p:nvPr/>
        </p:nvSpPr>
        <p:spPr>
          <a:xfrm>
            <a:off x="7132320" y="4123944"/>
            <a:ext cx="3931920" cy="41148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Make a Record of ETA vs Actual Delivery Time</a:t>
            </a:r>
            <a:endParaRPr lang="en-US" sz="1450" dirty="0"/>
          </a:p>
        </p:txBody>
      </p:sp>
      <p:sp>
        <p:nvSpPr>
          <p:cNvPr id="23" name="Text 21"/>
          <p:cNvSpPr txBox="1"/>
          <p:nvPr/>
        </p:nvSpPr>
        <p:spPr>
          <a:xfrm>
            <a:off x="7132320" y="4411980"/>
            <a:ext cx="3931920" cy="1188720"/>
          </a:xfrm>
          <a:prstGeom prst="rect">
            <a:avLst/>
          </a:prstGeom>
          <a:noFill/>
          <a:ln/>
        </p:spPr>
        <p:txBody>
          <a:bodyPr wrap="square" lIns="0" tIns="0" rIns="0" bIns="0" rtlCol="0" anchor="ctr"/>
          <a:lstStyle/>
          <a:p>
            <a:pPr marL="0" indent="0" algn="just">
              <a:lnSpc>
                <a:spcPct val="122000"/>
              </a:lnSpc>
              <a:buNone/>
            </a:pPr>
            <a:r>
              <a:rPr lang="en-US" sz="1100" dirty="0">
                <a:solidFill>
                  <a:schemeClr val="bg1"/>
                </a:solidFill>
                <a:latin typeface="Calibri" pitchFamily="34" charset="0"/>
                <a:ea typeface="Calibri" pitchFamily="34" charset="-122"/>
                <a:cs typeface="Calibri" pitchFamily="34" charset="-120"/>
              </a:rPr>
              <a:t>Begin collecting the ETAs shown to customers to measure the effectiveness of future recommendations and validate their impact on complaints.</a:t>
            </a:r>
            <a:endParaRPr lang="en-US" sz="1100" dirty="0">
              <a:solidFill>
                <a:schemeClr val="bg1"/>
              </a:solidFill>
            </a:endParaRPr>
          </a:p>
        </p:txBody>
      </p:sp>
      <p:sp>
        <p:nvSpPr>
          <p:cNvPr id="25" name="Text 23"/>
          <p:cNvSpPr txBox="1"/>
          <p:nvPr/>
        </p:nvSpPr>
        <p:spPr>
          <a:xfrm>
            <a:off x="11185855" y="6473952"/>
            <a:ext cx="457200" cy="274320"/>
          </a:xfrm>
          <a:prstGeom prst="rect">
            <a:avLst/>
          </a:prstGeom>
          <a:noFill/>
          <a:ln/>
        </p:spPr>
        <p:txBody>
          <a:bodyPr wrap="square" lIns="0" tIns="0" rIns="0" bIns="0" rtlCol="0" anchor="ctr"/>
          <a:lstStyle/>
          <a:p>
            <a:pPr marL="0" indent="0" algn="r">
              <a:buNone/>
            </a:pPr>
            <a:r>
              <a:rPr lang="en-US" sz="900" dirty="0">
                <a:solidFill>
                  <a:srgbClr val="5C645F"/>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000000"/>
        </a:solidFill>
        <a:effectLst/>
      </p:bgPr>
    </p:bg>
    <p:spTree>
      <p:nvGrpSpPr>
        <p:cNvPr id="1" name=""/>
        <p:cNvGrpSpPr/>
        <p:nvPr/>
      </p:nvGrpSpPr>
      <p:grpSpPr>
        <a:xfrm>
          <a:off x="0" y="0"/>
          <a:ext cx="0" cy="0"/>
          <a:chOff x="0" y="0"/>
          <a:chExt cx="0" cy="0"/>
        </a:xfrm>
      </p:grpSpPr>
      <p:sp>
        <p:nvSpPr>
          <p:cNvPr id="4" name="Text 2"/>
          <p:cNvSpPr txBox="1"/>
          <p:nvPr/>
        </p:nvSpPr>
        <p:spPr>
          <a:xfrm>
            <a:off x="0" y="2651760"/>
            <a:ext cx="12191695" cy="1005840"/>
          </a:xfrm>
          <a:prstGeom prst="rect">
            <a:avLst/>
          </a:prstGeom>
          <a:noFill/>
          <a:ln/>
        </p:spPr>
        <p:txBody>
          <a:bodyPr wrap="square" lIns="0" tIns="0" rIns="0" bIns="0" rtlCol="0" anchor="ctr"/>
          <a:lstStyle/>
          <a:p>
            <a:pPr marL="0" indent="0" algn="ctr">
              <a:buNone/>
            </a:pPr>
            <a:r>
              <a:rPr lang="en-US" sz="4400" b="1" dirty="0">
                <a:solidFill>
                  <a:srgbClr val="FFFFFF"/>
                </a:solidFill>
                <a:latin typeface="Cambria" pitchFamily="34" charset="0"/>
                <a:ea typeface="Cambria" pitchFamily="34" charset="-122"/>
                <a:cs typeface="Cambria" pitchFamily="34" charset="-120"/>
              </a:rPr>
              <a:t>Thank You</a:t>
            </a:r>
            <a:endParaRPr lang="en-US" sz="4400" dirty="0"/>
          </a:p>
        </p:txBody>
      </p:sp>
      <p:sp>
        <p:nvSpPr>
          <p:cNvPr id="6" name="Shape 4"/>
          <p:cNvSpPr/>
          <p:nvPr/>
        </p:nvSpPr>
        <p:spPr>
          <a:xfrm>
            <a:off x="5593080" y="3880556"/>
            <a:ext cx="1005840" cy="0"/>
          </a:xfrm>
          <a:prstGeom prst="line">
            <a:avLst/>
          </a:prstGeom>
          <a:noFill/>
          <a:ln w="31750">
            <a:solidFill>
              <a:srgbClr val="06C167"/>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130</TotalTime>
  <Words>1290</Words>
  <Application>Microsoft Office PowerPoint</Application>
  <PresentationFormat>Widescreen</PresentationFormat>
  <Paragraphs>221</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Cambria</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Ghairandi Al Abrar</cp:lastModifiedBy>
  <cp:revision>13</cp:revision>
  <dcterms:created xsi:type="dcterms:W3CDTF">2026-09-25T10:07:39Z</dcterms:created>
  <dcterms:modified xsi:type="dcterms:W3CDTF">2026-10-13T10:45:34Z</dcterms:modified>
</cp:coreProperties>
</file>